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753" r:id="rId1"/>
  </p:sldMasterIdLst>
  <p:notesMasterIdLst>
    <p:notesMasterId r:id="rId19"/>
  </p:notesMasterIdLst>
  <p:handoutMasterIdLst>
    <p:handoutMasterId r:id="rId20"/>
  </p:handoutMasterIdLst>
  <p:sldIdLst>
    <p:sldId id="256" r:id="rId2"/>
    <p:sldId id="257" r:id="rId3"/>
    <p:sldId id="258" r:id="rId4"/>
    <p:sldId id="259" r:id="rId5"/>
    <p:sldId id="260" r:id="rId6"/>
    <p:sldId id="261" r:id="rId7"/>
    <p:sldId id="262" r:id="rId8"/>
    <p:sldId id="274" r:id="rId9"/>
    <p:sldId id="263" r:id="rId10"/>
    <p:sldId id="264" r:id="rId11"/>
    <p:sldId id="269" r:id="rId12"/>
    <p:sldId id="265" r:id="rId13"/>
    <p:sldId id="270" r:id="rId14"/>
    <p:sldId id="266" r:id="rId15"/>
    <p:sldId id="267" r:id="rId16"/>
    <p:sldId id="273" r:id="rId17"/>
    <p:sldId id="272" r:id="rId18"/>
  </p:sldIdLst>
  <p:sldSz cx="12192000" cy="6858000"/>
  <p:notesSz cx="7104063" cy="10234613"/>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p15:clr>
            <a:srgbClr val="A4A3A4"/>
          </p15:clr>
        </p15:guide>
        <p15:guide id="2" pos="3839">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F58F3F2-34C0-7CDE-4646-8EB323D00AA8}" name="정용훈" initials="정" userId="S::dydgns2017@cau.ac.kr::5c56983a-12e8-458d-82f4-9a1aee9971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ACF4677E-8BD2-47ae-8A1F-98590045965D">
      <hp:hncThemeShow xmlns="" xmlns:c="http://schemas.openxmlformats.org/drawingml/2006/chart" xmlns:dgm="http://schemas.openxmlformats.org/drawingml/2006/diagram" xmlns:dsp="http://schemas.microsoft.com/office/drawing/2008/diagram" xmlns:hp="http://schemas.haansoft.com/office/presentation/8.0" themeShowType="1" themeSkinType="1" themeTransitionType="1" useThemeTransition="1" byMouseClick="1" attrType="1" dur="200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TxStyle/>
      <a:tcStyle>
        <a:tcBdr/>
        <a:fill>
          <a:solidFill>
            <a:schemeClr val="accent1">
              <a:tint val="40000"/>
            </a:schemeClr>
          </a:solidFill>
        </a:fill>
      </a:tcStyle>
    </a:band1H>
    <a:band2H>
      <a:tcTxStyle/>
      <a:tcStyle>
        <a:tcBdr/>
      </a:tcStyle>
    </a:band2H>
    <a:band1V>
      <a:tcTxStyle/>
      <a:tcStyle>
        <a:tcBdr/>
        <a:fill>
          <a:solidFill>
            <a:schemeClr val="accent1">
              <a:tint val="40000"/>
            </a:schemeClr>
          </a:solidFill>
        </a:fill>
      </a:tcStyle>
    </a:band1V>
    <a:band2V>
      <a:tcTxStyle/>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TxStyle/>
      <a:tcStyle>
        <a:tcBdr/>
        <a:fill>
          <a:solidFill>
            <a:schemeClr val="accent3">
              <a:tint val="40000"/>
            </a:schemeClr>
          </a:solidFill>
        </a:fill>
      </a:tcStyle>
    </a:band1H>
    <a:band2H>
      <a:tcTxStyle/>
      <a:tcStyle>
        <a:tcBdr/>
      </a:tcStyle>
    </a:band2H>
    <a:band1V>
      <a:tcTxStyle/>
      <a:tcStyle>
        <a:tcBdr/>
        <a:fill>
          <a:solidFill>
            <a:schemeClr val="accent3">
              <a:tint val="40000"/>
            </a:schemeClr>
          </a:solidFill>
        </a:fill>
      </a:tcStyle>
    </a:band1V>
    <a:band2V>
      <a:tcTxStyle/>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보통 스타일 2 - 강조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TxStyle/>
      <a:tcStyle>
        <a:tcBdr/>
        <a:fill>
          <a:solidFill>
            <a:schemeClr val="accent2">
              <a:tint val="40000"/>
            </a:schemeClr>
          </a:solidFill>
        </a:fill>
      </a:tcStyle>
    </a:band1H>
    <a:band2H>
      <a:tcTxStyle/>
      <a:tcStyle>
        <a:tcBdr/>
      </a:tcStyle>
    </a:band2H>
    <a:band1V>
      <a:tcTxStyle/>
      <a:tcStyle>
        <a:tcBdr/>
        <a:fill>
          <a:solidFill>
            <a:schemeClr val="accent2">
              <a:tint val="40000"/>
            </a:schemeClr>
          </a:solidFill>
        </a:fill>
      </a:tcStyle>
    </a:band1V>
    <a:band2V>
      <a:tcTxStyle/>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TxStyle/>
      <a:tcStyle>
        <a:tcBdr/>
        <a:fill>
          <a:solidFill>
            <a:schemeClr val="dk1">
              <a:tint val="40000"/>
            </a:schemeClr>
          </a:solidFill>
        </a:fill>
      </a:tcStyle>
    </a:band1H>
    <a:band2H>
      <a:tcTxStyle/>
      <a:tcStyle>
        <a:tcBdr/>
      </a:tcStyle>
    </a:band2H>
    <a:band1V>
      <a:tcTxStyle/>
      <a:tcStyle>
        <a:tcBdr/>
        <a:fill>
          <a:solidFill>
            <a:schemeClr val="dk1">
              <a:tint val="40000"/>
            </a:schemeClr>
          </a:solidFill>
        </a:fill>
      </a:tcStyle>
    </a:band1V>
    <a:band2V>
      <a:tcTxStyle/>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909" autoAdjust="0"/>
    <p:restoredTop sz="33091" autoAdjust="0"/>
  </p:normalViewPr>
  <p:slideViewPr>
    <p:cSldViewPr snapToGrid="0">
      <p:cViewPr varScale="1">
        <p:scale>
          <a:sx n="36" d="100"/>
          <a:sy n="36" d="100"/>
        </p:scale>
        <p:origin x="3708" y="54"/>
      </p:cViewPr>
      <p:guideLst>
        <p:guide orient="horz" pos="2159"/>
        <p:guide pos="3839"/>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1730"/>
          </a:xfrm>
          <a:prstGeom prst="rect">
            <a:avLst/>
          </a:prstGeom>
        </p:spPr>
        <p:txBody>
          <a:bodyPr vert="horz" lIns="91440" tIns="45720" rIns="91440" bIns="45720"/>
          <a:lstStyle>
            <a:lvl1pPr algn="l">
              <a:defRPr sz="1200"/>
            </a:lvl1pPr>
          </a:lstStyle>
          <a:p>
            <a:pPr lvl="0">
              <a:defRPr/>
            </a:pPr>
            <a:endParaRPr lang="ko-KR" altLang="en-US"/>
          </a:p>
        </p:txBody>
      </p:sp>
      <p:sp>
        <p:nvSpPr>
          <p:cNvPr id="3" name="날짜 개체 틀 2"/>
          <p:cNvSpPr>
            <a:spLocks noGrp="1"/>
          </p:cNvSpPr>
          <p:nvPr>
            <p:ph type="dt" sz="quarter" idx="1"/>
          </p:nvPr>
        </p:nvSpPr>
        <p:spPr>
          <a:xfrm>
            <a:off x="4023991" y="0"/>
            <a:ext cx="3078427" cy="511730"/>
          </a:xfrm>
          <a:prstGeom prst="rect">
            <a:avLst/>
          </a:prstGeom>
        </p:spPr>
        <p:txBody>
          <a:bodyPr vert="horz" lIns="91440" tIns="45720" rIns="91440" bIns="45720"/>
          <a:lstStyle>
            <a:lvl1pPr algn="r">
              <a:defRPr sz="1200"/>
            </a:lvl1pPr>
          </a:lstStyle>
          <a:p>
            <a:pPr lvl="0">
              <a:defRPr/>
            </a:pPr>
            <a:fld id="{D8D7A7C4-C82A-4D21-9AB0-F0C5A1D3EF09}" type="datetime1">
              <a:rPr lang="ko-KR" altLang="en-US"/>
              <a:pPr lvl="0">
                <a:defRPr/>
              </a:pPr>
              <a:t>2026-08-16</a:t>
            </a:fld>
            <a:endParaRPr lang="ko-KR" altLang="en-US"/>
          </a:p>
        </p:txBody>
      </p:sp>
      <p:sp>
        <p:nvSpPr>
          <p:cNvPr id="4" name="바닥글 개체 틀 3"/>
          <p:cNvSpPr>
            <a:spLocks noGrp="1"/>
          </p:cNvSpPr>
          <p:nvPr>
            <p:ph type="ftr" sz="quarter" idx="2"/>
          </p:nvPr>
        </p:nvSpPr>
        <p:spPr>
          <a:xfrm>
            <a:off x="0" y="9721106"/>
            <a:ext cx="3078427" cy="511730"/>
          </a:xfrm>
          <a:prstGeom prst="rect">
            <a:avLst/>
          </a:prstGeom>
        </p:spPr>
        <p:txBody>
          <a:bodyPr vert="horz" lIns="91440" tIns="45720" rIns="91440" bIns="45720" anchor="b"/>
          <a:lstStyle>
            <a:lvl1pPr algn="l">
              <a:defRPr sz="1200"/>
            </a:lvl1pPr>
          </a:lstStyle>
          <a:p>
            <a:pPr lvl="0">
              <a:defRPr/>
            </a:pPr>
            <a:endParaRPr lang="ko-KR" altLang="en-US"/>
          </a:p>
        </p:txBody>
      </p:sp>
      <p:sp>
        <p:nvSpPr>
          <p:cNvPr id="5" name="슬라이드 번호 개체 틀 4"/>
          <p:cNvSpPr>
            <a:spLocks noGrp="1"/>
          </p:cNvSpPr>
          <p:nvPr>
            <p:ph type="sldNum" sz="quarter" idx="3"/>
          </p:nvPr>
        </p:nvSpPr>
        <p:spPr>
          <a:xfrm>
            <a:off x="4023991" y="9721106"/>
            <a:ext cx="3078427" cy="511730"/>
          </a:xfrm>
          <a:prstGeom prst="rect">
            <a:avLst/>
          </a:prstGeom>
        </p:spPr>
        <p:txBody>
          <a:bodyPr vert="horz" lIns="91440" tIns="45720" rIns="91440" bIns="45720" anchor="b"/>
          <a:lstStyle>
            <a:lvl1pPr algn="r">
              <a:defRPr sz="1200"/>
            </a:lvl1pPr>
          </a:lstStyle>
          <a:p>
            <a:pPr lvl="0">
              <a:defRPr/>
            </a:pPr>
            <a:fld id="{F450E784-2449-4FFD-AA69-3F5CFAA75BCB}" type="slidenum">
              <a:rPr lang="ko-KR" altLang="en-US"/>
              <a:pPr lvl="0">
                <a:defRPr/>
              </a:pPr>
              <a:t>‹#›</a:t>
            </a:fld>
            <a:endParaRPr lang="ko-KR"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427" cy="513508"/>
          </a:xfrm>
          <a:prstGeom prst="rect">
            <a:avLst/>
          </a:prstGeom>
        </p:spPr>
        <p:txBody>
          <a:bodyPr vert="horz" lIns="99075" tIns="49537" rIns="99075" bIns="49537"/>
          <a:lstStyle>
            <a:lvl1pPr algn="l">
              <a:defRPr sz="1300"/>
            </a:lvl1pPr>
          </a:lstStyle>
          <a:p>
            <a:pPr lvl="0">
              <a:defRPr/>
            </a:pPr>
            <a:endParaRPr lang="ko-KR" altLang="en-US"/>
          </a:p>
        </p:txBody>
      </p:sp>
      <p:sp>
        <p:nvSpPr>
          <p:cNvPr id="3" name="날짜 개체 틀 2"/>
          <p:cNvSpPr>
            <a:spLocks noGrp="1"/>
          </p:cNvSpPr>
          <p:nvPr>
            <p:ph type="dt" idx="1"/>
          </p:nvPr>
        </p:nvSpPr>
        <p:spPr>
          <a:xfrm>
            <a:off x="4023992" y="0"/>
            <a:ext cx="3078427" cy="513508"/>
          </a:xfrm>
          <a:prstGeom prst="rect">
            <a:avLst/>
          </a:prstGeom>
        </p:spPr>
        <p:txBody>
          <a:bodyPr vert="horz" lIns="99075" tIns="49537" rIns="99075" bIns="49537"/>
          <a:lstStyle>
            <a:lvl1pPr algn="r">
              <a:defRPr sz="1300"/>
            </a:lvl1pPr>
          </a:lstStyle>
          <a:p>
            <a:pPr lvl="0">
              <a:defRPr/>
            </a:pPr>
            <a:fld id="{91669BC1-DBAA-445B-BADB-B576B9BEDF3D}" type="datetime1">
              <a:rPr lang="ko-KR" altLang="en-US"/>
              <a:pPr lvl="0">
                <a:defRPr/>
              </a:pPr>
              <a:t>2026-08-16</a:t>
            </a:fld>
            <a:endParaRPr lang="ko-KR" altLang="en-US"/>
          </a:p>
        </p:txBody>
      </p:sp>
      <p:sp>
        <p:nvSpPr>
          <p:cNvPr id="4" name="슬라이드 이미지 개체 틀 3"/>
          <p:cNvSpPr>
            <a:spLocks noGrp="1" noRot="1" noChangeAspect="1" noTextEdit="1"/>
          </p:cNvSpPr>
          <p:nvPr>
            <p:ph type="sldImg" idx="2"/>
          </p:nvPr>
        </p:nvSpPr>
        <p:spPr>
          <a:xfrm>
            <a:off x="482600" y="1279525"/>
            <a:ext cx="6140450" cy="3454400"/>
          </a:xfrm>
          <a:prstGeom prst="rect">
            <a:avLst/>
          </a:prstGeom>
          <a:noFill/>
          <a:ln w="12700">
            <a:solidFill>
              <a:prstClr val="black"/>
            </a:solidFill>
          </a:ln>
        </p:spPr>
        <p:txBody>
          <a:bodyPr vert="horz" lIns="99075" tIns="49537" rIns="99075" bIns="49537" anchor="ctr"/>
          <a:lstStyle/>
          <a:p>
            <a:pPr lvl="0">
              <a:defRPr/>
            </a:pPr>
            <a:endParaRPr lang="ko-KR" altLang="en-US"/>
          </a:p>
        </p:txBody>
      </p:sp>
      <p:sp>
        <p:nvSpPr>
          <p:cNvPr id="5" name="슬라이드 노트 개체 틀 4"/>
          <p:cNvSpPr>
            <a:spLocks noGrp="1"/>
          </p:cNvSpPr>
          <p:nvPr>
            <p:ph type="body" sz="quarter" idx="3"/>
          </p:nvPr>
        </p:nvSpPr>
        <p:spPr>
          <a:xfrm>
            <a:off x="710407" y="4925407"/>
            <a:ext cx="5683250" cy="4029879"/>
          </a:xfrm>
          <a:prstGeom prst="rect">
            <a:avLst/>
          </a:prstGeom>
        </p:spPr>
        <p:txBody>
          <a:bodyPr vert="horz" lIns="99075" tIns="49537" rIns="99075" bIns="49537"/>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6" name="바닥글 개체 틀 5"/>
          <p:cNvSpPr>
            <a:spLocks noGrp="1"/>
          </p:cNvSpPr>
          <p:nvPr>
            <p:ph type="ftr" sz="quarter" idx="4"/>
          </p:nvPr>
        </p:nvSpPr>
        <p:spPr>
          <a:xfrm>
            <a:off x="0" y="9721107"/>
            <a:ext cx="3078427" cy="513507"/>
          </a:xfrm>
          <a:prstGeom prst="rect">
            <a:avLst/>
          </a:prstGeom>
        </p:spPr>
        <p:txBody>
          <a:bodyPr vert="horz" lIns="99075" tIns="49537" rIns="99075" bIns="49537" anchor="b"/>
          <a:lstStyle>
            <a:lvl1pPr algn="l">
              <a:defRPr sz="1300"/>
            </a:lvl1pPr>
          </a:lstStyle>
          <a:p>
            <a:pPr lvl="0">
              <a:defRPr/>
            </a:pPr>
            <a:endParaRPr lang="ko-KR" altLang="en-US"/>
          </a:p>
        </p:txBody>
      </p:sp>
      <p:sp>
        <p:nvSpPr>
          <p:cNvPr id="7" name="슬라이드 번호 개체 틀 6"/>
          <p:cNvSpPr>
            <a:spLocks noGrp="1"/>
          </p:cNvSpPr>
          <p:nvPr>
            <p:ph type="sldNum" sz="quarter" idx="5"/>
          </p:nvPr>
        </p:nvSpPr>
        <p:spPr>
          <a:xfrm>
            <a:off x="4023992" y="9721107"/>
            <a:ext cx="3078427" cy="513507"/>
          </a:xfrm>
          <a:prstGeom prst="rect">
            <a:avLst/>
          </a:prstGeom>
        </p:spPr>
        <p:txBody>
          <a:bodyPr vert="horz" lIns="99075" tIns="49537" rIns="99075" bIns="49537" anchor="b"/>
          <a:lstStyle>
            <a:lvl1pPr algn="r">
              <a:defRPr sz="1300"/>
            </a:lvl1pPr>
          </a:lstStyle>
          <a:p>
            <a:pPr lvl="0">
              <a:defRPr/>
            </a:pPr>
            <a:fld id="{90FA8603-EEC9-404A-91D4-26086C075B20}" type="slidenum">
              <a:rPr lang="ko-KR" altLang="en-US"/>
              <a:pPr lvl="0">
                <a:defRPr/>
              </a:pPr>
              <a:t>‹#›</a:t>
            </a:fld>
            <a:endParaRPr lang="ko-KR" altLang="en-US"/>
          </a:p>
        </p:txBody>
      </p:sp>
    </p:spTree>
  </p:cSld>
  <p:clrMap bg1="lt1" tx1="dk1" bg2="lt2" tx2="dk2" accent1="accent1" accent2="accent2" accent3="accent3" accent4="accent4" accent5="accent5" accent6="accent6" hlink="hlink" folHlink="folHlink"/>
  <p:hf hdr="0" ftr="0" dt="0"/>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[1/17] 0:00–0:30 · 30초 · Title</a:t>
            </a:r>
          </a:p>
          <a:p>
            <a:pPr>
              <a:spcAft>
                <a:spcPts val="600"/>
              </a:spcAft>
            </a:pPr>
            <a:r>
              <a:rPr sz="1200" b="0"/>
              <a:t>안녕하십니까. 성결대학교 윤준하입니다.</a:t>
            </a:r>
          </a:p>
          <a:p>
            <a:pPr>
              <a:spcAft>
                <a:spcPts val="600"/>
              </a:spcAft>
            </a:pPr>
            <a:r>
              <a:rPr sz="1200" b="0"/>
              <a:t>제목은 「벡터 데이터베이스 이전에서, 저장소 교체와 임베딩 위치 효과를 분리하는 요인 분해 방법」입니다.</a:t>
            </a:r>
          </a:p>
          <a:p>
            <a:pPr>
              <a:spcAft>
                <a:spcPts val="600"/>
              </a:spcAft>
            </a:pPr>
            <a:r>
              <a:rPr sz="1200" b="0"/>
              <a:t>쉽게 말씀드리면, </a:t>
            </a:r>
            <a:r>
              <a:rPr sz="1200" b="1"/>
              <a:t>데이터베이스를 옮겼더니 성능이 달라졌을 때 무엇 때문에 달라졌는지를 가려내는 방법</a:t>
            </a:r>
            <a:r>
              <a:rPr sz="1200" b="0"/>
              <a:t>입니다.</a:t>
            </a:r>
          </a:p>
          <a:p>
            <a:pPr>
              <a:spcAft>
                <a:spcPts val="600"/>
              </a:spcAft>
            </a:pPr>
            <a:r>
              <a:rPr sz="1200" b="0"/>
              <a:t>슬라이드는 영문이고, 발표는 한국어로 진행하겠습니다.</a:t>
            </a:r>
          </a:p>
          <a:p>
            <a:pPr>
              <a:spcAft>
                <a:spcPts val="0"/>
              </a:spcAft>
            </a:pPr>
            <a:r>
              <a:rPr sz="1100" b="1"/>
              <a:t>→ 다음: 2장 Contents (0:30)</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[2/17] 0:30–0:50 · 20초 · Contents</a:t>
            </a:r>
          </a:p>
          <a:p>
            <a:pPr>
              <a:spcAft>
                <a:spcPts val="600"/>
              </a:spcAft>
            </a:pPr>
            <a:r>
              <a:rPr sz="1200" b="0"/>
              <a:t>발표는 다섯 부분으로 진행하겠습니다.</a:t>
            </a:r>
          </a:p>
          <a:p>
            <a:pPr>
              <a:spcAft>
                <a:spcPts val="600"/>
              </a:spcAft>
            </a:pPr>
            <a:r>
              <a:rPr sz="1200" b="0"/>
              <a:t>먼저 </a:t>
            </a:r>
            <a:r>
              <a:rPr sz="1200" b="1"/>
              <a:t>어떤 문제가 있는지</a:t>
            </a:r>
            <a:r>
              <a:rPr sz="1200" b="0"/>
              <a:t> 말씀드리고, 그 문제를 가려내기 위해 저희가 </a:t>
            </a:r>
            <a:r>
              <a:rPr sz="1200" b="1"/>
              <a:t>제안하는 방법</a:t>
            </a:r>
            <a:r>
              <a:rPr sz="1200" b="0"/>
              <a:t>을 설명드리겠습니다.</a:t>
            </a:r>
          </a:p>
          <a:p>
            <a:pPr>
              <a:spcAft>
                <a:spcPts val="600"/>
              </a:spcAft>
            </a:pPr>
            <a:r>
              <a:rPr sz="1200" b="0"/>
              <a:t>이어서 </a:t>
            </a:r>
            <a:r>
              <a:rPr sz="1200" b="1"/>
              <a:t>실험 설정과 결과</a:t>
            </a:r>
            <a:r>
              <a:rPr sz="1200" b="0"/>
              <a:t>를 보여 드리고, </a:t>
            </a:r>
            <a:r>
              <a:rPr sz="1200" b="1"/>
              <a:t>결론</a:t>
            </a:r>
            <a:r>
              <a:rPr sz="1200" b="0"/>
              <a:t>으로 마무리하겠습니다.</a:t>
            </a:r>
          </a:p>
          <a:p>
            <a:pPr>
              <a:spcAft>
                <a:spcPts val="0"/>
              </a:spcAft>
            </a:pPr>
            <a:r>
              <a:rPr sz="1100" b="1"/>
              <a:t>→ 다음: 3장 Introduction — 벡터 레이어 (0:50)</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[3/17] 0:50–1:35 · 45초 · Introduction — </a:t>
            </a:r>
            <a:r>
              <a:rPr sz="1200" b="1" dirty="0" err="1"/>
              <a:t>벡터</a:t>
            </a:r>
            <a:r>
              <a:rPr sz="1200" b="1" dirty="0"/>
              <a:t> </a:t>
            </a:r>
            <a:r>
              <a:rPr sz="1200" b="1" dirty="0" err="1"/>
              <a:t>레이어</a:t>
            </a:r>
            <a:endParaRPr sz="1200" b="1" dirty="0"/>
          </a:p>
          <a:p>
            <a:pPr>
              <a:spcAft>
                <a:spcPts val="600"/>
              </a:spcAft>
            </a:pPr>
            <a:r>
              <a:rPr sz="1200" b="0" dirty="0" err="1"/>
              <a:t>먼저</a:t>
            </a:r>
            <a:r>
              <a:rPr sz="1200" b="0" dirty="0"/>
              <a:t> </a:t>
            </a:r>
            <a:r>
              <a:rPr sz="1200" b="0" dirty="0" err="1"/>
              <a:t>배경입니다</a:t>
            </a:r>
            <a:r>
              <a:rPr sz="1200" b="0" dirty="0"/>
              <a:t>.</a:t>
            </a:r>
          </a:p>
          <a:p>
            <a:pPr>
              <a:spcAft>
                <a:spcPts val="600"/>
              </a:spcAft>
            </a:pPr>
            <a:r>
              <a:rPr sz="1200" b="0" dirty="0"/>
              <a:t>RAG </a:t>
            </a:r>
            <a:r>
              <a:rPr sz="1200" b="0" dirty="0" err="1"/>
              <a:t>시스템은</a:t>
            </a:r>
            <a:r>
              <a:rPr sz="1200" b="0" dirty="0"/>
              <a:t> </a:t>
            </a:r>
            <a:r>
              <a:rPr sz="1200" b="0" dirty="0" err="1"/>
              <a:t>크게</a:t>
            </a:r>
            <a:r>
              <a:rPr sz="1200" b="0" dirty="0"/>
              <a:t> 세 </a:t>
            </a:r>
            <a:r>
              <a:rPr sz="1200" b="0" dirty="0" err="1"/>
              <a:t>부분입니다</a:t>
            </a:r>
            <a:r>
              <a:rPr sz="1200" b="0" dirty="0"/>
              <a:t>. </a:t>
            </a:r>
            <a:r>
              <a:rPr sz="1200" b="1" dirty="0" err="1"/>
              <a:t>글을</a:t>
            </a:r>
            <a:r>
              <a:rPr sz="1200" b="1" dirty="0"/>
              <a:t> </a:t>
            </a:r>
            <a:r>
              <a:rPr sz="1200" b="1" dirty="0" err="1"/>
              <a:t>숫자</a:t>
            </a:r>
            <a:r>
              <a:rPr sz="1200" b="1" dirty="0"/>
              <a:t> </a:t>
            </a:r>
            <a:r>
              <a:rPr sz="1200" b="1" dirty="0" err="1"/>
              <a:t>목록으로</a:t>
            </a:r>
            <a:r>
              <a:rPr sz="1200" b="1" dirty="0"/>
              <a:t> </a:t>
            </a:r>
            <a:r>
              <a:rPr sz="1200" b="1" dirty="0" err="1"/>
              <a:t>바꾸는</a:t>
            </a:r>
            <a:r>
              <a:rPr sz="1200" b="1" dirty="0"/>
              <a:t> </a:t>
            </a:r>
            <a:r>
              <a:rPr sz="1200" b="1" dirty="0" err="1"/>
              <a:t>임베딩</a:t>
            </a:r>
            <a:r>
              <a:rPr sz="1200" b="1" dirty="0"/>
              <a:t> </a:t>
            </a:r>
            <a:r>
              <a:rPr sz="1200" b="1" dirty="0" err="1"/>
              <a:t>모델</a:t>
            </a:r>
            <a:r>
              <a:rPr sz="1200" b="0" dirty="0"/>
              <a:t>, </a:t>
            </a:r>
            <a:r>
              <a:rPr sz="1200" b="1" dirty="0"/>
              <a:t>그 </a:t>
            </a:r>
            <a:r>
              <a:rPr sz="1200" b="1" dirty="0" err="1"/>
              <a:t>숫자를</a:t>
            </a:r>
            <a:r>
              <a:rPr sz="1200" b="1" dirty="0"/>
              <a:t> </a:t>
            </a:r>
            <a:r>
              <a:rPr sz="1200" b="1" dirty="0" err="1"/>
              <a:t>쌓아</a:t>
            </a:r>
            <a:r>
              <a:rPr sz="1200" b="1" dirty="0"/>
              <a:t> </a:t>
            </a:r>
            <a:r>
              <a:rPr sz="1200" b="1" dirty="0" err="1"/>
              <a:t>두고</a:t>
            </a:r>
            <a:r>
              <a:rPr sz="1200" b="1" dirty="0"/>
              <a:t> </a:t>
            </a:r>
            <a:r>
              <a:rPr sz="1200" b="1" dirty="0" err="1"/>
              <a:t>비슷한</a:t>
            </a:r>
            <a:r>
              <a:rPr sz="1200" b="1" dirty="0"/>
              <a:t> </a:t>
            </a:r>
            <a:r>
              <a:rPr sz="1200" b="1" dirty="0" err="1"/>
              <a:t>것을</a:t>
            </a:r>
            <a:r>
              <a:rPr sz="1200" b="1" dirty="0"/>
              <a:t> </a:t>
            </a:r>
            <a:r>
              <a:rPr sz="1200" b="1" dirty="0" err="1"/>
              <a:t>찾아</a:t>
            </a:r>
            <a:r>
              <a:rPr sz="1200" b="1" dirty="0"/>
              <a:t> </a:t>
            </a:r>
            <a:r>
              <a:rPr sz="1200" b="1" dirty="0" err="1"/>
              <a:t>주는</a:t>
            </a:r>
            <a:r>
              <a:rPr sz="1200" b="1" dirty="0"/>
              <a:t> </a:t>
            </a:r>
            <a:r>
              <a:rPr sz="1200" b="1" dirty="0" err="1"/>
              <a:t>저장소</a:t>
            </a:r>
            <a:r>
              <a:rPr sz="1200" b="0" dirty="0"/>
              <a:t>, </a:t>
            </a:r>
            <a:r>
              <a:rPr sz="1200" b="0" dirty="0" err="1"/>
              <a:t>그리고</a:t>
            </a:r>
            <a:r>
              <a:rPr sz="1200" b="0" dirty="0"/>
              <a:t> </a:t>
            </a:r>
            <a:r>
              <a:rPr sz="1200" b="1" dirty="0" err="1"/>
              <a:t>찾아온</a:t>
            </a:r>
            <a:r>
              <a:rPr sz="1200" b="1" dirty="0"/>
              <a:t> </a:t>
            </a:r>
            <a:r>
              <a:rPr sz="1200" b="1" dirty="0" err="1"/>
              <a:t>근거를</a:t>
            </a:r>
            <a:r>
              <a:rPr sz="1200" b="1" dirty="0"/>
              <a:t> </a:t>
            </a:r>
            <a:r>
              <a:rPr sz="1200" b="1" dirty="0" err="1"/>
              <a:t>읽고</a:t>
            </a:r>
            <a:r>
              <a:rPr sz="1200" b="1" dirty="0"/>
              <a:t> </a:t>
            </a:r>
            <a:r>
              <a:rPr sz="1200" b="1" dirty="0" err="1"/>
              <a:t>답을</a:t>
            </a:r>
            <a:r>
              <a:rPr sz="1200" b="1" dirty="0"/>
              <a:t> </a:t>
            </a:r>
            <a:r>
              <a:rPr sz="1200" b="1" dirty="0" err="1"/>
              <a:t>쓰는</a:t>
            </a:r>
            <a:r>
              <a:rPr sz="1200" b="1" dirty="0"/>
              <a:t> </a:t>
            </a:r>
            <a:r>
              <a:rPr sz="1200" b="1" dirty="0" err="1"/>
              <a:t>언어</a:t>
            </a:r>
            <a:r>
              <a:rPr sz="1200" b="1" dirty="0"/>
              <a:t> </a:t>
            </a:r>
            <a:r>
              <a:rPr sz="1200" b="1" dirty="0" err="1"/>
              <a:t>모델</a:t>
            </a:r>
            <a:r>
              <a:rPr sz="1200" b="0" dirty="0" err="1"/>
              <a:t>입니다</a:t>
            </a:r>
            <a:r>
              <a:rPr sz="1200" b="0" dirty="0"/>
              <a:t>.</a:t>
            </a:r>
          </a:p>
          <a:p>
            <a:pPr>
              <a:spcAft>
                <a:spcPts val="600"/>
              </a:spcAft>
            </a:pPr>
            <a:r>
              <a:rPr sz="1200" b="0" dirty="0"/>
              <a:t>(</a:t>
            </a:r>
            <a:r>
              <a:rPr sz="1200" b="0" dirty="0" err="1"/>
              <a:t>그림</a:t>
            </a:r>
            <a:r>
              <a:rPr sz="1200" b="0" dirty="0"/>
              <a:t> </a:t>
            </a:r>
            <a:r>
              <a:rPr sz="1200" b="0" dirty="0" err="1"/>
              <a:t>위쪽을</a:t>
            </a:r>
            <a:r>
              <a:rPr sz="1200" b="0" dirty="0"/>
              <a:t> </a:t>
            </a:r>
            <a:r>
              <a:rPr sz="1200" b="0" dirty="0" err="1"/>
              <a:t>짚으며</a:t>
            </a:r>
            <a:r>
              <a:rPr sz="1200" b="0" dirty="0"/>
              <a:t>) 이 </a:t>
            </a:r>
            <a:r>
              <a:rPr sz="1200" b="0" dirty="0" err="1"/>
              <a:t>가운데</a:t>
            </a:r>
            <a:r>
              <a:rPr sz="1200" b="0" dirty="0"/>
              <a:t> </a:t>
            </a:r>
            <a:r>
              <a:rPr sz="1200" b="0" dirty="0" err="1"/>
              <a:t>앞의</a:t>
            </a:r>
            <a:r>
              <a:rPr sz="1200" b="0" dirty="0"/>
              <a:t> 두 </a:t>
            </a:r>
            <a:r>
              <a:rPr sz="1200" b="0" dirty="0" err="1"/>
              <a:t>부분</a:t>
            </a:r>
            <a:r>
              <a:rPr sz="1200" b="0" dirty="0"/>
              <a:t>, </a:t>
            </a:r>
            <a:r>
              <a:rPr sz="1200" b="1" dirty="0" err="1"/>
              <a:t>벡터를</a:t>
            </a:r>
            <a:r>
              <a:rPr sz="1200" b="1" dirty="0"/>
              <a:t> </a:t>
            </a:r>
            <a:r>
              <a:rPr sz="1200" b="1" dirty="0" err="1"/>
              <a:t>다루는</a:t>
            </a:r>
            <a:r>
              <a:rPr sz="1200" b="1" dirty="0"/>
              <a:t> </a:t>
            </a:r>
            <a:r>
              <a:rPr sz="1200" b="1" dirty="0" err="1"/>
              <a:t>부분이</a:t>
            </a:r>
            <a:r>
              <a:rPr sz="1200" b="1" dirty="0"/>
              <a:t> </a:t>
            </a:r>
            <a:r>
              <a:rPr sz="1200" b="1" dirty="0" err="1"/>
              <a:t>서비스를</a:t>
            </a:r>
            <a:r>
              <a:rPr sz="1200" b="1" dirty="0"/>
              <a:t> </a:t>
            </a:r>
            <a:r>
              <a:rPr sz="1200" b="1" dirty="0" err="1"/>
              <a:t>띄운</a:t>
            </a:r>
            <a:r>
              <a:rPr sz="1200" b="1" dirty="0"/>
              <a:t> 뒤 </a:t>
            </a:r>
            <a:r>
              <a:rPr sz="1200" b="1" dirty="0" err="1"/>
              <a:t>가장</a:t>
            </a:r>
            <a:r>
              <a:rPr sz="1200" b="1" dirty="0"/>
              <a:t> </a:t>
            </a:r>
            <a:r>
              <a:rPr sz="1200" b="1" dirty="0" err="1"/>
              <a:t>자주</a:t>
            </a:r>
            <a:r>
              <a:rPr sz="1200" b="1" dirty="0"/>
              <a:t> </a:t>
            </a:r>
            <a:r>
              <a:rPr sz="1200" b="1" dirty="0" err="1"/>
              <a:t>갈아</a:t>
            </a:r>
            <a:r>
              <a:rPr sz="1200" b="1" dirty="0"/>
              <a:t> </a:t>
            </a:r>
            <a:r>
              <a:rPr sz="1200" b="1" dirty="0" err="1"/>
              <a:t>끼우게</a:t>
            </a:r>
            <a:r>
              <a:rPr sz="1200" b="1" dirty="0"/>
              <a:t> </a:t>
            </a:r>
            <a:r>
              <a:rPr sz="1200" b="1" dirty="0" err="1"/>
              <a:t>되는</a:t>
            </a:r>
            <a:r>
              <a:rPr sz="1200" b="1" dirty="0"/>
              <a:t> </a:t>
            </a:r>
            <a:r>
              <a:rPr sz="1200" b="1" dirty="0" err="1"/>
              <a:t>자리</a:t>
            </a:r>
            <a:r>
              <a:rPr sz="1200" b="0" dirty="0" err="1"/>
              <a:t>입니다</a:t>
            </a:r>
            <a:r>
              <a:rPr sz="1200" b="0" dirty="0"/>
              <a:t>.</a:t>
            </a:r>
          </a:p>
          <a:p>
            <a:pPr>
              <a:spcAft>
                <a:spcPts val="600"/>
              </a:spcAft>
            </a:pPr>
            <a:r>
              <a:rPr sz="1200" b="0" dirty="0"/>
              <a:t>(</a:t>
            </a:r>
            <a:r>
              <a:rPr sz="1200" b="0" dirty="0" err="1"/>
              <a:t>그림</a:t>
            </a:r>
            <a:r>
              <a:rPr sz="1200" b="0" dirty="0"/>
              <a:t> </a:t>
            </a:r>
            <a:r>
              <a:rPr sz="1200" b="0" dirty="0" err="1"/>
              <a:t>아래쪽을</a:t>
            </a:r>
            <a:r>
              <a:rPr sz="1200" b="0" dirty="0"/>
              <a:t> </a:t>
            </a:r>
            <a:r>
              <a:rPr sz="1200" b="0" dirty="0" err="1"/>
              <a:t>짚으며</a:t>
            </a:r>
            <a:r>
              <a:rPr sz="1200" b="0" dirty="0"/>
              <a:t>) </a:t>
            </a:r>
            <a:r>
              <a:rPr sz="1200" b="0" dirty="0" err="1"/>
              <a:t>가장</a:t>
            </a:r>
            <a:r>
              <a:rPr sz="1200" b="0" dirty="0"/>
              <a:t> </a:t>
            </a:r>
            <a:r>
              <a:rPr sz="1200" b="0" dirty="0" err="1"/>
              <a:t>흔한</a:t>
            </a:r>
            <a:r>
              <a:rPr sz="1200" b="0" dirty="0"/>
              <a:t> </a:t>
            </a:r>
            <a:r>
              <a:rPr sz="1200" b="0" dirty="0" err="1"/>
              <a:t>경로는</a:t>
            </a:r>
            <a:r>
              <a:rPr sz="1200" b="0" dirty="0"/>
              <a:t> </a:t>
            </a:r>
            <a:r>
              <a:rPr sz="1200" b="0" dirty="0" err="1"/>
              <a:t>이렇습니다</a:t>
            </a:r>
            <a:r>
              <a:rPr sz="1200" b="0" dirty="0"/>
              <a:t>. </a:t>
            </a:r>
            <a:r>
              <a:rPr sz="1200" b="0" dirty="0" err="1"/>
              <a:t>지금은</a:t>
            </a:r>
            <a:r>
              <a:rPr sz="1200" b="0" dirty="0"/>
              <a:t> </a:t>
            </a:r>
            <a:r>
              <a:rPr sz="1200" b="0" dirty="0" err="1"/>
              <a:t>일반</a:t>
            </a:r>
            <a:r>
              <a:rPr sz="1200" b="0" dirty="0"/>
              <a:t> </a:t>
            </a:r>
            <a:r>
              <a:rPr sz="1200" b="0" dirty="0" err="1"/>
              <a:t>데이터베이스에</a:t>
            </a:r>
            <a:r>
              <a:rPr sz="1200" b="0" dirty="0"/>
              <a:t> </a:t>
            </a:r>
            <a:r>
              <a:rPr sz="1200" b="0" dirty="0" err="1"/>
              <a:t>벡터</a:t>
            </a:r>
            <a:r>
              <a:rPr sz="1200" b="0" dirty="0"/>
              <a:t> </a:t>
            </a:r>
            <a:r>
              <a:rPr sz="1200" b="0" dirty="0" err="1"/>
              <a:t>기능을</a:t>
            </a:r>
            <a:r>
              <a:rPr sz="1200" b="0" dirty="0"/>
              <a:t> </a:t>
            </a:r>
            <a:r>
              <a:rPr sz="1200" b="0" dirty="0" err="1"/>
              <a:t>얹어</a:t>
            </a:r>
            <a:r>
              <a:rPr sz="1200" b="0" dirty="0"/>
              <a:t> </a:t>
            </a:r>
            <a:r>
              <a:rPr sz="1200" b="0" dirty="0" err="1"/>
              <a:t>쓰고</a:t>
            </a:r>
            <a:r>
              <a:rPr sz="1200" b="0" dirty="0"/>
              <a:t> </a:t>
            </a:r>
            <a:r>
              <a:rPr sz="1200" b="0" dirty="0" err="1"/>
              <a:t>있고</a:t>
            </a:r>
            <a:r>
              <a:rPr sz="1200" b="0" dirty="0"/>
              <a:t>, </a:t>
            </a:r>
            <a:r>
              <a:rPr sz="1200" b="0" dirty="0" err="1"/>
              <a:t>여기서</a:t>
            </a:r>
            <a:r>
              <a:rPr sz="1200" b="0" dirty="0"/>
              <a:t> </a:t>
            </a:r>
            <a:r>
              <a:rPr sz="1200" b="1" dirty="0" err="1"/>
              <a:t>임베딩</a:t>
            </a:r>
            <a:r>
              <a:rPr sz="1200" b="1" dirty="0"/>
              <a:t> </a:t>
            </a:r>
            <a:r>
              <a:rPr sz="1200" b="1" dirty="0" err="1"/>
              <a:t>계산까지</a:t>
            </a:r>
            <a:r>
              <a:rPr sz="1200" b="1" dirty="0"/>
              <a:t> </a:t>
            </a:r>
            <a:r>
              <a:rPr sz="1200" b="1" dirty="0" err="1"/>
              <a:t>데이터베이스가</a:t>
            </a:r>
            <a:r>
              <a:rPr sz="1200" b="1" dirty="0"/>
              <a:t> </a:t>
            </a:r>
            <a:r>
              <a:rPr sz="1200" b="1" dirty="0" err="1"/>
              <a:t>직접</a:t>
            </a:r>
            <a:r>
              <a:rPr sz="1200" b="1" dirty="0"/>
              <a:t> 해 </a:t>
            </a:r>
            <a:r>
              <a:rPr sz="1200" b="1" dirty="0" err="1"/>
              <a:t>주는</a:t>
            </a:r>
            <a:r>
              <a:rPr sz="1200" b="1" dirty="0"/>
              <a:t> </a:t>
            </a:r>
            <a:r>
              <a:rPr sz="1200" b="1" dirty="0" err="1"/>
              <a:t>제품</a:t>
            </a:r>
            <a:r>
              <a:rPr sz="1200" b="0" dirty="0" err="1"/>
              <a:t>으로</a:t>
            </a:r>
            <a:r>
              <a:rPr sz="1200" b="0" dirty="0"/>
              <a:t> </a:t>
            </a:r>
            <a:r>
              <a:rPr sz="1200" b="0" dirty="0" err="1"/>
              <a:t>옮겨</a:t>
            </a:r>
            <a:r>
              <a:rPr sz="1200" b="0" dirty="0"/>
              <a:t> </a:t>
            </a:r>
            <a:r>
              <a:rPr sz="1200" b="0" dirty="0" err="1"/>
              <a:t>가는</a:t>
            </a:r>
            <a:r>
              <a:rPr sz="1200" b="0" dirty="0"/>
              <a:t> </a:t>
            </a:r>
            <a:r>
              <a:rPr sz="1200" b="0" dirty="0" err="1"/>
              <a:t>경우입니다</a:t>
            </a:r>
            <a:r>
              <a:rPr sz="1200" b="0" dirty="0"/>
              <a:t>.</a:t>
            </a:r>
          </a:p>
          <a:p>
            <a:pPr>
              <a:spcAft>
                <a:spcPts val="0"/>
              </a:spcAft>
            </a:pPr>
            <a:r>
              <a:rPr sz="1100" b="1" dirty="0"/>
              <a:t>→ </a:t>
            </a:r>
            <a:r>
              <a:rPr sz="1100" b="1" dirty="0" err="1"/>
              <a:t>다음</a:t>
            </a:r>
            <a:r>
              <a:rPr sz="1100" b="1" dirty="0"/>
              <a:t>: 4장 Introduction — 두 </a:t>
            </a:r>
            <a:r>
              <a:rPr sz="1100" b="1" dirty="0" err="1"/>
              <a:t>가지가</a:t>
            </a:r>
            <a:r>
              <a:rPr sz="1100" b="1" dirty="0"/>
              <a:t> </a:t>
            </a:r>
            <a:r>
              <a:rPr sz="1100" b="1" dirty="0" err="1"/>
              <a:t>함께</a:t>
            </a:r>
            <a:r>
              <a:rPr sz="1100" b="1" dirty="0"/>
              <a:t> </a:t>
            </a:r>
            <a:r>
              <a:rPr sz="1100" b="1" dirty="0" err="1"/>
              <a:t>바뀐다</a:t>
            </a:r>
            <a:r>
              <a:rPr sz="1100" b="1" dirty="0"/>
              <a:t> ★ (1:35)</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[4/17] 1:35–2:50 · 75초 · Introduction — 두 </a:t>
            </a:r>
            <a:r>
              <a:rPr sz="1200" b="1" dirty="0" err="1"/>
              <a:t>가지가</a:t>
            </a:r>
            <a:r>
              <a:rPr sz="1200" b="1" dirty="0"/>
              <a:t> </a:t>
            </a:r>
            <a:r>
              <a:rPr sz="1200" b="1" dirty="0" err="1"/>
              <a:t>함께</a:t>
            </a:r>
            <a:r>
              <a:rPr sz="1200" b="1" dirty="0"/>
              <a:t> </a:t>
            </a:r>
            <a:r>
              <a:rPr sz="1200" b="1" dirty="0" err="1"/>
              <a:t>바뀐다</a:t>
            </a:r>
            <a:r>
              <a:rPr sz="1200" b="1" dirty="0"/>
              <a:t> ★</a:t>
            </a:r>
          </a:p>
          <a:p>
            <a:pPr>
              <a:spcAft>
                <a:spcPts val="600"/>
              </a:spcAft>
            </a:pPr>
            <a:r>
              <a:rPr sz="1200" b="0" dirty="0" err="1"/>
              <a:t>문제는</a:t>
            </a:r>
            <a:r>
              <a:rPr sz="1200" b="0" dirty="0"/>
              <a:t> </a:t>
            </a:r>
            <a:r>
              <a:rPr sz="1200" b="0" dirty="0" err="1"/>
              <a:t>여기서</a:t>
            </a:r>
            <a:r>
              <a:rPr sz="1200" b="0" dirty="0"/>
              <a:t> </a:t>
            </a:r>
            <a:r>
              <a:rPr sz="1200" b="0" dirty="0" err="1"/>
              <a:t>시작됩니다</a:t>
            </a:r>
            <a:r>
              <a:rPr sz="1200" b="0" dirty="0"/>
              <a:t>.</a:t>
            </a:r>
          </a:p>
          <a:p>
            <a:pPr>
              <a:spcAft>
                <a:spcPts val="600"/>
              </a:spcAft>
            </a:pPr>
            <a:r>
              <a:rPr sz="1200" b="0" dirty="0" err="1"/>
              <a:t>이렇게</a:t>
            </a:r>
            <a:r>
              <a:rPr sz="1200" b="0" dirty="0"/>
              <a:t> 한 번 </a:t>
            </a:r>
            <a:r>
              <a:rPr sz="1200" b="0" dirty="0" err="1"/>
              <a:t>옮길</a:t>
            </a:r>
            <a:r>
              <a:rPr sz="1200" b="0" dirty="0"/>
              <a:t> 때, </a:t>
            </a:r>
            <a:r>
              <a:rPr sz="1200" b="1" dirty="0" err="1"/>
              <a:t>바뀌는</a:t>
            </a:r>
            <a:r>
              <a:rPr sz="1200" b="1" dirty="0"/>
              <a:t> </a:t>
            </a:r>
            <a:r>
              <a:rPr sz="1200" b="1" dirty="0" err="1"/>
              <a:t>것이</a:t>
            </a:r>
            <a:r>
              <a:rPr sz="1200" b="1" dirty="0"/>
              <a:t> </a:t>
            </a:r>
            <a:r>
              <a:rPr sz="1200" b="1" dirty="0" err="1"/>
              <a:t>하나가</a:t>
            </a:r>
            <a:r>
              <a:rPr sz="1200" b="1" dirty="0"/>
              <a:t> </a:t>
            </a:r>
            <a:r>
              <a:rPr sz="1200" b="1" dirty="0" err="1"/>
              <a:t>아니라</a:t>
            </a:r>
            <a:r>
              <a:rPr sz="1200" b="1" dirty="0"/>
              <a:t> </a:t>
            </a:r>
            <a:r>
              <a:rPr lang="ko-KR" altLang="en-US" sz="1200" b="1" dirty="0"/>
              <a:t>저장소 인스턴스와 </a:t>
            </a:r>
            <a:r>
              <a:rPr lang="ko-KR" altLang="en-US" sz="1200" b="1" dirty="0" err="1"/>
              <a:t>임베딩</a:t>
            </a:r>
            <a:r>
              <a:rPr lang="ko-KR" altLang="en-US" sz="1200" b="1" dirty="0"/>
              <a:t> 모델의 위치 </a:t>
            </a:r>
            <a:r>
              <a:rPr sz="1200" b="1" dirty="0"/>
              <a:t>두 </a:t>
            </a:r>
            <a:r>
              <a:rPr sz="1200" b="1" dirty="0" err="1"/>
              <a:t>개입니다</a:t>
            </a:r>
            <a:r>
              <a:rPr sz="1200" b="1" dirty="0"/>
              <a:t>.</a:t>
            </a:r>
          </a:p>
          <a:p>
            <a:pPr>
              <a:spcAft>
                <a:spcPts val="600"/>
              </a:spcAft>
            </a:pPr>
            <a:r>
              <a:rPr sz="1200" b="0" dirty="0"/>
              <a:t>(두 </a:t>
            </a:r>
            <a:r>
              <a:rPr sz="1200" b="0" dirty="0" err="1"/>
              <a:t>상자를</a:t>
            </a:r>
            <a:r>
              <a:rPr sz="1200" b="0" dirty="0"/>
              <a:t> </a:t>
            </a:r>
            <a:r>
              <a:rPr sz="1200" b="0" dirty="0" err="1"/>
              <a:t>짚으며</a:t>
            </a:r>
            <a:r>
              <a:rPr sz="1200" b="0" dirty="0"/>
              <a:t>) </a:t>
            </a:r>
            <a:r>
              <a:rPr sz="1200" b="0" dirty="0" err="1"/>
              <a:t>저희</a:t>
            </a:r>
            <a:r>
              <a:rPr sz="1200" b="0" dirty="0"/>
              <a:t> </a:t>
            </a:r>
            <a:r>
              <a:rPr sz="1200" b="0" dirty="0" err="1"/>
              <a:t>경우</a:t>
            </a:r>
            <a:r>
              <a:rPr sz="1200" b="0" dirty="0"/>
              <a:t> </a:t>
            </a:r>
            <a:r>
              <a:rPr sz="1200" b="0" dirty="0" err="1"/>
              <a:t>왼쪽이</a:t>
            </a:r>
            <a:r>
              <a:rPr sz="1200" b="0" dirty="0"/>
              <a:t> </a:t>
            </a:r>
            <a:r>
              <a:rPr sz="1200" b="1" dirty="0" err="1"/>
              <a:t>pgvector를</a:t>
            </a:r>
            <a:r>
              <a:rPr sz="1200" b="1" dirty="0"/>
              <a:t> </a:t>
            </a:r>
            <a:r>
              <a:rPr sz="1200" b="1" dirty="0" err="1"/>
              <a:t>얹은</a:t>
            </a:r>
            <a:r>
              <a:rPr sz="1200" b="1" dirty="0"/>
              <a:t> </a:t>
            </a:r>
            <a:r>
              <a:rPr sz="1200" b="1" dirty="0" err="1"/>
              <a:t>지금</a:t>
            </a:r>
            <a:r>
              <a:rPr sz="1200" b="1" dirty="0"/>
              <a:t> </a:t>
            </a:r>
            <a:r>
              <a:rPr sz="1200" b="1" dirty="0" err="1"/>
              <a:t>시스템</a:t>
            </a:r>
            <a:r>
              <a:rPr sz="1200" b="0" dirty="0"/>
              <a:t>, </a:t>
            </a:r>
            <a:r>
              <a:rPr sz="1200" b="0" dirty="0" err="1"/>
              <a:t>오른쪽이</a:t>
            </a:r>
            <a:r>
              <a:rPr sz="1200" b="0" dirty="0"/>
              <a:t> </a:t>
            </a:r>
            <a:r>
              <a:rPr sz="1200" b="1" dirty="0" err="1"/>
              <a:t>오라클</a:t>
            </a:r>
            <a:r>
              <a:rPr sz="1200" b="1" dirty="0"/>
              <a:t> 26ai로 </a:t>
            </a:r>
            <a:r>
              <a:rPr sz="1200" b="1" dirty="0" err="1"/>
              <a:t>옮긴</a:t>
            </a:r>
            <a:r>
              <a:rPr sz="1200" b="1" dirty="0"/>
              <a:t> </a:t>
            </a:r>
            <a:r>
              <a:rPr sz="1200" b="1" dirty="0" err="1"/>
              <a:t>시스템</a:t>
            </a:r>
            <a:r>
              <a:rPr sz="1200" b="0" dirty="0" err="1"/>
              <a:t>입니다</a:t>
            </a:r>
            <a:r>
              <a:rPr sz="1200" b="0" dirty="0"/>
              <a:t>. </a:t>
            </a:r>
            <a:r>
              <a:rPr sz="1200" b="0" dirty="0" err="1"/>
              <a:t>다만</a:t>
            </a:r>
            <a:r>
              <a:rPr sz="1200" b="0" dirty="0"/>
              <a:t> </a:t>
            </a:r>
            <a:r>
              <a:rPr sz="1200" b="0" dirty="0" err="1"/>
              <a:t>오늘</a:t>
            </a:r>
            <a:r>
              <a:rPr sz="1200" b="0" dirty="0"/>
              <a:t> </a:t>
            </a:r>
            <a:r>
              <a:rPr sz="1200" b="0" dirty="0" err="1"/>
              <a:t>말씀드릴</a:t>
            </a:r>
            <a:r>
              <a:rPr sz="1200" b="0" dirty="0"/>
              <a:t> </a:t>
            </a:r>
            <a:r>
              <a:rPr sz="1200" b="0" dirty="0" err="1"/>
              <a:t>것은</a:t>
            </a:r>
            <a:r>
              <a:rPr sz="1200" b="0" dirty="0"/>
              <a:t> </a:t>
            </a:r>
            <a:r>
              <a:rPr sz="1200" b="0" dirty="0" err="1"/>
              <a:t>제품의</a:t>
            </a:r>
            <a:r>
              <a:rPr sz="1200" b="0" dirty="0"/>
              <a:t> </a:t>
            </a:r>
            <a:r>
              <a:rPr sz="1200" b="0" dirty="0" err="1"/>
              <a:t>우열이</a:t>
            </a:r>
            <a:r>
              <a:rPr sz="1200" b="0" dirty="0"/>
              <a:t> </a:t>
            </a:r>
            <a:r>
              <a:rPr sz="1200" b="0" dirty="0" err="1"/>
              <a:t>아니라</a:t>
            </a:r>
            <a:r>
              <a:rPr sz="1200" b="0" dirty="0"/>
              <a:t> </a:t>
            </a:r>
            <a:r>
              <a:rPr sz="1200" b="1" dirty="0" err="1"/>
              <a:t>어느</a:t>
            </a:r>
            <a:r>
              <a:rPr sz="1200" b="1" dirty="0"/>
              <a:t> </a:t>
            </a:r>
            <a:r>
              <a:rPr sz="1200" b="1" dirty="0" err="1"/>
              <a:t>이전에나</a:t>
            </a:r>
            <a:r>
              <a:rPr sz="1200" b="1" dirty="0"/>
              <a:t> </a:t>
            </a:r>
            <a:r>
              <a:rPr sz="1200" b="1" dirty="0" err="1"/>
              <a:t>해당되는</a:t>
            </a:r>
            <a:r>
              <a:rPr sz="1200" b="1" dirty="0"/>
              <a:t> </a:t>
            </a:r>
            <a:r>
              <a:rPr sz="1200" b="1" dirty="0" err="1"/>
              <a:t>구조</a:t>
            </a:r>
            <a:r>
              <a:rPr sz="1200" b="0" dirty="0" err="1"/>
              <a:t>입니다</a:t>
            </a:r>
            <a:r>
              <a:rPr sz="1200" b="0" dirty="0"/>
              <a:t>.</a:t>
            </a:r>
          </a:p>
          <a:p>
            <a:pPr>
              <a:spcAft>
                <a:spcPts val="600"/>
              </a:spcAft>
            </a:pPr>
            <a:r>
              <a:rPr sz="1200" b="0" dirty="0" err="1"/>
              <a:t>첫째로</a:t>
            </a:r>
            <a:r>
              <a:rPr sz="1200" b="0" dirty="0"/>
              <a:t> </a:t>
            </a:r>
            <a:r>
              <a:rPr sz="1200" b="1" dirty="0" err="1"/>
              <a:t>저장소</a:t>
            </a:r>
            <a:r>
              <a:rPr sz="1200" b="0" dirty="0" err="1"/>
              <a:t>가</a:t>
            </a:r>
            <a:r>
              <a:rPr sz="1200" b="0" dirty="0"/>
              <a:t> </a:t>
            </a:r>
            <a:r>
              <a:rPr sz="1200" b="0" dirty="0" err="1"/>
              <a:t>바뀝니다</a:t>
            </a:r>
            <a:r>
              <a:rPr sz="1200" b="0" dirty="0"/>
              <a:t>. </a:t>
            </a:r>
            <a:r>
              <a:rPr sz="1200" b="0" dirty="0" err="1"/>
              <a:t>엔진이</a:t>
            </a:r>
            <a:r>
              <a:rPr sz="1200" b="0" dirty="0"/>
              <a:t> </a:t>
            </a:r>
            <a:r>
              <a:rPr sz="1200" b="0" dirty="0" err="1"/>
              <a:t>바뀌고</a:t>
            </a:r>
            <a:r>
              <a:rPr sz="1200" b="0" dirty="0"/>
              <a:t> </a:t>
            </a:r>
            <a:r>
              <a:rPr sz="1200" b="0" dirty="0" err="1"/>
              <a:t>찾는</a:t>
            </a:r>
            <a:r>
              <a:rPr sz="1200" b="0" dirty="0"/>
              <a:t> </a:t>
            </a:r>
            <a:r>
              <a:rPr sz="1200" b="0" dirty="0" err="1"/>
              <a:t>방식도</a:t>
            </a:r>
            <a:r>
              <a:rPr sz="1200" b="0" dirty="0"/>
              <a:t> </a:t>
            </a:r>
            <a:r>
              <a:rPr sz="1200" b="0" dirty="0" err="1"/>
              <a:t>바뀝니다</a:t>
            </a:r>
            <a:r>
              <a:rPr sz="1200" b="0" dirty="0"/>
              <a:t>. </a:t>
            </a:r>
            <a:r>
              <a:rPr sz="1200" b="0" dirty="0" err="1"/>
              <a:t>기존은</a:t>
            </a:r>
            <a:r>
              <a:rPr sz="1200" b="0" dirty="0"/>
              <a:t> </a:t>
            </a:r>
            <a:r>
              <a:rPr sz="1200" b="0" dirty="0" err="1"/>
              <a:t>빠르게</a:t>
            </a:r>
            <a:r>
              <a:rPr sz="1200" b="0" dirty="0"/>
              <a:t> </a:t>
            </a:r>
            <a:r>
              <a:rPr sz="1200" b="0" dirty="0" err="1"/>
              <a:t>찾는</a:t>
            </a:r>
            <a:r>
              <a:rPr sz="1200" b="0" dirty="0"/>
              <a:t> </a:t>
            </a:r>
            <a:r>
              <a:rPr sz="1200" b="0" dirty="0" err="1"/>
              <a:t>대신</a:t>
            </a:r>
            <a:r>
              <a:rPr sz="1200" b="0" dirty="0"/>
              <a:t> </a:t>
            </a:r>
            <a:r>
              <a:rPr sz="1200" b="0" dirty="0" err="1"/>
              <a:t>가끔</a:t>
            </a:r>
            <a:r>
              <a:rPr sz="1200" b="0" dirty="0"/>
              <a:t> </a:t>
            </a:r>
            <a:r>
              <a:rPr sz="1200" b="0" dirty="0" err="1"/>
              <a:t>놓치는</a:t>
            </a:r>
            <a:r>
              <a:rPr sz="1200" b="0" dirty="0"/>
              <a:t> </a:t>
            </a:r>
            <a:r>
              <a:rPr sz="1200" b="0" dirty="0" err="1"/>
              <a:t>방식</a:t>
            </a:r>
            <a:r>
              <a:rPr sz="1200" b="0" dirty="0"/>
              <a:t>, 새 </a:t>
            </a:r>
            <a:r>
              <a:rPr sz="1200" b="0" dirty="0" err="1"/>
              <a:t>것은</a:t>
            </a:r>
            <a:r>
              <a:rPr sz="1200" b="0" dirty="0"/>
              <a:t> </a:t>
            </a:r>
            <a:r>
              <a:rPr sz="1200" b="0" dirty="0" err="1"/>
              <a:t>전부</a:t>
            </a:r>
            <a:r>
              <a:rPr sz="1200" b="0" dirty="0"/>
              <a:t> </a:t>
            </a:r>
            <a:r>
              <a:rPr sz="1200" b="0" dirty="0" err="1"/>
              <a:t>훑는</a:t>
            </a:r>
            <a:r>
              <a:rPr sz="1200" b="0" dirty="0"/>
              <a:t> </a:t>
            </a:r>
            <a:r>
              <a:rPr sz="1200" b="0" dirty="0" err="1"/>
              <a:t>방식입니다</a:t>
            </a:r>
            <a:r>
              <a:rPr sz="1200" b="0" dirty="0"/>
              <a:t>.</a:t>
            </a:r>
          </a:p>
          <a:p>
            <a:pPr>
              <a:spcAft>
                <a:spcPts val="600"/>
              </a:spcAft>
            </a:pPr>
            <a:r>
              <a:rPr sz="1200" b="0" dirty="0" err="1"/>
              <a:t>둘째로</a:t>
            </a:r>
            <a:r>
              <a:rPr sz="1200" b="0" dirty="0"/>
              <a:t> </a:t>
            </a:r>
            <a:r>
              <a:rPr sz="1200" b="1" dirty="0" err="1"/>
              <a:t>임베딩을</a:t>
            </a:r>
            <a:r>
              <a:rPr sz="1200" b="1" dirty="0"/>
              <a:t> </a:t>
            </a:r>
            <a:r>
              <a:rPr sz="1200" b="1" dirty="0" err="1"/>
              <a:t>어디서</a:t>
            </a:r>
            <a:r>
              <a:rPr sz="1200" b="1" dirty="0"/>
              <a:t> </a:t>
            </a:r>
            <a:r>
              <a:rPr sz="1200" b="1" dirty="0" err="1"/>
              <a:t>계산하느냐</a:t>
            </a:r>
            <a:r>
              <a:rPr sz="1200" b="0" dirty="0" err="1"/>
              <a:t>가</a:t>
            </a:r>
            <a:r>
              <a:rPr sz="1200" b="0" dirty="0"/>
              <a:t> </a:t>
            </a:r>
            <a:r>
              <a:rPr sz="1200" b="0" dirty="0" err="1"/>
              <a:t>바뀝니다</a:t>
            </a:r>
            <a:r>
              <a:rPr sz="1200" b="0" dirty="0"/>
              <a:t>. </a:t>
            </a:r>
            <a:r>
              <a:rPr sz="1200" b="0" dirty="0" err="1"/>
              <a:t>바깥에서</a:t>
            </a:r>
            <a:r>
              <a:rPr sz="1200" b="0" dirty="0"/>
              <a:t> </a:t>
            </a:r>
            <a:r>
              <a:rPr sz="1200" b="0" dirty="0" err="1"/>
              <a:t>하던</a:t>
            </a:r>
            <a:r>
              <a:rPr sz="1200" b="0" dirty="0"/>
              <a:t> </a:t>
            </a:r>
            <a:r>
              <a:rPr sz="1200" b="0" dirty="0" err="1"/>
              <a:t>것을</a:t>
            </a:r>
            <a:r>
              <a:rPr sz="1200" b="0" dirty="0"/>
              <a:t> </a:t>
            </a:r>
            <a:r>
              <a:rPr sz="1200" b="0" dirty="0" err="1"/>
              <a:t>안에서</a:t>
            </a:r>
            <a:r>
              <a:rPr sz="1200" b="0" dirty="0"/>
              <a:t> </a:t>
            </a:r>
            <a:r>
              <a:rPr sz="1200" b="0" dirty="0" err="1"/>
              <a:t>하게</a:t>
            </a:r>
            <a:r>
              <a:rPr sz="1200" b="0" dirty="0"/>
              <a:t> </a:t>
            </a:r>
            <a:r>
              <a:rPr sz="1200" b="0" dirty="0" err="1"/>
              <a:t>됩니다</a:t>
            </a:r>
            <a:r>
              <a:rPr sz="1200" b="0" dirty="0"/>
              <a:t>.</a:t>
            </a:r>
          </a:p>
          <a:p>
            <a:pPr>
              <a:spcAft>
                <a:spcPts val="600"/>
              </a:spcAft>
            </a:pPr>
            <a:r>
              <a:rPr sz="1200" b="0" dirty="0"/>
              <a:t>(</a:t>
            </a:r>
            <a:r>
              <a:rPr sz="1200" b="0" dirty="0" err="1"/>
              <a:t>붉은</a:t>
            </a:r>
            <a:r>
              <a:rPr sz="1200" b="0" dirty="0"/>
              <a:t> 두 </a:t>
            </a:r>
            <a:r>
              <a:rPr sz="1200" b="0" dirty="0" err="1"/>
              <a:t>줄을</a:t>
            </a:r>
            <a:r>
              <a:rPr sz="1200" b="0" dirty="0"/>
              <a:t> </a:t>
            </a:r>
            <a:r>
              <a:rPr sz="1200" b="0" dirty="0" err="1"/>
              <a:t>짚으며</a:t>
            </a:r>
            <a:r>
              <a:rPr sz="1200" b="0" dirty="0"/>
              <a:t>) </a:t>
            </a:r>
            <a:r>
              <a:rPr sz="1200" b="0" dirty="0" err="1"/>
              <a:t>붉게</a:t>
            </a:r>
            <a:r>
              <a:rPr sz="1200" b="0" dirty="0"/>
              <a:t> </a:t>
            </a:r>
            <a:r>
              <a:rPr sz="1200" b="0" dirty="0" err="1"/>
              <a:t>표시된</a:t>
            </a:r>
            <a:r>
              <a:rPr sz="1200" b="0" dirty="0"/>
              <a:t> 두 </a:t>
            </a:r>
            <a:r>
              <a:rPr sz="1200" b="0" dirty="0" err="1"/>
              <a:t>줄이</a:t>
            </a:r>
            <a:r>
              <a:rPr sz="1200" b="0" dirty="0"/>
              <a:t> </a:t>
            </a:r>
            <a:r>
              <a:rPr sz="1200" b="0" dirty="0" err="1"/>
              <a:t>실제로</a:t>
            </a:r>
            <a:r>
              <a:rPr sz="1200" b="0" dirty="0"/>
              <a:t> </a:t>
            </a:r>
            <a:r>
              <a:rPr sz="1200" b="0" dirty="0" err="1"/>
              <a:t>달라지는</a:t>
            </a:r>
            <a:r>
              <a:rPr sz="1200" b="0" dirty="0"/>
              <a:t> </a:t>
            </a:r>
            <a:r>
              <a:rPr sz="1200" b="0" dirty="0" err="1"/>
              <a:t>항목입니다</a:t>
            </a:r>
            <a:r>
              <a:rPr sz="1200" b="0" dirty="0"/>
              <a:t>.</a:t>
            </a:r>
          </a:p>
          <a:p>
            <a:pPr>
              <a:spcAft>
                <a:spcPts val="600"/>
              </a:spcAft>
            </a:pPr>
            <a:r>
              <a:rPr sz="1200" b="0" dirty="0"/>
              <a:t>이 </a:t>
            </a:r>
            <a:r>
              <a:rPr sz="1200" b="0" dirty="0" err="1"/>
              <a:t>둘이</a:t>
            </a:r>
            <a:r>
              <a:rPr sz="1200" b="0" dirty="0"/>
              <a:t> 왜 </a:t>
            </a:r>
            <a:r>
              <a:rPr sz="1200" b="0" dirty="0" err="1"/>
              <a:t>같이</a:t>
            </a:r>
            <a:r>
              <a:rPr sz="1200" b="0" dirty="0"/>
              <a:t> </a:t>
            </a:r>
            <a:r>
              <a:rPr sz="1200" b="0" dirty="0" err="1"/>
              <a:t>움직일까요</a:t>
            </a:r>
            <a:r>
              <a:rPr sz="1200" b="0" dirty="0"/>
              <a:t>. </a:t>
            </a:r>
            <a:r>
              <a:rPr sz="1200" b="1" dirty="0" err="1"/>
              <a:t>데이터를</a:t>
            </a:r>
            <a:r>
              <a:rPr sz="1200" b="1" dirty="0"/>
              <a:t> </a:t>
            </a:r>
            <a:r>
              <a:rPr sz="1200" b="1" dirty="0" err="1"/>
              <a:t>경계</a:t>
            </a:r>
            <a:r>
              <a:rPr sz="1200" b="1" dirty="0"/>
              <a:t> </a:t>
            </a:r>
            <a:r>
              <a:rPr sz="1200" b="1" dirty="0" err="1"/>
              <a:t>안에</a:t>
            </a:r>
            <a:r>
              <a:rPr sz="1200" b="1" dirty="0"/>
              <a:t> </a:t>
            </a:r>
            <a:r>
              <a:rPr sz="1200" b="1" dirty="0" err="1"/>
              <a:t>두려고</a:t>
            </a:r>
            <a:r>
              <a:rPr sz="1200" b="0" dirty="0"/>
              <a:t> </a:t>
            </a:r>
            <a:r>
              <a:rPr sz="1200" b="0" dirty="0" err="1"/>
              <a:t>이전을</a:t>
            </a:r>
            <a:r>
              <a:rPr sz="1200" b="0" dirty="0"/>
              <a:t> </a:t>
            </a:r>
            <a:r>
              <a:rPr sz="1200" b="0" dirty="0" err="1"/>
              <a:t>결정하는</a:t>
            </a:r>
            <a:r>
              <a:rPr sz="1200" b="0" dirty="0"/>
              <a:t> </a:t>
            </a:r>
            <a:r>
              <a:rPr sz="1200" b="0" dirty="0" err="1"/>
              <a:t>경우가</a:t>
            </a:r>
            <a:r>
              <a:rPr sz="1200" b="0" dirty="0"/>
              <a:t> </a:t>
            </a:r>
            <a:r>
              <a:rPr sz="1200" b="0" dirty="0" err="1"/>
              <a:t>많습니다</a:t>
            </a:r>
            <a:r>
              <a:rPr sz="1200" b="0" dirty="0"/>
              <a:t>. </a:t>
            </a:r>
            <a:r>
              <a:rPr sz="1200" b="0" dirty="0" err="1"/>
              <a:t>그러면</a:t>
            </a:r>
            <a:r>
              <a:rPr sz="1200" b="0" dirty="0"/>
              <a:t> </a:t>
            </a:r>
            <a:r>
              <a:rPr sz="1200" b="0" dirty="0" err="1"/>
              <a:t>질의가</a:t>
            </a:r>
            <a:r>
              <a:rPr sz="1200" b="0" dirty="0"/>
              <a:t> </a:t>
            </a:r>
            <a:r>
              <a:rPr sz="1200" b="0" dirty="0" err="1"/>
              <a:t>나가는</a:t>
            </a:r>
            <a:r>
              <a:rPr sz="1200" b="0" dirty="0"/>
              <a:t> </a:t>
            </a:r>
            <a:r>
              <a:rPr sz="1200" b="0" dirty="0" err="1"/>
              <a:t>것도</a:t>
            </a:r>
            <a:r>
              <a:rPr sz="1200" b="0" dirty="0"/>
              <a:t> </a:t>
            </a:r>
            <a:r>
              <a:rPr sz="1200" b="0" dirty="0" err="1"/>
              <a:t>막고</a:t>
            </a:r>
            <a:r>
              <a:rPr sz="1200" b="0" dirty="0"/>
              <a:t> </a:t>
            </a:r>
            <a:r>
              <a:rPr sz="1200" b="0" dirty="0" err="1"/>
              <a:t>싶어지니</a:t>
            </a:r>
            <a:r>
              <a:rPr sz="1200" b="0" dirty="0"/>
              <a:t> </a:t>
            </a:r>
            <a:r>
              <a:rPr sz="1200" b="0" dirty="0" err="1"/>
              <a:t>임베딩이</a:t>
            </a:r>
            <a:r>
              <a:rPr sz="1200" b="0" dirty="0"/>
              <a:t> </a:t>
            </a:r>
            <a:r>
              <a:rPr sz="1200" b="0" dirty="0" err="1"/>
              <a:t>따라</a:t>
            </a:r>
            <a:r>
              <a:rPr sz="1200" b="0" dirty="0"/>
              <a:t> </a:t>
            </a:r>
            <a:r>
              <a:rPr sz="1200" b="0" dirty="0" err="1"/>
              <a:t>들어옵니다</a:t>
            </a:r>
            <a:r>
              <a:rPr sz="1200" b="0" dirty="0"/>
              <a:t>. </a:t>
            </a:r>
            <a:r>
              <a:rPr sz="1200" b="0" dirty="0" err="1"/>
              <a:t>그런데</a:t>
            </a:r>
            <a:r>
              <a:rPr sz="1200" b="0" dirty="0"/>
              <a:t> </a:t>
            </a:r>
            <a:r>
              <a:rPr sz="1200" b="1" dirty="0" err="1"/>
              <a:t>안에</a:t>
            </a:r>
            <a:r>
              <a:rPr sz="1200" b="1" dirty="0"/>
              <a:t> </a:t>
            </a:r>
            <a:r>
              <a:rPr sz="1200" b="1" dirty="0" err="1"/>
              <a:t>넣을</a:t>
            </a:r>
            <a:r>
              <a:rPr sz="1200" b="1" dirty="0"/>
              <a:t> 수 </a:t>
            </a:r>
            <a:r>
              <a:rPr sz="1200" b="1" dirty="0" err="1"/>
              <a:t>있는</a:t>
            </a:r>
            <a:r>
              <a:rPr sz="1200" b="1" dirty="0"/>
              <a:t> </a:t>
            </a:r>
            <a:r>
              <a:rPr sz="1200" b="1" dirty="0" err="1"/>
              <a:t>모델은</a:t>
            </a:r>
            <a:r>
              <a:rPr sz="1200" b="1" dirty="0"/>
              <a:t> </a:t>
            </a:r>
            <a:r>
              <a:rPr sz="1200" b="1" dirty="0" err="1"/>
              <a:t>크기</a:t>
            </a:r>
            <a:r>
              <a:rPr sz="1200" b="1" dirty="0"/>
              <a:t> </a:t>
            </a:r>
            <a:r>
              <a:rPr sz="1200" b="1" dirty="0" err="1"/>
              <a:t>제한이</a:t>
            </a:r>
            <a:r>
              <a:rPr sz="1200" b="1" dirty="0"/>
              <a:t> </a:t>
            </a:r>
            <a:r>
              <a:rPr sz="1200" b="1" dirty="0" err="1"/>
              <a:t>있어서</a:t>
            </a:r>
            <a:r>
              <a:rPr sz="1200" b="0" dirty="0"/>
              <a:t>, </a:t>
            </a:r>
            <a:r>
              <a:rPr sz="1200" b="0" dirty="0" err="1"/>
              <a:t>옮기는</a:t>
            </a:r>
            <a:r>
              <a:rPr sz="1200" b="0" dirty="0"/>
              <a:t> </a:t>
            </a:r>
            <a:r>
              <a:rPr sz="1200" b="0" dirty="0" err="1"/>
              <a:t>순간</a:t>
            </a:r>
            <a:r>
              <a:rPr sz="1200" b="0" dirty="0"/>
              <a:t> </a:t>
            </a:r>
            <a:r>
              <a:rPr sz="1200" b="0" dirty="0" err="1"/>
              <a:t>대체로</a:t>
            </a:r>
            <a:r>
              <a:rPr sz="1200" b="0" dirty="0"/>
              <a:t> 더 </a:t>
            </a:r>
            <a:r>
              <a:rPr sz="1200" b="0" dirty="0" err="1"/>
              <a:t>작은</a:t>
            </a:r>
            <a:r>
              <a:rPr sz="1200" b="0" dirty="0"/>
              <a:t> </a:t>
            </a:r>
            <a:r>
              <a:rPr sz="1200" b="0" dirty="0" err="1"/>
              <a:t>모델을</a:t>
            </a:r>
            <a:r>
              <a:rPr sz="1200" b="0" dirty="0"/>
              <a:t> </a:t>
            </a:r>
            <a:r>
              <a:rPr sz="1200" b="0" dirty="0" err="1"/>
              <a:t>쓰게</a:t>
            </a:r>
            <a:r>
              <a:rPr sz="1200" b="0" dirty="0"/>
              <a:t> </a:t>
            </a:r>
            <a:r>
              <a:rPr sz="1200" b="0" dirty="0" err="1"/>
              <a:t>됩니다</a:t>
            </a:r>
            <a:r>
              <a:rPr sz="1200" b="0" dirty="0"/>
              <a:t>.</a:t>
            </a:r>
          </a:p>
          <a:p>
            <a:pPr>
              <a:spcAft>
                <a:spcPts val="600"/>
              </a:spcAft>
            </a:pPr>
            <a:r>
              <a:rPr sz="1200" b="0" dirty="0" err="1"/>
              <a:t>결국</a:t>
            </a:r>
            <a:r>
              <a:rPr sz="1200" b="0" dirty="0"/>
              <a:t> </a:t>
            </a:r>
            <a:r>
              <a:rPr sz="1200" b="0" dirty="0" err="1"/>
              <a:t>앞뒤만</a:t>
            </a:r>
            <a:r>
              <a:rPr sz="1200" b="0" dirty="0"/>
              <a:t> </a:t>
            </a:r>
            <a:r>
              <a:rPr sz="1200" b="0" dirty="0" err="1"/>
              <a:t>비교해서는</a:t>
            </a:r>
            <a:r>
              <a:rPr sz="1200" b="0" dirty="0"/>
              <a:t> </a:t>
            </a:r>
            <a:r>
              <a:rPr sz="1200" b="1" dirty="0" err="1"/>
              <a:t>달라진</a:t>
            </a:r>
            <a:r>
              <a:rPr sz="1200" b="1" dirty="0"/>
              <a:t> </a:t>
            </a:r>
            <a:r>
              <a:rPr sz="1200" b="1" dirty="0" err="1"/>
              <a:t>원인이</a:t>
            </a:r>
            <a:r>
              <a:rPr sz="1200" b="1" dirty="0"/>
              <a:t> </a:t>
            </a:r>
            <a:r>
              <a:rPr sz="1200" b="1" dirty="0" err="1"/>
              <a:t>저장소인지</a:t>
            </a:r>
            <a:r>
              <a:rPr sz="1200" b="1" dirty="0"/>
              <a:t> </a:t>
            </a:r>
            <a:r>
              <a:rPr sz="1200" b="1" dirty="0" err="1"/>
              <a:t>모델인지</a:t>
            </a:r>
            <a:r>
              <a:rPr sz="1200" b="1" dirty="0"/>
              <a:t> </a:t>
            </a:r>
            <a:r>
              <a:rPr sz="1200" b="1" dirty="0" err="1"/>
              <a:t>짚을</a:t>
            </a:r>
            <a:r>
              <a:rPr sz="1200" b="1" dirty="0"/>
              <a:t> </a:t>
            </a:r>
            <a:r>
              <a:rPr sz="1200" b="1" dirty="0" err="1"/>
              <a:t>수가</a:t>
            </a:r>
            <a:r>
              <a:rPr sz="1200" b="1" dirty="0"/>
              <a:t> </a:t>
            </a:r>
            <a:r>
              <a:rPr sz="1200" b="1" dirty="0" err="1"/>
              <a:t>없습니다</a:t>
            </a:r>
            <a:r>
              <a:rPr sz="1200" b="1" dirty="0"/>
              <a:t>.</a:t>
            </a:r>
          </a:p>
          <a:p>
            <a:pPr>
              <a:spcAft>
                <a:spcPts val="0"/>
              </a:spcAft>
            </a:pPr>
            <a:r>
              <a:rPr sz="1100" b="1" dirty="0"/>
              <a:t>→ </a:t>
            </a:r>
            <a:r>
              <a:rPr sz="1100" b="1" dirty="0" err="1"/>
              <a:t>다음</a:t>
            </a:r>
            <a:r>
              <a:rPr sz="1100" b="1" dirty="0"/>
              <a:t>: 5장 Introduction — </a:t>
            </a:r>
            <a:r>
              <a:rPr sz="1100" b="1" dirty="0" err="1"/>
              <a:t>원인을</a:t>
            </a:r>
            <a:r>
              <a:rPr sz="1100" b="1" dirty="0"/>
              <a:t> </a:t>
            </a:r>
            <a:r>
              <a:rPr sz="1100" b="1" dirty="0" err="1"/>
              <a:t>잘못</a:t>
            </a:r>
            <a:r>
              <a:rPr sz="1100" b="1" dirty="0"/>
              <a:t> </a:t>
            </a:r>
            <a:r>
              <a:rPr sz="1100" b="1" dirty="0" err="1"/>
              <a:t>짚으면</a:t>
            </a:r>
            <a:r>
              <a:rPr sz="1100" b="1" dirty="0"/>
              <a:t> (2:50)</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[5/17] 2:50–3:30 · 40초 · Introduction — </a:t>
            </a:r>
            <a:r>
              <a:rPr sz="1200" b="1" dirty="0" err="1"/>
              <a:t>원인을</a:t>
            </a:r>
            <a:r>
              <a:rPr sz="1200" b="1" dirty="0"/>
              <a:t> </a:t>
            </a:r>
            <a:r>
              <a:rPr sz="1200" b="1" dirty="0" err="1"/>
              <a:t>잘못</a:t>
            </a:r>
            <a:r>
              <a:rPr sz="1200" b="1" dirty="0"/>
              <a:t> </a:t>
            </a:r>
            <a:r>
              <a:rPr sz="1200" b="1" dirty="0" err="1"/>
              <a:t>짚으면</a:t>
            </a:r>
            <a:endParaRPr sz="1200" b="1" dirty="0"/>
          </a:p>
          <a:p>
            <a:pPr>
              <a:spcAft>
                <a:spcPts val="600"/>
              </a:spcAft>
            </a:pPr>
            <a:r>
              <a:rPr sz="1200" b="0" dirty="0" err="1"/>
              <a:t>이게</a:t>
            </a:r>
            <a:r>
              <a:rPr sz="1200" b="0" dirty="0"/>
              <a:t> 왜 </a:t>
            </a:r>
            <a:r>
              <a:rPr lang="ko-KR" altLang="en-US" sz="1200" b="0" dirty="0"/>
              <a:t>실재로 적용했을 때</a:t>
            </a:r>
            <a:r>
              <a:rPr sz="1200" b="0" dirty="0"/>
              <a:t> </a:t>
            </a:r>
            <a:r>
              <a:rPr sz="1200" b="0" dirty="0" err="1"/>
              <a:t>문제가</a:t>
            </a:r>
            <a:r>
              <a:rPr sz="1200" b="0" dirty="0"/>
              <a:t> </a:t>
            </a:r>
            <a:r>
              <a:rPr sz="1200" b="0" dirty="0" err="1"/>
              <a:t>되는지</a:t>
            </a:r>
            <a:r>
              <a:rPr sz="1200" b="0" dirty="0"/>
              <a:t> </a:t>
            </a:r>
            <a:r>
              <a:rPr sz="1200" b="0" dirty="0" err="1"/>
              <a:t>말씀드리겠습니다</a:t>
            </a:r>
            <a:r>
              <a:rPr sz="1200" b="0" dirty="0"/>
              <a:t>.</a:t>
            </a:r>
          </a:p>
          <a:p>
            <a:pPr>
              <a:spcAft>
                <a:spcPts val="600"/>
              </a:spcAft>
            </a:pPr>
            <a:r>
              <a:rPr sz="1200" b="0" dirty="0"/>
              <a:t>(</a:t>
            </a:r>
            <a:r>
              <a:rPr sz="1200" b="0" dirty="0" err="1"/>
              <a:t>왼쪽</a:t>
            </a:r>
            <a:r>
              <a:rPr sz="1200" b="0" dirty="0"/>
              <a:t> </a:t>
            </a:r>
            <a:r>
              <a:rPr sz="1200" b="0" dirty="0" err="1"/>
              <a:t>상자</a:t>
            </a:r>
            <a:r>
              <a:rPr sz="1200" b="0" dirty="0"/>
              <a:t>) </a:t>
            </a:r>
            <a:r>
              <a:rPr sz="1200" b="1" dirty="0" err="1"/>
              <a:t>품질이</a:t>
            </a:r>
            <a:r>
              <a:rPr sz="1200" b="1" dirty="0"/>
              <a:t> </a:t>
            </a:r>
            <a:r>
              <a:rPr sz="1200" b="1" dirty="0" err="1"/>
              <a:t>떨어진</a:t>
            </a:r>
            <a:r>
              <a:rPr sz="1200" b="1" dirty="0"/>
              <a:t> </a:t>
            </a:r>
            <a:r>
              <a:rPr sz="1200" b="1" dirty="0" err="1"/>
              <a:t>경우</a:t>
            </a:r>
            <a:r>
              <a:rPr sz="1200" b="0" dirty="0"/>
              <a:t>, </a:t>
            </a:r>
            <a:r>
              <a:rPr sz="1200" b="0" dirty="0" err="1"/>
              <a:t>저장소</a:t>
            </a:r>
            <a:r>
              <a:rPr sz="1200" b="0" dirty="0"/>
              <a:t> </a:t>
            </a:r>
            <a:r>
              <a:rPr sz="1200" b="0" dirty="0" err="1"/>
              <a:t>탓인지</a:t>
            </a:r>
            <a:r>
              <a:rPr sz="1200" b="0" dirty="0"/>
              <a:t> </a:t>
            </a:r>
            <a:r>
              <a:rPr sz="1200" b="0" dirty="0" err="1"/>
              <a:t>모델</a:t>
            </a:r>
            <a:r>
              <a:rPr sz="1200" b="0" dirty="0"/>
              <a:t> </a:t>
            </a:r>
            <a:r>
              <a:rPr sz="1200" b="0" dirty="0" err="1"/>
              <a:t>탓인지</a:t>
            </a:r>
            <a:r>
              <a:rPr sz="1200" b="0" dirty="0"/>
              <a:t> 알 </a:t>
            </a:r>
            <a:r>
              <a:rPr sz="1200" b="0" dirty="0" err="1"/>
              <a:t>수가</a:t>
            </a:r>
            <a:r>
              <a:rPr sz="1200" b="0" dirty="0"/>
              <a:t> </a:t>
            </a:r>
            <a:r>
              <a:rPr sz="1200" b="0" dirty="0" err="1"/>
              <a:t>없습니다</a:t>
            </a:r>
            <a:r>
              <a:rPr sz="1200" b="0" dirty="0"/>
              <a:t>.</a:t>
            </a:r>
          </a:p>
          <a:p>
            <a:pPr>
              <a:spcAft>
                <a:spcPts val="600"/>
              </a:spcAft>
            </a:pPr>
            <a:r>
              <a:rPr sz="1200" b="0" dirty="0"/>
              <a:t>(</a:t>
            </a:r>
            <a:r>
              <a:rPr sz="1200" b="0" dirty="0" err="1"/>
              <a:t>오른쪽</a:t>
            </a:r>
            <a:r>
              <a:rPr sz="1200" b="0" dirty="0"/>
              <a:t> </a:t>
            </a:r>
            <a:r>
              <a:rPr sz="1200" b="0" dirty="0" err="1"/>
              <a:t>상자</a:t>
            </a:r>
            <a:r>
              <a:rPr sz="1200" b="0" dirty="0"/>
              <a:t>) </a:t>
            </a:r>
            <a:r>
              <a:rPr sz="1200" b="1" dirty="0" err="1"/>
              <a:t>아무</a:t>
            </a:r>
            <a:r>
              <a:rPr sz="1200" b="1" dirty="0"/>
              <a:t> </a:t>
            </a:r>
            <a:r>
              <a:rPr sz="1200" b="1" dirty="0" err="1"/>
              <a:t>변화가</a:t>
            </a:r>
            <a:r>
              <a:rPr sz="1200" b="1" dirty="0"/>
              <a:t> </a:t>
            </a:r>
            <a:r>
              <a:rPr sz="1200" b="1" dirty="0" err="1"/>
              <a:t>없는</a:t>
            </a:r>
            <a:r>
              <a:rPr sz="1200" b="1" dirty="0"/>
              <a:t> </a:t>
            </a:r>
            <a:r>
              <a:rPr sz="1200" b="1" dirty="0" err="1"/>
              <a:t>경우</a:t>
            </a:r>
            <a:r>
              <a:rPr sz="1200" b="0" dirty="0" err="1"/>
              <a:t>도</a:t>
            </a:r>
            <a:r>
              <a:rPr sz="1200" b="0" dirty="0"/>
              <a:t> </a:t>
            </a:r>
            <a:r>
              <a:rPr sz="1200" b="0" dirty="0" err="1"/>
              <a:t>마찬가지입니다</a:t>
            </a:r>
            <a:r>
              <a:rPr sz="1200" b="0" dirty="0"/>
              <a:t>. </a:t>
            </a:r>
            <a:r>
              <a:rPr sz="1200" b="0" dirty="0" err="1"/>
              <a:t>정말</a:t>
            </a:r>
            <a:r>
              <a:rPr sz="1200" b="0" dirty="0"/>
              <a:t> </a:t>
            </a:r>
            <a:r>
              <a:rPr sz="1200" b="0" dirty="0" err="1"/>
              <a:t>영향이</a:t>
            </a:r>
            <a:r>
              <a:rPr sz="1200" b="0" dirty="0"/>
              <a:t> </a:t>
            </a:r>
            <a:r>
              <a:rPr sz="1200" b="0" dirty="0" err="1"/>
              <a:t>없었던</a:t>
            </a:r>
            <a:r>
              <a:rPr sz="1200" b="0" dirty="0"/>
              <a:t> </a:t>
            </a:r>
            <a:r>
              <a:rPr sz="1200" b="0" dirty="0" err="1"/>
              <a:t>것인지</a:t>
            </a:r>
            <a:r>
              <a:rPr sz="1200" b="0" dirty="0"/>
              <a:t>, </a:t>
            </a:r>
            <a:r>
              <a:rPr sz="1200" b="0" dirty="0" err="1"/>
              <a:t>한쪽이</a:t>
            </a:r>
            <a:r>
              <a:rPr sz="1200" b="0" dirty="0"/>
              <a:t> </a:t>
            </a:r>
            <a:r>
              <a:rPr sz="1200" b="0" dirty="0" err="1"/>
              <a:t>올리고</a:t>
            </a:r>
            <a:r>
              <a:rPr sz="1200" b="0" dirty="0"/>
              <a:t> </a:t>
            </a:r>
            <a:r>
              <a:rPr sz="1200" b="0" dirty="0" err="1"/>
              <a:t>한쪽이</a:t>
            </a:r>
            <a:r>
              <a:rPr sz="1200" b="0" dirty="0"/>
              <a:t> </a:t>
            </a:r>
            <a:r>
              <a:rPr sz="1200" b="0" dirty="0" err="1"/>
              <a:t>내려</a:t>
            </a:r>
            <a:r>
              <a:rPr sz="1200" b="0" dirty="0"/>
              <a:t> </a:t>
            </a:r>
            <a:r>
              <a:rPr sz="1200" b="0" dirty="0" err="1"/>
              <a:t>상쇄된</a:t>
            </a:r>
            <a:r>
              <a:rPr sz="1200" b="0" dirty="0"/>
              <a:t> </a:t>
            </a:r>
            <a:r>
              <a:rPr sz="1200" b="0" dirty="0" err="1"/>
              <a:t>것인지</a:t>
            </a:r>
            <a:r>
              <a:rPr sz="1200" b="0" dirty="0"/>
              <a:t> </a:t>
            </a:r>
            <a:r>
              <a:rPr sz="1200" b="0" dirty="0" err="1"/>
              <a:t>구분이</a:t>
            </a:r>
            <a:r>
              <a:rPr sz="1200" b="0" dirty="0"/>
              <a:t> 안 </a:t>
            </a:r>
            <a:r>
              <a:rPr sz="1200" b="0" dirty="0" err="1"/>
              <a:t>됩니다</a:t>
            </a:r>
            <a:r>
              <a:rPr sz="1200" b="0" dirty="0"/>
              <a:t>.</a:t>
            </a:r>
          </a:p>
          <a:p>
            <a:pPr>
              <a:spcAft>
                <a:spcPts val="600"/>
              </a:spcAft>
            </a:pPr>
            <a:r>
              <a:rPr sz="1200" b="1" dirty="0"/>
              <a:t>두 </a:t>
            </a:r>
            <a:r>
              <a:rPr sz="1200" b="1" dirty="0" err="1"/>
              <a:t>경우</a:t>
            </a:r>
            <a:r>
              <a:rPr sz="1200" b="1" dirty="0"/>
              <a:t> </a:t>
            </a:r>
            <a:r>
              <a:rPr sz="1200" b="1" dirty="0" err="1"/>
              <a:t>모두</a:t>
            </a:r>
            <a:r>
              <a:rPr sz="1200" b="1" dirty="0"/>
              <a:t> "</a:t>
            </a:r>
            <a:r>
              <a:rPr lang="ko-KR" altLang="en-US" sz="1200" b="1" dirty="0"/>
              <a:t>모르겠다</a:t>
            </a:r>
            <a:r>
              <a:rPr sz="1200" b="1" dirty="0"/>
              <a:t>＂</a:t>
            </a:r>
            <a:r>
              <a:rPr lang="ko-KR" altLang="en-US" sz="1200" b="1" dirty="0"/>
              <a:t>라</a:t>
            </a:r>
            <a:r>
              <a:rPr sz="1200" b="1" dirty="0"/>
              <a:t>는 </a:t>
            </a:r>
            <a:r>
              <a:rPr sz="1200" b="1" dirty="0" err="1"/>
              <a:t>결론에</a:t>
            </a:r>
            <a:r>
              <a:rPr sz="1200" b="1" dirty="0"/>
              <a:t> </a:t>
            </a:r>
            <a:r>
              <a:rPr sz="1200" b="1" dirty="0" err="1"/>
              <a:t>도달합니다</a:t>
            </a:r>
            <a:r>
              <a:rPr sz="1200" b="1" dirty="0"/>
              <a:t>.</a:t>
            </a:r>
          </a:p>
          <a:p>
            <a:pPr>
              <a:spcAft>
                <a:spcPts val="600"/>
              </a:spcAft>
            </a:pPr>
            <a:r>
              <a:rPr sz="1200" b="0" dirty="0" err="1"/>
              <a:t>그러면</a:t>
            </a:r>
            <a:r>
              <a:rPr sz="1200" b="0" dirty="0"/>
              <a:t> </a:t>
            </a:r>
            <a:r>
              <a:rPr lang="ko-KR" altLang="en-US" sz="1200" b="0" dirty="0"/>
              <a:t>성능 </a:t>
            </a:r>
            <a:r>
              <a:rPr lang="ko-KR" altLang="en-US" sz="1200" b="0" dirty="0" err="1"/>
              <a:t>저하시</a:t>
            </a:r>
            <a:r>
              <a:rPr lang="ko-KR" altLang="en-US" sz="1200" b="0" dirty="0"/>
              <a:t> </a:t>
            </a:r>
            <a:r>
              <a:rPr sz="1200" b="0" dirty="0" err="1"/>
              <a:t>처방이</a:t>
            </a:r>
            <a:r>
              <a:rPr sz="1200" b="0" dirty="0"/>
              <a:t> </a:t>
            </a:r>
            <a:r>
              <a:rPr sz="1200" b="0" dirty="0" err="1"/>
              <a:t>어긋납니다</a:t>
            </a:r>
            <a:r>
              <a:rPr sz="1200" b="0" dirty="0"/>
              <a:t>. </a:t>
            </a:r>
            <a:r>
              <a:rPr sz="1200" b="0" dirty="0" err="1"/>
              <a:t>저장소를</a:t>
            </a:r>
            <a:r>
              <a:rPr sz="1200" b="0" dirty="0"/>
              <a:t> </a:t>
            </a:r>
            <a:r>
              <a:rPr sz="1200" b="0" dirty="0" err="1"/>
              <a:t>범인으로</a:t>
            </a:r>
            <a:r>
              <a:rPr sz="1200" b="0" dirty="0"/>
              <a:t> </a:t>
            </a:r>
            <a:r>
              <a:rPr sz="1200" b="0" dirty="0" err="1"/>
              <a:t>지목하고</a:t>
            </a:r>
            <a:r>
              <a:rPr sz="1200" b="0" dirty="0"/>
              <a:t> </a:t>
            </a:r>
            <a:r>
              <a:rPr sz="1200" b="0" dirty="0" err="1"/>
              <a:t>되돌려</a:t>
            </a:r>
            <a:r>
              <a:rPr sz="1200" b="0" dirty="0"/>
              <a:t> </a:t>
            </a:r>
            <a:r>
              <a:rPr sz="1200" b="0" dirty="0" err="1"/>
              <a:t>놓아도</a:t>
            </a:r>
            <a:r>
              <a:rPr sz="1200" b="0" dirty="0"/>
              <a:t> </a:t>
            </a:r>
            <a:r>
              <a:rPr sz="1200" b="1" dirty="0" err="1"/>
              <a:t>품질은</a:t>
            </a:r>
            <a:r>
              <a:rPr sz="1200" b="1" dirty="0"/>
              <a:t> </a:t>
            </a:r>
            <a:r>
              <a:rPr sz="1200" b="1" dirty="0" err="1"/>
              <a:t>돌아오지</a:t>
            </a:r>
            <a:r>
              <a:rPr sz="1200" b="1" dirty="0"/>
              <a:t> </a:t>
            </a:r>
            <a:r>
              <a:rPr sz="1200" b="1" dirty="0" err="1"/>
              <a:t>않습니다</a:t>
            </a:r>
            <a:r>
              <a:rPr sz="1200" b="1" dirty="0"/>
              <a:t>.</a:t>
            </a:r>
            <a:endParaRPr lang="en-US" sz="1200" b="1" dirty="0"/>
          </a:p>
          <a:p>
            <a:pPr>
              <a:spcAft>
                <a:spcPts val="600"/>
              </a:spcAft>
            </a:pPr>
            <a:r>
              <a:rPr lang="ko-KR" altLang="en-US" sz="1200" b="1" dirty="0"/>
              <a:t>왜냐하면 </a:t>
            </a:r>
            <a:r>
              <a:rPr lang="ko-KR" altLang="en-US" sz="1200" b="1" dirty="0" err="1"/>
              <a:t>임베딩</a:t>
            </a:r>
            <a:r>
              <a:rPr lang="ko-KR" altLang="en-US" sz="1200" b="1" dirty="0"/>
              <a:t> 모델의 검색 </a:t>
            </a:r>
            <a:r>
              <a:rPr lang="ko-KR" altLang="en-US" sz="1200" b="1" dirty="0" err="1"/>
              <a:t>플레이스</a:t>
            </a:r>
            <a:r>
              <a:rPr lang="ko-KR" altLang="en-US" sz="1200" b="1" dirty="0"/>
              <a:t> 자체가 바뀌었기 때문입니다</a:t>
            </a:r>
            <a:r>
              <a:rPr lang="en-US" altLang="ko-KR" sz="1200" b="1" dirty="0"/>
              <a:t>.</a:t>
            </a:r>
            <a:endParaRPr sz="1200" b="1" dirty="0"/>
          </a:p>
          <a:p>
            <a:pPr>
              <a:spcAft>
                <a:spcPts val="0"/>
              </a:spcAft>
            </a:pPr>
            <a:r>
              <a:rPr sz="1100" b="1" dirty="0"/>
              <a:t>→ </a:t>
            </a:r>
            <a:r>
              <a:rPr sz="1100" b="1" dirty="0" err="1"/>
              <a:t>다음</a:t>
            </a:r>
            <a:r>
              <a:rPr sz="1100" b="1" dirty="0"/>
              <a:t>: 6장 Proposed Method — </a:t>
            </a:r>
            <a:r>
              <a:rPr sz="1100" b="1" dirty="0" err="1"/>
              <a:t>중간</a:t>
            </a:r>
            <a:r>
              <a:rPr sz="1100" b="1" dirty="0"/>
              <a:t> </a:t>
            </a:r>
            <a:r>
              <a:rPr sz="1100" b="1" dirty="0" err="1"/>
              <a:t>조건</a:t>
            </a:r>
            <a:r>
              <a:rPr sz="1100" b="1" dirty="0"/>
              <a:t> ★★ (3:30)</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[6/17] 3:30–4:55 · 85초 · Proposed Method — </a:t>
            </a:r>
            <a:r>
              <a:rPr sz="1200" b="1" dirty="0" err="1"/>
              <a:t>중간</a:t>
            </a:r>
            <a:r>
              <a:rPr sz="1200" b="1" dirty="0"/>
              <a:t> </a:t>
            </a:r>
            <a:r>
              <a:rPr sz="1200" b="1" dirty="0" err="1"/>
              <a:t>조건</a:t>
            </a:r>
            <a:r>
              <a:rPr sz="1200" b="1" dirty="0"/>
              <a:t> ★★</a:t>
            </a:r>
          </a:p>
          <a:p>
            <a:pPr>
              <a:spcAft>
                <a:spcPts val="600"/>
              </a:spcAft>
            </a:pPr>
            <a:r>
              <a:rPr sz="1200" b="0" dirty="0" err="1"/>
              <a:t>그래서</a:t>
            </a:r>
            <a:r>
              <a:rPr sz="1200" b="0" dirty="0"/>
              <a:t> </a:t>
            </a:r>
            <a:r>
              <a:rPr sz="1200" b="0" dirty="0" err="1"/>
              <a:t>저희가</a:t>
            </a:r>
            <a:r>
              <a:rPr sz="1200" b="0" dirty="0"/>
              <a:t> </a:t>
            </a:r>
            <a:r>
              <a:rPr sz="1200" b="0" dirty="0" err="1"/>
              <a:t>제안드리는</a:t>
            </a:r>
            <a:r>
              <a:rPr sz="1200" b="0" dirty="0"/>
              <a:t> </a:t>
            </a:r>
            <a:r>
              <a:rPr sz="1200" b="0" dirty="0" err="1"/>
              <a:t>것이</a:t>
            </a:r>
            <a:r>
              <a:rPr sz="1200" b="0" dirty="0"/>
              <a:t> </a:t>
            </a:r>
            <a:r>
              <a:rPr lang="ko-KR" altLang="en-US" sz="1200" b="1" dirty="0"/>
              <a:t>교량조건입니다</a:t>
            </a:r>
            <a:r>
              <a:rPr lang="en-US" altLang="ko-KR" sz="1200" b="1" dirty="0"/>
              <a:t>. </a:t>
            </a:r>
          </a:p>
          <a:p>
            <a:pPr>
              <a:spcAft>
                <a:spcPts val="600"/>
              </a:spcAft>
            </a:pPr>
            <a:r>
              <a:rPr sz="1200" b="0" dirty="0" err="1"/>
              <a:t>생각</a:t>
            </a:r>
            <a:r>
              <a:rPr sz="1200" b="0" dirty="0"/>
              <a:t> </a:t>
            </a:r>
            <a:r>
              <a:rPr sz="1200" b="0" dirty="0" err="1"/>
              <a:t>자체는</a:t>
            </a:r>
            <a:r>
              <a:rPr sz="1200" b="0" dirty="0"/>
              <a:t> </a:t>
            </a:r>
            <a:r>
              <a:rPr sz="1200" b="0" dirty="0" err="1"/>
              <a:t>단순합니다</a:t>
            </a:r>
            <a:r>
              <a:rPr sz="1200" b="0" dirty="0"/>
              <a:t>. </a:t>
            </a:r>
            <a:r>
              <a:rPr sz="1200" b="1" dirty="0" err="1"/>
              <a:t>A에서</a:t>
            </a:r>
            <a:r>
              <a:rPr sz="1200" b="1" dirty="0"/>
              <a:t> </a:t>
            </a:r>
            <a:r>
              <a:rPr sz="1200" b="1" dirty="0" err="1"/>
              <a:t>C로</a:t>
            </a:r>
            <a:r>
              <a:rPr sz="1200" b="1" dirty="0"/>
              <a:t> 한 </a:t>
            </a:r>
            <a:r>
              <a:rPr sz="1200" b="1" dirty="0" err="1"/>
              <a:t>번에</a:t>
            </a:r>
            <a:r>
              <a:rPr sz="1200" b="1" dirty="0"/>
              <a:t> </a:t>
            </a:r>
            <a:r>
              <a:rPr sz="1200" b="1" dirty="0" err="1"/>
              <a:t>건너뛰지</a:t>
            </a:r>
            <a:r>
              <a:rPr sz="1200" b="1" dirty="0"/>
              <a:t> </a:t>
            </a:r>
            <a:r>
              <a:rPr sz="1200" b="1" dirty="0" err="1"/>
              <a:t>말고</a:t>
            </a:r>
            <a:r>
              <a:rPr sz="1200" b="1" dirty="0"/>
              <a:t>, </a:t>
            </a:r>
            <a:r>
              <a:rPr sz="1200" b="1" dirty="0" err="1"/>
              <a:t>중간에</a:t>
            </a:r>
            <a:r>
              <a:rPr sz="1200" b="1" dirty="0"/>
              <a:t> </a:t>
            </a:r>
            <a:r>
              <a:rPr sz="1200" b="1" dirty="0" err="1"/>
              <a:t>B라는</a:t>
            </a:r>
            <a:r>
              <a:rPr sz="1200" b="1" dirty="0"/>
              <a:t> </a:t>
            </a:r>
            <a:r>
              <a:rPr sz="1200" b="1" dirty="0" err="1"/>
              <a:t>정거장을</a:t>
            </a:r>
            <a:r>
              <a:rPr sz="1200" b="1" dirty="0"/>
              <a:t> </a:t>
            </a:r>
            <a:r>
              <a:rPr sz="1200" b="1" dirty="0" err="1"/>
              <a:t>하나</a:t>
            </a:r>
            <a:r>
              <a:rPr sz="1200" b="1" dirty="0"/>
              <a:t> </a:t>
            </a:r>
            <a:r>
              <a:rPr sz="1200" b="1" dirty="0" err="1"/>
              <a:t>만드는</a:t>
            </a:r>
            <a:r>
              <a:rPr sz="1200" b="1" dirty="0"/>
              <a:t> </a:t>
            </a:r>
            <a:r>
              <a:rPr sz="1200" b="1" dirty="0" err="1"/>
              <a:t>것</a:t>
            </a:r>
            <a:r>
              <a:rPr sz="1200" b="0" dirty="0" err="1"/>
              <a:t>입니다</a:t>
            </a:r>
            <a:r>
              <a:rPr sz="1200" b="0" dirty="0"/>
              <a:t>.</a:t>
            </a:r>
          </a:p>
          <a:p>
            <a:pPr>
              <a:spcAft>
                <a:spcPts val="600"/>
              </a:spcAft>
            </a:pPr>
            <a:r>
              <a:rPr sz="1200" b="0" dirty="0" err="1"/>
              <a:t>만드는</a:t>
            </a:r>
            <a:r>
              <a:rPr sz="1200" b="0" dirty="0"/>
              <a:t> </a:t>
            </a:r>
            <a:r>
              <a:rPr sz="1200" b="0" dirty="0" err="1"/>
              <a:t>방법도</a:t>
            </a:r>
            <a:r>
              <a:rPr sz="1200" b="0" dirty="0"/>
              <a:t> </a:t>
            </a:r>
            <a:r>
              <a:rPr sz="1200" b="0" dirty="0" err="1"/>
              <a:t>간단합니다</a:t>
            </a:r>
            <a:r>
              <a:rPr sz="1200" b="0" dirty="0"/>
              <a:t>. </a:t>
            </a:r>
            <a:r>
              <a:rPr sz="1200" b="1" dirty="0" err="1"/>
              <a:t>지금</a:t>
            </a:r>
            <a:r>
              <a:rPr sz="1200" b="1" dirty="0"/>
              <a:t> </a:t>
            </a:r>
            <a:r>
              <a:rPr sz="1200" b="1" dirty="0" err="1"/>
              <a:t>쓰는</a:t>
            </a:r>
            <a:r>
              <a:rPr sz="1200" b="1" dirty="0"/>
              <a:t> </a:t>
            </a:r>
            <a:r>
              <a:rPr sz="1200" b="1" dirty="0" err="1"/>
              <a:t>시스템이</a:t>
            </a:r>
            <a:r>
              <a:rPr sz="1200" b="1" dirty="0"/>
              <a:t> </a:t>
            </a:r>
            <a:r>
              <a:rPr sz="1200" b="1" dirty="0" err="1"/>
              <a:t>이미</a:t>
            </a:r>
            <a:r>
              <a:rPr sz="1200" b="1" dirty="0"/>
              <a:t> </a:t>
            </a:r>
            <a:r>
              <a:rPr sz="1200" b="1" dirty="0" err="1"/>
              <a:t>만들어</a:t>
            </a:r>
            <a:r>
              <a:rPr sz="1200" b="1" dirty="0"/>
              <a:t> 둔 </a:t>
            </a:r>
            <a:r>
              <a:rPr sz="1200" b="1" dirty="0" err="1"/>
              <a:t>벡터를</a:t>
            </a:r>
            <a:r>
              <a:rPr sz="1200" b="1" dirty="0"/>
              <a:t> </a:t>
            </a:r>
            <a:r>
              <a:rPr sz="1200" b="1" dirty="0" err="1"/>
              <a:t>그대로</a:t>
            </a:r>
            <a:r>
              <a:rPr sz="1200" b="1" dirty="0"/>
              <a:t> 새 </a:t>
            </a:r>
            <a:r>
              <a:rPr sz="1200" b="1" dirty="0" err="1"/>
              <a:t>저장소에</a:t>
            </a:r>
            <a:r>
              <a:rPr sz="1200" b="1" dirty="0"/>
              <a:t> </a:t>
            </a:r>
            <a:r>
              <a:rPr sz="1200" b="1" dirty="0" err="1"/>
              <a:t>실어</a:t>
            </a:r>
            <a:r>
              <a:rPr sz="1200" b="1" dirty="0"/>
              <a:t> </a:t>
            </a:r>
            <a:r>
              <a:rPr sz="1200" b="1" dirty="0" err="1"/>
              <a:t>올립니다</a:t>
            </a:r>
            <a:r>
              <a:rPr sz="1200" b="1" dirty="0"/>
              <a:t>.</a:t>
            </a:r>
            <a:r>
              <a:rPr sz="1200" b="0" dirty="0"/>
              <a:t> </a:t>
            </a:r>
            <a:r>
              <a:rPr sz="1200" b="0" dirty="0" err="1"/>
              <a:t>화면</a:t>
            </a:r>
            <a:r>
              <a:rPr sz="1200" b="0" dirty="0"/>
              <a:t> </a:t>
            </a:r>
            <a:r>
              <a:rPr sz="1200" b="0" dirty="0" err="1"/>
              <a:t>가운데</a:t>
            </a:r>
            <a:r>
              <a:rPr sz="1200" b="0" dirty="0"/>
              <a:t> </a:t>
            </a:r>
            <a:r>
              <a:rPr sz="1200" b="0" dirty="0" err="1"/>
              <a:t>조건</a:t>
            </a:r>
            <a:r>
              <a:rPr sz="1200" b="0" dirty="0"/>
              <a:t> </a:t>
            </a:r>
            <a:r>
              <a:rPr sz="1200" b="0" dirty="0" err="1"/>
              <a:t>B가</a:t>
            </a:r>
            <a:r>
              <a:rPr sz="1200" b="0" dirty="0"/>
              <a:t> </a:t>
            </a:r>
            <a:r>
              <a:rPr sz="1200" b="0" dirty="0" err="1"/>
              <a:t>그것입니다</a:t>
            </a:r>
            <a:r>
              <a:rPr sz="1200" b="0" dirty="0"/>
              <a:t>.</a:t>
            </a:r>
          </a:p>
          <a:p>
            <a:pPr>
              <a:spcAft>
                <a:spcPts val="600"/>
              </a:spcAft>
            </a:pPr>
            <a:r>
              <a:rPr sz="1200" b="0" dirty="0" err="1"/>
              <a:t>그러면</a:t>
            </a:r>
            <a:r>
              <a:rPr sz="1200" b="0" dirty="0"/>
              <a:t> </a:t>
            </a:r>
            <a:r>
              <a:rPr sz="1200" b="0" dirty="0" err="1"/>
              <a:t>조건</a:t>
            </a:r>
            <a:r>
              <a:rPr sz="1200" b="0" dirty="0"/>
              <a:t> </a:t>
            </a:r>
            <a:r>
              <a:rPr sz="1200" b="0" dirty="0" err="1"/>
              <a:t>B는</a:t>
            </a:r>
            <a:r>
              <a:rPr sz="1200" b="0" dirty="0"/>
              <a:t> </a:t>
            </a:r>
            <a:r>
              <a:rPr sz="1200" b="1" dirty="0" err="1"/>
              <a:t>저장소만</a:t>
            </a:r>
            <a:r>
              <a:rPr sz="1200" b="1" dirty="0"/>
              <a:t> </a:t>
            </a:r>
            <a:r>
              <a:rPr sz="1200" b="1" dirty="0" err="1"/>
              <a:t>새것이고</a:t>
            </a:r>
            <a:r>
              <a:rPr sz="1200" b="1" dirty="0"/>
              <a:t>, </a:t>
            </a:r>
            <a:r>
              <a:rPr sz="1200" b="1" dirty="0" err="1"/>
              <a:t>임베딩</a:t>
            </a:r>
            <a:r>
              <a:rPr sz="1200" b="1" dirty="0"/>
              <a:t> </a:t>
            </a:r>
            <a:r>
              <a:rPr sz="1200" b="1" dirty="0" err="1"/>
              <a:t>모델과</a:t>
            </a:r>
            <a:r>
              <a:rPr sz="1200" b="1" dirty="0"/>
              <a:t> </a:t>
            </a:r>
            <a:r>
              <a:rPr sz="1200" b="1" dirty="0" err="1"/>
              <a:t>위치는</a:t>
            </a:r>
            <a:r>
              <a:rPr sz="1200" b="1" dirty="0"/>
              <a:t> </a:t>
            </a:r>
            <a:r>
              <a:rPr sz="1200" b="1" dirty="0" err="1"/>
              <a:t>원래</a:t>
            </a:r>
            <a:r>
              <a:rPr sz="1200" b="1" dirty="0"/>
              <a:t> </a:t>
            </a:r>
            <a:r>
              <a:rPr sz="1200" b="1" dirty="0" err="1"/>
              <a:t>그대로</a:t>
            </a:r>
            <a:r>
              <a:rPr sz="1200" b="0" dirty="0" err="1"/>
              <a:t>인</a:t>
            </a:r>
            <a:r>
              <a:rPr sz="1200" b="0" dirty="0"/>
              <a:t> </a:t>
            </a:r>
            <a:r>
              <a:rPr sz="1200" b="0" dirty="0" err="1"/>
              <a:t>상태가</a:t>
            </a:r>
            <a:r>
              <a:rPr sz="1200" b="0" dirty="0"/>
              <a:t> </a:t>
            </a:r>
            <a:r>
              <a:rPr sz="1200" b="0" dirty="0" err="1"/>
              <a:t>됩니다</a:t>
            </a:r>
            <a:r>
              <a:rPr sz="1200" b="0" dirty="0"/>
              <a:t>.</a:t>
            </a:r>
          </a:p>
          <a:p>
            <a:pPr>
              <a:spcAft>
                <a:spcPts val="600"/>
              </a:spcAft>
            </a:pPr>
            <a:r>
              <a:rPr sz="1200" b="0" dirty="0"/>
              <a:t>그 </a:t>
            </a:r>
            <a:r>
              <a:rPr sz="1200" b="0" dirty="0" err="1"/>
              <a:t>결과</a:t>
            </a:r>
            <a:r>
              <a:rPr sz="1200" b="0" dirty="0"/>
              <a:t> (</a:t>
            </a:r>
            <a:r>
              <a:rPr sz="1200" b="0" dirty="0" err="1"/>
              <a:t>왼쪽</a:t>
            </a:r>
            <a:r>
              <a:rPr sz="1200" b="0" dirty="0"/>
              <a:t> </a:t>
            </a:r>
            <a:r>
              <a:rPr sz="1200" b="0" dirty="0" err="1"/>
              <a:t>화살표</a:t>
            </a:r>
            <a:r>
              <a:rPr sz="1200" b="0" dirty="0"/>
              <a:t>) </a:t>
            </a:r>
            <a:r>
              <a:rPr sz="1200" b="1" dirty="0" err="1"/>
              <a:t>A에서</a:t>
            </a:r>
            <a:r>
              <a:rPr sz="1200" b="1" dirty="0"/>
              <a:t> </a:t>
            </a:r>
            <a:r>
              <a:rPr sz="1200" b="1" dirty="0" err="1"/>
              <a:t>B로</a:t>
            </a:r>
            <a:r>
              <a:rPr sz="1200" b="1" dirty="0"/>
              <a:t> 갈 </a:t>
            </a:r>
            <a:r>
              <a:rPr sz="1200" b="1" dirty="0" err="1"/>
              <a:t>때는</a:t>
            </a:r>
            <a:r>
              <a:rPr sz="1200" b="1" dirty="0"/>
              <a:t> </a:t>
            </a:r>
            <a:r>
              <a:rPr sz="1200" b="1" dirty="0" err="1"/>
              <a:t>저장소만</a:t>
            </a:r>
            <a:r>
              <a:rPr sz="1200" b="1" dirty="0"/>
              <a:t> </a:t>
            </a:r>
            <a:r>
              <a:rPr sz="1200" b="1" dirty="0" err="1"/>
              <a:t>달라지고</a:t>
            </a:r>
            <a:r>
              <a:rPr sz="1200" b="0" dirty="0"/>
              <a:t>, (</a:t>
            </a:r>
            <a:r>
              <a:rPr sz="1200" b="0" dirty="0" err="1"/>
              <a:t>오른쪽</a:t>
            </a:r>
            <a:r>
              <a:rPr sz="1200" b="0" dirty="0"/>
              <a:t> </a:t>
            </a:r>
            <a:r>
              <a:rPr sz="1200" b="0" dirty="0" err="1"/>
              <a:t>화살표</a:t>
            </a:r>
            <a:r>
              <a:rPr sz="1200" b="0" dirty="0"/>
              <a:t>) </a:t>
            </a:r>
            <a:r>
              <a:rPr sz="1200" b="1" dirty="0" err="1"/>
              <a:t>B에서</a:t>
            </a:r>
            <a:r>
              <a:rPr sz="1200" b="1" dirty="0"/>
              <a:t> </a:t>
            </a:r>
            <a:r>
              <a:rPr sz="1200" b="1" dirty="0" err="1"/>
              <a:t>C로</a:t>
            </a:r>
            <a:r>
              <a:rPr sz="1200" b="1" dirty="0"/>
              <a:t> 갈 </a:t>
            </a:r>
            <a:r>
              <a:rPr sz="1200" b="1" dirty="0" err="1"/>
              <a:t>때는</a:t>
            </a:r>
            <a:r>
              <a:rPr sz="1200" b="1" dirty="0"/>
              <a:t> </a:t>
            </a:r>
            <a:r>
              <a:rPr sz="1200" b="1" dirty="0" err="1"/>
              <a:t>임베딩</a:t>
            </a:r>
            <a:r>
              <a:rPr sz="1200" b="1" dirty="0"/>
              <a:t> </a:t>
            </a:r>
            <a:r>
              <a:rPr sz="1200" b="1" dirty="0" err="1"/>
              <a:t>위치만</a:t>
            </a:r>
            <a:r>
              <a:rPr sz="1200" b="1" dirty="0"/>
              <a:t> </a:t>
            </a:r>
            <a:r>
              <a:rPr sz="1200" b="1" dirty="0" err="1"/>
              <a:t>달라집니다</a:t>
            </a:r>
            <a:r>
              <a:rPr sz="1200" b="1" dirty="0"/>
              <a:t>.</a:t>
            </a:r>
            <a:r>
              <a:rPr sz="1200" b="0" dirty="0"/>
              <a:t> 한 </a:t>
            </a:r>
            <a:r>
              <a:rPr sz="1200" b="0" dirty="0" err="1"/>
              <a:t>번에</a:t>
            </a:r>
            <a:r>
              <a:rPr sz="1200" b="0" dirty="0"/>
              <a:t> </a:t>
            </a:r>
            <a:r>
              <a:rPr sz="1200" b="0" dirty="0" err="1"/>
              <a:t>하나씩만</a:t>
            </a:r>
            <a:r>
              <a:rPr sz="1200" b="0" dirty="0"/>
              <a:t> </a:t>
            </a:r>
            <a:r>
              <a:rPr sz="1200" b="0" dirty="0" err="1"/>
              <a:t>보게</a:t>
            </a:r>
            <a:r>
              <a:rPr sz="1200" b="0" dirty="0"/>
              <a:t> </a:t>
            </a:r>
            <a:r>
              <a:rPr sz="1200" b="0" dirty="0" err="1"/>
              <a:t>되는</a:t>
            </a:r>
            <a:r>
              <a:rPr sz="1200" b="0" dirty="0"/>
              <a:t> </a:t>
            </a:r>
            <a:r>
              <a:rPr sz="1200" b="0" dirty="0" err="1"/>
              <a:t>것입니다</a:t>
            </a:r>
            <a:r>
              <a:rPr sz="1200" b="0" dirty="0"/>
              <a:t>.</a:t>
            </a:r>
          </a:p>
          <a:p>
            <a:pPr>
              <a:spcAft>
                <a:spcPts val="600"/>
              </a:spcAft>
            </a:pPr>
            <a:r>
              <a:rPr sz="1200" b="0" dirty="0"/>
              <a:t>(</a:t>
            </a:r>
            <a:r>
              <a:rPr sz="1200" b="0" dirty="0" err="1"/>
              <a:t>화살표</a:t>
            </a:r>
            <a:r>
              <a:rPr sz="1200" b="0" dirty="0"/>
              <a:t> 위 </a:t>
            </a:r>
            <a:r>
              <a:rPr sz="1200" b="0" dirty="0" err="1"/>
              <a:t>숫자를</a:t>
            </a:r>
            <a:r>
              <a:rPr sz="1200" b="0" dirty="0"/>
              <a:t> </a:t>
            </a:r>
            <a:r>
              <a:rPr sz="1200" b="0" dirty="0" err="1"/>
              <a:t>가리키며</a:t>
            </a:r>
            <a:r>
              <a:rPr sz="1200" b="0" dirty="0"/>
              <a:t>) </a:t>
            </a:r>
            <a:r>
              <a:rPr sz="1200" b="0" dirty="0" err="1"/>
              <a:t>화면에</a:t>
            </a:r>
            <a:r>
              <a:rPr sz="1200" b="0" dirty="0"/>
              <a:t> </a:t>
            </a:r>
            <a:r>
              <a:rPr sz="1200" b="0" dirty="0" err="1"/>
              <a:t>결과</a:t>
            </a:r>
            <a:r>
              <a:rPr sz="1200" b="0" dirty="0"/>
              <a:t> </a:t>
            </a:r>
            <a:r>
              <a:rPr sz="1200" b="0" dirty="0" err="1"/>
              <a:t>숫자가</a:t>
            </a:r>
            <a:r>
              <a:rPr sz="1200" b="0" dirty="0"/>
              <a:t> </a:t>
            </a:r>
            <a:r>
              <a:rPr sz="1200" b="0" dirty="0" err="1"/>
              <a:t>이미</a:t>
            </a:r>
            <a:r>
              <a:rPr sz="1200" b="0" dirty="0"/>
              <a:t> </a:t>
            </a:r>
            <a:r>
              <a:rPr sz="1200" b="0" dirty="0" err="1"/>
              <a:t>보이실</a:t>
            </a:r>
            <a:r>
              <a:rPr sz="1200" b="0" dirty="0"/>
              <a:t> </a:t>
            </a:r>
            <a:r>
              <a:rPr sz="1200" b="0" dirty="0" err="1"/>
              <a:t>텐데</a:t>
            </a:r>
            <a:r>
              <a:rPr sz="1200" b="0" dirty="0"/>
              <a:t>, 이 두 </a:t>
            </a:r>
            <a:r>
              <a:rPr sz="1200" b="0" dirty="0" err="1"/>
              <a:t>값은</a:t>
            </a:r>
            <a:r>
              <a:rPr sz="1200" b="0" dirty="0"/>
              <a:t> </a:t>
            </a:r>
            <a:r>
              <a:rPr sz="1200" b="0" dirty="0" err="1"/>
              <a:t>뒤에서</a:t>
            </a:r>
            <a:r>
              <a:rPr sz="1200" b="0" dirty="0"/>
              <a:t> </a:t>
            </a:r>
            <a:r>
              <a:rPr sz="1200" b="0" dirty="0" err="1"/>
              <a:t>자세히</a:t>
            </a:r>
            <a:r>
              <a:rPr sz="1200" b="0" dirty="0"/>
              <a:t> </a:t>
            </a:r>
            <a:r>
              <a:rPr sz="1200" b="0" dirty="0" err="1"/>
              <a:t>말씀드리겠습니다</a:t>
            </a:r>
            <a:r>
              <a:rPr sz="1200" b="0" dirty="0"/>
              <a:t>.</a:t>
            </a:r>
          </a:p>
          <a:p>
            <a:pPr>
              <a:spcAft>
                <a:spcPts val="600"/>
              </a:spcAft>
            </a:pPr>
            <a:r>
              <a:rPr lang="ko-KR" altLang="en-US" sz="1200" b="0" dirty="0"/>
              <a:t>실재로 적용했을 때</a:t>
            </a:r>
            <a:r>
              <a:rPr sz="1200" b="0" dirty="0"/>
              <a:t> </a:t>
            </a:r>
            <a:r>
              <a:rPr sz="1200" b="0" dirty="0" err="1"/>
              <a:t>좋은</a:t>
            </a:r>
            <a:r>
              <a:rPr sz="1200" b="0" dirty="0"/>
              <a:t> </a:t>
            </a:r>
            <a:r>
              <a:rPr sz="1200" b="0" dirty="0" err="1"/>
              <a:t>점을</a:t>
            </a:r>
            <a:r>
              <a:rPr sz="1200" b="0" dirty="0"/>
              <a:t> </a:t>
            </a:r>
            <a:r>
              <a:rPr sz="1200" b="0" dirty="0" err="1"/>
              <a:t>하나</a:t>
            </a:r>
            <a:r>
              <a:rPr sz="1200" b="0" dirty="0"/>
              <a:t> </a:t>
            </a:r>
            <a:r>
              <a:rPr sz="1200" b="0" dirty="0" err="1"/>
              <a:t>말씀드리고</a:t>
            </a:r>
            <a:r>
              <a:rPr sz="1200" b="0" dirty="0"/>
              <a:t> </a:t>
            </a:r>
            <a:r>
              <a:rPr sz="1200" b="0" dirty="0" err="1"/>
              <a:t>싶습니다</a:t>
            </a:r>
            <a:r>
              <a:rPr sz="1200" b="0" dirty="0"/>
              <a:t>. </a:t>
            </a:r>
            <a:r>
              <a:rPr sz="1200" b="1" dirty="0" err="1"/>
              <a:t>벡터를</a:t>
            </a:r>
            <a:r>
              <a:rPr sz="1200" b="1" dirty="0"/>
              <a:t> </a:t>
            </a:r>
            <a:r>
              <a:rPr sz="1200" b="1" dirty="0" err="1"/>
              <a:t>다시</a:t>
            </a:r>
            <a:r>
              <a:rPr sz="1200" b="1" dirty="0"/>
              <a:t> </a:t>
            </a:r>
            <a:r>
              <a:rPr sz="1200" b="1" dirty="0" err="1"/>
              <a:t>만들지</a:t>
            </a:r>
            <a:r>
              <a:rPr sz="1200" b="1" dirty="0"/>
              <a:t> </a:t>
            </a:r>
            <a:r>
              <a:rPr sz="1200" b="1" dirty="0" err="1"/>
              <a:t>않아도</a:t>
            </a:r>
            <a:r>
              <a:rPr sz="1200" b="1" dirty="0"/>
              <a:t> </a:t>
            </a:r>
            <a:r>
              <a:rPr sz="1200" b="1" dirty="0" err="1"/>
              <a:t>됩니다</a:t>
            </a:r>
            <a:r>
              <a:rPr sz="1200" b="1" dirty="0"/>
              <a:t>.</a:t>
            </a:r>
            <a:endParaRPr lang="en-US" sz="1200" b="0" dirty="0"/>
          </a:p>
          <a:p>
            <a:pPr>
              <a:spcAft>
                <a:spcPts val="600"/>
              </a:spcAft>
            </a:pPr>
            <a:r>
              <a:rPr lang="ko-KR" altLang="en-US" sz="1200" b="0" dirty="0"/>
              <a:t>성능저하의 원인이 파악이 되면 이미 </a:t>
            </a:r>
            <a:r>
              <a:rPr sz="1200" b="0" dirty="0" err="1"/>
              <a:t>있는</a:t>
            </a:r>
            <a:r>
              <a:rPr sz="1200" b="0" dirty="0"/>
              <a:t> </a:t>
            </a:r>
            <a:r>
              <a:rPr sz="1200" b="0" dirty="0" err="1"/>
              <a:t>것을</a:t>
            </a:r>
            <a:r>
              <a:rPr sz="1200" b="0" dirty="0"/>
              <a:t> </a:t>
            </a:r>
            <a:r>
              <a:rPr sz="1200" b="0" dirty="0" err="1"/>
              <a:t>옮겨</a:t>
            </a:r>
            <a:r>
              <a:rPr sz="1200" b="0" dirty="0"/>
              <a:t> </a:t>
            </a:r>
            <a:r>
              <a:rPr sz="1200" b="0" dirty="0" err="1"/>
              <a:t>싣기만</a:t>
            </a:r>
            <a:r>
              <a:rPr sz="1200" b="0" dirty="0"/>
              <a:t> </a:t>
            </a:r>
            <a:r>
              <a:rPr sz="1200" b="0" dirty="0" err="1"/>
              <a:t>하면</a:t>
            </a:r>
            <a:r>
              <a:rPr sz="1200" b="0" dirty="0"/>
              <a:t> </a:t>
            </a:r>
            <a:r>
              <a:rPr sz="1200" b="0" dirty="0" err="1"/>
              <a:t>되니</a:t>
            </a:r>
            <a:r>
              <a:rPr sz="1200" b="0" dirty="0"/>
              <a:t> </a:t>
            </a:r>
            <a:r>
              <a:rPr sz="1200" b="0" dirty="0" err="1"/>
              <a:t>임베딩</a:t>
            </a:r>
            <a:r>
              <a:rPr sz="1200" b="0" dirty="0"/>
              <a:t> </a:t>
            </a:r>
            <a:r>
              <a:rPr sz="1200" b="0" dirty="0" err="1"/>
              <a:t>비용이</a:t>
            </a:r>
            <a:r>
              <a:rPr sz="1200" b="0" dirty="0"/>
              <a:t> 더 </a:t>
            </a:r>
            <a:r>
              <a:rPr sz="1200" b="0" dirty="0" err="1"/>
              <a:t>들지</a:t>
            </a:r>
            <a:r>
              <a:rPr sz="1200" b="0" dirty="0"/>
              <a:t> </a:t>
            </a:r>
            <a:r>
              <a:rPr sz="1200" b="0" dirty="0" err="1"/>
              <a:t>않고</a:t>
            </a:r>
            <a:r>
              <a:rPr sz="1200" b="0" dirty="0"/>
              <a:t>, </a:t>
            </a:r>
            <a:r>
              <a:rPr sz="1200" b="1" dirty="0" err="1"/>
              <a:t>운영</a:t>
            </a:r>
            <a:r>
              <a:rPr sz="1200" b="1" dirty="0"/>
              <a:t> </a:t>
            </a:r>
            <a:r>
              <a:rPr sz="1200" b="1" dirty="0" err="1"/>
              <a:t>중인</a:t>
            </a:r>
            <a:r>
              <a:rPr sz="1200" b="1" dirty="0"/>
              <a:t> </a:t>
            </a:r>
            <a:r>
              <a:rPr sz="1200" b="1" dirty="0" err="1"/>
              <a:t>서비스를</a:t>
            </a:r>
            <a:r>
              <a:rPr sz="1200" b="1" dirty="0"/>
              <a:t> </a:t>
            </a:r>
            <a:r>
              <a:rPr sz="1200" b="1" dirty="0" err="1"/>
              <a:t>멈추지</a:t>
            </a:r>
            <a:r>
              <a:rPr sz="1200" b="1" dirty="0"/>
              <a:t> </a:t>
            </a:r>
            <a:r>
              <a:rPr sz="1200" b="1" dirty="0" err="1"/>
              <a:t>않아도</a:t>
            </a:r>
            <a:r>
              <a:rPr sz="1200" b="1" dirty="0"/>
              <a:t> </a:t>
            </a:r>
            <a:r>
              <a:rPr sz="1200" b="1" dirty="0" err="1"/>
              <a:t>됩니다</a:t>
            </a:r>
            <a:r>
              <a:rPr sz="1200" b="1" dirty="0"/>
              <a:t>.</a:t>
            </a:r>
          </a:p>
          <a:p>
            <a:pPr>
              <a:spcAft>
                <a:spcPts val="600"/>
              </a:spcAft>
            </a:pPr>
            <a:r>
              <a:rPr sz="1200" b="1" dirty="0" err="1"/>
              <a:t>이전을</a:t>
            </a:r>
            <a:r>
              <a:rPr sz="1200" b="1" dirty="0"/>
              <a:t> </a:t>
            </a:r>
            <a:r>
              <a:rPr sz="1200" b="1" dirty="0" err="1"/>
              <a:t>결정하기</a:t>
            </a:r>
            <a:r>
              <a:rPr sz="1200" b="1" dirty="0"/>
              <a:t> </a:t>
            </a:r>
            <a:r>
              <a:rPr sz="1200" b="1" dirty="0" err="1"/>
              <a:t>전에</a:t>
            </a:r>
            <a:r>
              <a:rPr sz="1200" b="1" dirty="0"/>
              <a:t> </a:t>
            </a:r>
            <a:r>
              <a:rPr sz="1200" b="1" dirty="0" err="1"/>
              <a:t>미리</a:t>
            </a:r>
            <a:r>
              <a:rPr sz="1200" b="1" dirty="0"/>
              <a:t> 해 볼 수 </a:t>
            </a:r>
            <a:r>
              <a:rPr sz="1200" b="1" dirty="0" err="1"/>
              <a:t>있다</a:t>
            </a:r>
            <a:r>
              <a:rPr sz="1200" b="0" dirty="0" err="1"/>
              <a:t>는</a:t>
            </a:r>
            <a:r>
              <a:rPr sz="1200" b="0" dirty="0"/>
              <a:t> </a:t>
            </a:r>
            <a:r>
              <a:rPr sz="1200" b="0" dirty="0" err="1"/>
              <a:t>점이</a:t>
            </a:r>
            <a:r>
              <a:rPr sz="1200" b="0" dirty="0"/>
              <a:t> 이 </a:t>
            </a:r>
            <a:r>
              <a:rPr sz="1200" b="0" dirty="0" err="1"/>
              <a:t>방법의</a:t>
            </a:r>
            <a:r>
              <a:rPr sz="1200" b="0" dirty="0"/>
              <a:t> </a:t>
            </a:r>
            <a:r>
              <a:rPr sz="1200" b="0" dirty="0" err="1"/>
              <a:t>쓸모입니다</a:t>
            </a:r>
            <a:r>
              <a:rPr sz="1200" b="0" dirty="0"/>
              <a:t>.</a:t>
            </a:r>
          </a:p>
          <a:p>
            <a:pPr>
              <a:spcAft>
                <a:spcPts val="0"/>
              </a:spcAft>
            </a:pPr>
            <a:r>
              <a:rPr sz="1100" b="1" dirty="0"/>
              <a:t>→ </a:t>
            </a:r>
            <a:r>
              <a:rPr sz="1100" b="1" dirty="0" err="1"/>
              <a:t>다음</a:t>
            </a:r>
            <a:r>
              <a:rPr sz="1100" b="1" dirty="0"/>
              <a:t>: 7장 Proposed Method — </a:t>
            </a:r>
            <a:r>
              <a:rPr sz="1100" b="1" dirty="0" err="1"/>
              <a:t>시스템</a:t>
            </a:r>
            <a:r>
              <a:rPr sz="1100" b="1" dirty="0"/>
              <a:t> </a:t>
            </a:r>
            <a:r>
              <a:rPr sz="1100" b="1" dirty="0" err="1"/>
              <a:t>구조</a:t>
            </a:r>
            <a:r>
              <a:rPr sz="1100" b="1" dirty="0"/>
              <a:t> (4:55)</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[7/17] 4:55–5:40 · 45초 · Proposed Method — </a:t>
            </a:r>
            <a:r>
              <a:rPr sz="1200" b="1" dirty="0" err="1"/>
              <a:t>시스템</a:t>
            </a:r>
            <a:r>
              <a:rPr sz="1200" b="1" dirty="0"/>
              <a:t> </a:t>
            </a:r>
            <a:r>
              <a:rPr sz="1200" b="1" dirty="0" err="1"/>
              <a:t>구조</a:t>
            </a:r>
            <a:endParaRPr sz="1200" b="1" dirty="0"/>
          </a:p>
          <a:p>
            <a:pPr>
              <a:spcAft>
                <a:spcPts val="600"/>
              </a:spcAft>
            </a:pPr>
            <a:r>
              <a:rPr sz="1200" b="0" dirty="0" err="1"/>
              <a:t>실제로</a:t>
            </a:r>
            <a:r>
              <a:rPr sz="1200" b="0" dirty="0"/>
              <a:t> </a:t>
            </a:r>
            <a:r>
              <a:rPr sz="1200" b="0" dirty="0" err="1"/>
              <a:t>무엇이</a:t>
            </a:r>
            <a:r>
              <a:rPr sz="1200" b="0" dirty="0"/>
              <a:t> </a:t>
            </a:r>
            <a:r>
              <a:rPr sz="1200" b="0" dirty="0" err="1"/>
              <a:t>달라지는지</a:t>
            </a:r>
            <a:r>
              <a:rPr sz="1200" b="0" dirty="0"/>
              <a:t> </a:t>
            </a:r>
            <a:r>
              <a:rPr sz="1200" b="0" dirty="0" err="1"/>
              <a:t>구조로</a:t>
            </a:r>
            <a:r>
              <a:rPr sz="1200" b="0" dirty="0"/>
              <a:t> </a:t>
            </a:r>
            <a:r>
              <a:rPr sz="1200" b="0" dirty="0" err="1"/>
              <a:t>보여</a:t>
            </a:r>
            <a:r>
              <a:rPr sz="1200" b="0" dirty="0"/>
              <a:t> </a:t>
            </a:r>
            <a:r>
              <a:rPr sz="1200" b="0" dirty="0" err="1"/>
              <a:t>드리겠습니다</a:t>
            </a:r>
            <a:r>
              <a:rPr sz="1200" b="0" dirty="0"/>
              <a:t>.</a:t>
            </a:r>
          </a:p>
          <a:p>
            <a:pPr>
              <a:spcAft>
                <a:spcPts val="600"/>
              </a:spcAft>
            </a:pPr>
            <a:r>
              <a:rPr sz="1200" b="0" dirty="0"/>
              <a:t>(</a:t>
            </a:r>
            <a:r>
              <a:rPr sz="1200" b="0" dirty="0" err="1"/>
              <a:t>왼쪽</a:t>
            </a:r>
            <a:r>
              <a:rPr sz="1200" b="0" dirty="0"/>
              <a:t>) </a:t>
            </a:r>
            <a:r>
              <a:rPr lang="ko-KR" altLang="en-US" sz="1200" b="0" dirty="0"/>
              <a:t>옮기기 전의</a:t>
            </a:r>
            <a:r>
              <a:rPr sz="1200" b="0" dirty="0"/>
              <a:t> </a:t>
            </a:r>
            <a:r>
              <a:rPr sz="1200" b="0" dirty="0" err="1"/>
              <a:t>시스템은</a:t>
            </a:r>
            <a:r>
              <a:rPr sz="1200" b="0" dirty="0"/>
              <a:t> </a:t>
            </a:r>
            <a:r>
              <a:rPr sz="1200" b="0" dirty="0" err="1"/>
              <a:t>애플리케이션이</a:t>
            </a:r>
            <a:r>
              <a:rPr sz="1200" b="0" dirty="0"/>
              <a:t> </a:t>
            </a:r>
            <a:r>
              <a:rPr sz="1200" b="1" dirty="0" err="1"/>
              <a:t>바깥의</a:t>
            </a:r>
            <a:r>
              <a:rPr sz="1200" b="1" dirty="0"/>
              <a:t> </a:t>
            </a:r>
            <a:r>
              <a:rPr sz="1200" b="1" dirty="0" err="1"/>
              <a:t>임베딩</a:t>
            </a:r>
            <a:r>
              <a:rPr sz="1200" b="1" dirty="0"/>
              <a:t> </a:t>
            </a:r>
            <a:r>
              <a:rPr sz="1200" b="1" dirty="0" err="1"/>
              <a:t>서비스를</a:t>
            </a:r>
            <a:r>
              <a:rPr sz="1200" b="1" dirty="0"/>
              <a:t> </a:t>
            </a:r>
            <a:r>
              <a:rPr sz="1200" b="1" dirty="0" err="1"/>
              <a:t>불러서</a:t>
            </a:r>
            <a:r>
              <a:rPr sz="1200" b="0" dirty="0"/>
              <a:t> </a:t>
            </a:r>
            <a:r>
              <a:rPr sz="1200" b="0" dirty="0" err="1"/>
              <a:t>결과를</a:t>
            </a:r>
            <a:r>
              <a:rPr sz="1200" b="0" dirty="0"/>
              <a:t> </a:t>
            </a:r>
            <a:r>
              <a:rPr sz="1200" b="0" dirty="0" err="1"/>
              <a:t>받고</a:t>
            </a:r>
            <a:r>
              <a:rPr sz="1200" b="0" dirty="0"/>
              <a:t>, </a:t>
            </a:r>
            <a:r>
              <a:rPr sz="1200" b="0" dirty="0" err="1"/>
              <a:t>그것을</a:t>
            </a:r>
            <a:r>
              <a:rPr sz="1200" b="0" dirty="0"/>
              <a:t> </a:t>
            </a:r>
            <a:r>
              <a:rPr sz="1200" b="0" dirty="0" err="1"/>
              <a:t>다시</a:t>
            </a:r>
            <a:r>
              <a:rPr sz="1200" b="0" dirty="0"/>
              <a:t> </a:t>
            </a:r>
            <a:r>
              <a:rPr sz="1200" b="0" dirty="0" err="1"/>
              <a:t>저장소로</a:t>
            </a:r>
            <a:r>
              <a:rPr sz="1200" b="0" dirty="0"/>
              <a:t> </a:t>
            </a:r>
            <a:r>
              <a:rPr sz="1200" b="0" dirty="0" err="1"/>
              <a:t>보냅니다</a:t>
            </a:r>
            <a:r>
              <a:rPr sz="1200" b="0" dirty="0"/>
              <a:t>. </a:t>
            </a:r>
            <a:r>
              <a:rPr sz="1200" b="1" dirty="0" err="1"/>
              <a:t>밖으로</a:t>
            </a:r>
            <a:r>
              <a:rPr sz="1200" b="1" dirty="0"/>
              <a:t> 두 번 </a:t>
            </a:r>
            <a:r>
              <a:rPr lang="ko-KR" altLang="en-US" sz="1200" b="1" dirty="0"/>
              <a:t>나갔다 오는 네트워크의 왕복이 발생합니다</a:t>
            </a:r>
            <a:r>
              <a:rPr sz="1200" b="1" dirty="0"/>
              <a:t>.</a:t>
            </a:r>
          </a:p>
          <a:p>
            <a:pPr>
              <a:spcAft>
                <a:spcPts val="600"/>
              </a:spcAft>
            </a:pPr>
            <a:r>
              <a:rPr sz="1200" b="0" dirty="0"/>
              <a:t>(</a:t>
            </a:r>
            <a:r>
              <a:rPr sz="1200" b="0" dirty="0" err="1"/>
              <a:t>오른쪽</a:t>
            </a:r>
            <a:r>
              <a:rPr sz="1200" b="0" dirty="0"/>
              <a:t>) </a:t>
            </a:r>
            <a:r>
              <a:rPr lang="ko-KR" altLang="en-US" sz="1200" b="0" dirty="0"/>
              <a:t>오라클 서비스로 마이그레이션을</a:t>
            </a:r>
            <a:r>
              <a:rPr sz="1200" b="0" dirty="0"/>
              <a:t> </a:t>
            </a:r>
            <a:r>
              <a:rPr lang="ko-KR" altLang="en-US" sz="1200" b="0" dirty="0"/>
              <a:t>하면</a:t>
            </a:r>
            <a:r>
              <a:rPr sz="1200" b="0" dirty="0"/>
              <a:t> </a:t>
            </a:r>
            <a:r>
              <a:rPr sz="1200" b="0" dirty="0" err="1"/>
              <a:t>임베딩과</a:t>
            </a:r>
            <a:r>
              <a:rPr sz="1200" b="0" dirty="0"/>
              <a:t> </a:t>
            </a:r>
            <a:r>
              <a:rPr sz="1200" b="0" dirty="0" err="1"/>
              <a:t>검색이</a:t>
            </a:r>
            <a:r>
              <a:rPr sz="1200" b="0" dirty="0"/>
              <a:t> </a:t>
            </a:r>
            <a:r>
              <a:rPr sz="1200" b="0" dirty="0" err="1"/>
              <a:t>모두</a:t>
            </a:r>
            <a:r>
              <a:rPr sz="1200" b="0" dirty="0"/>
              <a:t> </a:t>
            </a:r>
            <a:r>
              <a:rPr sz="1200" b="0" dirty="0" err="1"/>
              <a:t>데이터베이스</a:t>
            </a:r>
            <a:r>
              <a:rPr sz="1200" b="0" dirty="0"/>
              <a:t> </a:t>
            </a:r>
            <a:r>
              <a:rPr sz="1200" b="0" dirty="0" err="1"/>
              <a:t>안에서</a:t>
            </a:r>
            <a:r>
              <a:rPr sz="1200" b="0" dirty="0"/>
              <a:t> </a:t>
            </a:r>
            <a:r>
              <a:rPr sz="1200" b="0" dirty="0" err="1"/>
              <a:t>끝납니다</a:t>
            </a:r>
            <a:r>
              <a:rPr sz="1200" b="0" dirty="0"/>
              <a:t>. </a:t>
            </a:r>
            <a:r>
              <a:rPr sz="1200" b="1" dirty="0" err="1"/>
              <a:t>밖으로</a:t>
            </a:r>
            <a:r>
              <a:rPr sz="1200" b="1" dirty="0"/>
              <a:t> </a:t>
            </a:r>
            <a:r>
              <a:rPr sz="1200" b="1" dirty="0" err="1"/>
              <a:t>나가는</a:t>
            </a:r>
            <a:r>
              <a:rPr sz="1200" b="1" dirty="0"/>
              <a:t> </a:t>
            </a:r>
            <a:r>
              <a:rPr sz="1200" b="1" dirty="0" err="1"/>
              <a:t>것은</a:t>
            </a:r>
            <a:r>
              <a:rPr sz="1200" b="1" dirty="0"/>
              <a:t> 한 </a:t>
            </a:r>
            <a:r>
              <a:rPr sz="1200" b="1" dirty="0" err="1"/>
              <a:t>번으로</a:t>
            </a:r>
            <a:r>
              <a:rPr sz="1200" b="1" dirty="0"/>
              <a:t> </a:t>
            </a:r>
            <a:r>
              <a:rPr sz="1200" b="1" dirty="0" err="1"/>
              <a:t>줄고</a:t>
            </a:r>
            <a:r>
              <a:rPr sz="1200" b="1" dirty="0"/>
              <a:t>, </a:t>
            </a:r>
            <a:r>
              <a:rPr sz="1200" b="1" dirty="0" err="1"/>
              <a:t>외부</a:t>
            </a:r>
            <a:r>
              <a:rPr sz="1200" b="1" dirty="0"/>
              <a:t> </a:t>
            </a:r>
            <a:r>
              <a:rPr sz="1200" b="1" dirty="0" err="1"/>
              <a:t>모델</a:t>
            </a:r>
            <a:r>
              <a:rPr sz="1200" b="1" dirty="0"/>
              <a:t> </a:t>
            </a:r>
            <a:r>
              <a:rPr sz="1200" b="1" dirty="0" err="1"/>
              <a:t>호출은</a:t>
            </a:r>
            <a:r>
              <a:rPr sz="1200" b="1" dirty="0"/>
              <a:t> </a:t>
            </a:r>
            <a:r>
              <a:rPr sz="1200" b="1" dirty="0" err="1"/>
              <a:t>아예</a:t>
            </a:r>
            <a:r>
              <a:rPr sz="1200" b="1" dirty="0"/>
              <a:t> </a:t>
            </a:r>
            <a:r>
              <a:rPr sz="1200" b="1" dirty="0" err="1"/>
              <a:t>없어집니다</a:t>
            </a:r>
            <a:r>
              <a:rPr sz="1200" b="1" dirty="0"/>
              <a:t>.</a:t>
            </a:r>
          </a:p>
          <a:p>
            <a:pPr>
              <a:spcAft>
                <a:spcPts val="600"/>
              </a:spcAft>
            </a:pPr>
            <a:r>
              <a:rPr lang="ko-KR" altLang="en-US" sz="1200" b="0" dirty="0"/>
              <a:t>여기서 먼저 </a:t>
            </a:r>
            <a:r>
              <a:rPr sz="1200" b="0" dirty="0"/>
              <a:t>꼭 </a:t>
            </a:r>
            <a:r>
              <a:rPr sz="1200" b="0" dirty="0" err="1"/>
              <a:t>말씀드릴</a:t>
            </a:r>
            <a:r>
              <a:rPr sz="1200" b="0" dirty="0"/>
              <a:t> </a:t>
            </a:r>
            <a:r>
              <a:rPr sz="1200" b="0" dirty="0" err="1"/>
              <a:t>것이</a:t>
            </a:r>
            <a:r>
              <a:rPr sz="1200" b="0" dirty="0"/>
              <a:t> </a:t>
            </a:r>
            <a:r>
              <a:rPr sz="1200" b="0" dirty="0" err="1"/>
              <a:t>있습니다</a:t>
            </a:r>
            <a:r>
              <a:rPr sz="1200" b="0" dirty="0"/>
              <a:t>. </a:t>
            </a:r>
            <a:r>
              <a:rPr sz="1200" b="1" dirty="0" err="1"/>
              <a:t>검색</a:t>
            </a:r>
            <a:r>
              <a:rPr sz="1200" b="1" dirty="0"/>
              <a:t> </a:t>
            </a:r>
            <a:r>
              <a:rPr sz="1200" b="1" dirty="0" err="1"/>
              <a:t>규칙과</a:t>
            </a:r>
            <a:r>
              <a:rPr sz="1200" b="1" dirty="0"/>
              <a:t> </a:t>
            </a:r>
            <a:r>
              <a:rPr sz="1200" b="1" dirty="0" err="1"/>
              <a:t>설정값은</a:t>
            </a:r>
            <a:r>
              <a:rPr sz="1200" b="1" dirty="0"/>
              <a:t> 세 </a:t>
            </a:r>
            <a:r>
              <a:rPr sz="1200" b="1" dirty="0" err="1"/>
              <a:t>조건에서</a:t>
            </a:r>
            <a:r>
              <a:rPr sz="1200" b="1" dirty="0"/>
              <a:t> </a:t>
            </a:r>
            <a:r>
              <a:rPr sz="1200" b="1" dirty="0" err="1"/>
              <a:t>완전히</a:t>
            </a:r>
            <a:r>
              <a:rPr sz="1200" b="1" dirty="0"/>
              <a:t> </a:t>
            </a:r>
            <a:r>
              <a:rPr sz="1200" b="1" dirty="0" err="1"/>
              <a:t>똑같이</a:t>
            </a:r>
            <a:r>
              <a:rPr sz="1200" b="1" dirty="0"/>
              <a:t> </a:t>
            </a:r>
            <a:r>
              <a:rPr sz="1200" b="1" dirty="0" err="1"/>
              <a:t>고정했습니다</a:t>
            </a:r>
            <a:r>
              <a:rPr sz="1200" b="1" dirty="0"/>
              <a:t>.</a:t>
            </a:r>
            <a:r>
              <a:rPr sz="1200" b="0" dirty="0"/>
              <a:t> </a:t>
            </a:r>
            <a:r>
              <a:rPr sz="1200" b="0" dirty="0" err="1"/>
              <a:t>비교하려는</a:t>
            </a:r>
            <a:r>
              <a:rPr sz="1200" b="0" dirty="0"/>
              <a:t> 것 </a:t>
            </a:r>
            <a:r>
              <a:rPr sz="1200" b="0" dirty="0" err="1"/>
              <a:t>말고</a:t>
            </a:r>
            <a:r>
              <a:rPr sz="1200" b="0" dirty="0"/>
              <a:t> </a:t>
            </a:r>
            <a:r>
              <a:rPr sz="1200" b="0" dirty="0" err="1"/>
              <a:t>다른</a:t>
            </a:r>
            <a:r>
              <a:rPr sz="1200" b="0" dirty="0"/>
              <a:t> </a:t>
            </a:r>
            <a:r>
              <a:rPr lang="ko-KR" altLang="en-US" sz="1200" b="0" dirty="0"/>
              <a:t>노이즈가 섞이면</a:t>
            </a:r>
            <a:r>
              <a:rPr sz="1200" b="0" dirty="0"/>
              <a:t> 안 </a:t>
            </a:r>
            <a:r>
              <a:rPr sz="1200" b="0" dirty="0" err="1"/>
              <a:t>되기</a:t>
            </a:r>
            <a:r>
              <a:rPr sz="1200" b="0" dirty="0"/>
              <a:t> </a:t>
            </a:r>
            <a:r>
              <a:rPr sz="1200" b="0" dirty="0" err="1"/>
              <a:t>때문입니다</a:t>
            </a:r>
            <a:r>
              <a:rPr sz="1200" b="0" dirty="0"/>
              <a:t>.</a:t>
            </a:r>
          </a:p>
          <a:p>
            <a:pPr>
              <a:spcAft>
                <a:spcPts val="0"/>
              </a:spcAft>
            </a:pPr>
            <a:r>
              <a:rPr sz="1100" b="1" dirty="0"/>
              <a:t>→ </a:t>
            </a:r>
            <a:r>
              <a:rPr sz="1100" b="1" dirty="0" err="1"/>
              <a:t>다음</a:t>
            </a:r>
            <a:r>
              <a:rPr sz="1100" b="1" dirty="0"/>
              <a:t>: 8장 Performance Evaluation — </a:t>
            </a:r>
            <a:r>
              <a:rPr sz="1100" b="1" dirty="0" err="1"/>
              <a:t>실험</a:t>
            </a:r>
            <a:r>
              <a:rPr sz="1100" b="1" dirty="0"/>
              <a:t> </a:t>
            </a:r>
            <a:r>
              <a:rPr sz="1100" b="1" dirty="0" err="1"/>
              <a:t>플랫폼</a:t>
            </a:r>
            <a:r>
              <a:rPr sz="1100" b="1" dirty="0"/>
              <a:t>(DILAB) (5:40)</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[8/17] 5:40–6:20 · 40초 · Performance Evaluation — </a:t>
            </a:r>
            <a:r>
              <a:rPr sz="1200" b="1" dirty="0" err="1"/>
              <a:t>실험</a:t>
            </a:r>
            <a:r>
              <a:rPr sz="1200" b="1" dirty="0"/>
              <a:t> </a:t>
            </a:r>
            <a:r>
              <a:rPr sz="1200" b="1" dirty="0" err="1"/>
              <a:t>플랫폼</a:t>
            </a:r>
            <a:r>
              <a:rPr sz="1200" b="1" dirty="0"/>
              <a:t>(DILAB)</a:t>
            </a:r>
          </a:p>
          <a:p>
            <a:pPr>
              <a:spcAft>
                <a:spcPts val="600"/>
              </a:spcAft>
            </a:pPr>
            <a:r>
              <a:rPr sz="1200" b="0" dirty="0" err="1"/>
              <a:t>실험</a:t>
            </a:r>
            <a:r>
              <a:rPr sz="1200" b="0" dirty="0"/>
              <a:t> </a:t>
            </a:r>
            <a:r>
              <a:rPr sz="1200" b="0" dirty="0" err="1"/>
              <a:t>무대가</a:t>
            </a:r>
            <a:r>
              <a:rPr sz="1200" b="0" dirty="0"/>
              <a:t> 된 </a:t>
            </a:r>
            <a:r>
              <a:rPr sz="1200" b="0" dirty="0" err="1"/>
              <a:t>서비스입니다</a:t>
            </a:r>
            <a:r>
              <a:rPr sz="1200" b="0" dirty="0"/>
              <a:t>.</a:t>
            </a:r>
          </a:p>
          <a:p>
            <a:pPr>
              <a:spcAft>
                <a:spcPts val="600"/>
              </a:spcAft>
            </a:pPr>
            <a:r>
              <a:rPr lang="ko-KR" altLang="en-US" sz="1200" b="0" dirty="0"/>
              <a:t>저희가 기획중인 </a:t>
            </a:r>
            <a:r>
              <a:rPr lang="ko-KR" altLang="en-US" sz="1200" b="1" dirty="0"/>
              <a:t>디</a:t>
            </a:r>
            <a:r>
              <a:rPr sz="1200" b="1" dirty="0" err="1"/>
              <a:t>랩이라는</a:t>
            </a:r>
            <a:r>
              <a:rPr sz="1200" b="1" dirty="0"/>
              <a:t> </a:t>
            </a:r>
            <a:r>
              <a:rPr sz="1200" b="1" dirty="0" err="1"/>
              <a:t>제품</a:t>
            </a:r>
            <a:r>
              <a:rPr sz="1200" b="1" dirty="0"/>
              <a:t> </a:t>
            </a:r>
            <a:r>
              <a:rPr sz="1200" b="1" dirty="0" err="1"/>
              <a:t>리뷰</a:t>
            </a:r>
            <a:r>
              <a:rPr sz="1200" b="1" dirty="0"/>
              <a:t> </a:t>
            </a:r>
            <a:r>
              <a:rPr sz="1200" b="1" dirty="0" err="1"/>
              <a:t>분석</a:t>
            </a:r>
            <a:r>
              <a:rPr sz="1200" b="1" dirty="0"/>
              <a:t> </a:t>
            </a:r>
            <a:r>
              <a:rPr lang="ko-KR" altLang="en-US" sz="1200" b="1" dirty="0"/>
              <a:t>데모 </a:t>
            </a:r>
            <a:r>
              <a:rPr sz="1200" b="1" dirty="0" err="1"/>
              <a:t>서비스</a:t>
            </a:r>
            <a:r>
              <a:rPr sz="1200" b="0" dirty="0" err="1"/>
              <a:t>입니다</a:t>
            </a:r>
            <a:r>
              <a:rPr sz="1200" b="0" dirty="0"/>
              <a:t>. </a:t>
            </a:r>
            <a:r>
              <a:rPr sz="1200" b="0" dirty="0" err="1"/>
              <a:t>소비자·전문가</a:t>
            </a:r>
            <a:r>
              <a:rPr sz="1200" b="0" dirty="0"/>
              <a:t> </a:t>
            </a:r>
            <a:r>
              <a:rPr sz="1200" b="0" dirty="0" err="1"/>
              <a:t>리뷰를</a:t>
            </a:r>
            <a:r>
              <a:rPr sz="1200" b="0" dirty="0"/>
              <a:t> </a:t>
            </a:r>
            <a:r>
              <a:rPr sz="1200" b="0" dirty="0" err="1"/>
              <a:t>벡터</a:t>
            </a:r>
            <a:r>
              <a:rPr sz="1200" b="0" dirty="0"/>
              <a:t> </a:t>
            </a:r>
            <a:r>
              <a:rPr sz="1200" b="0" dirty="0" err="1"/>
              <a:t>데이터베이스에</a:t>
            </a:r>
            <a:r>
              <a:rPr sz="1200" b="0" dirty="0"/>
              <a:t> </a:t>
            </a:r>
            <a:r>
              <a:rPr sz="1200" b="0" dirty="0" err="1"/>
              <a:t>넣고</a:t>
            </a:r>
            <a:r>
              <a:rPr sz="1200" b="0" dirty="0"/>
              <a:t>, </a:t>
            </a:r>
            <a:r>
              <a:rPr sz="1200" b="0" dirty="0" err="1"/>
              <a:t>검색해</a:t>
            </a:r>
            <a:r>
              <a:rPr sz="1200" b="0" dirty="0"/>
              <a:t> 온 </a:t>
            </a:r>
            <a:r>
              <a:rPr sz="1200" b="0" dirty="0" err="1"/>
              <a:t>근거를</a:t>
            </a:r>
            <a:r>
              <a:rPr sz="1200" b="0" dirty="0"/>
              <a:t> </a:t>
            </a:r>
            <a:r>
              <a:rPr sz="1200" b="0" dirty="0" err="1"/>
              <a:t>인용해</a:t>
            </a:r>
            <a:r>
              <a:rPr sz="1200" b="0" dirty="0"/>
              <a:t> </a:t>
            </a:r>
            <a:r>
              <a:rPr sz="1200" b="0" dirty="0" err="1"/>
              <a:t>제품</a:t>
            </a:r>
            <a:r>
              <a:rPr sz="1200" b="0" dirty="0"/>
              <a:t> </a:t>
            </a:r>
            <a:r>
              <a:rPr sz="1200" b="0" dirty="0" err="1"/>
              <a:t>평가</a:t>
            </a:r>
            <a:r>
              <a:rPr sz="1200" b="0" dirty="0"/>
              <a:t> </a:t>
            </a:r>
            <a:r>
              <a:rPr sz="1200" b="0" dirty="0" err="1"/>
              <a:t>리포트를</a:t>
            </a:r>
            <a:r>
              <a:rPr sz="1200" b="0" dirty="0"/>
              <a:t> </a:t>
            </a:r>
            <a:r>
              <a:rPr sz="1200" b="0" dirty="0" err="1"/>
              <a:t>만듭니다</a:t>
            </a:r>
            <a:r>
              <a:rPr sz="1200" b="0" dirty="0"/>
              <a:t>.</a:t>
            </a:r>
          </a:p>
          <a:p>
            <a:pPr>
              <a:spcAft>
                <a:spcPts val="600"/>
              </a:spcAft>
            </a:pPr>
            <a:r>
              <a:rPr sz="1200" b="0" dirty="0"/>
              <a:t>(</a:t>
            </a:r>
            <a:r>
              <a:rPr sz="1200" b="0" dirty="0" err="1"/>
              <a:t>왼쪽</a:t>
            </a:r>
            <a:r>
              <a:rPr sz="1200" b="0" dirty="0"/>
              <a:t>) </a:t>
            </a:r>
            <a:r>
              <a:rPr sz="1200" b="0" dirty="0" err="1"/>
              <a:t>시스템</a:t>
            </a:r>
            <a:r>
              <a:rPr sz="1200" b="0" dirty="0"/>
              <a:t> </a:t>
            </a:r>
            <a:r>
              <a:rPr sz="1200" b="0" dirty="0" err="1"/>
              <a:t>구조입니다</a:t>
            </a:r>
            <a:r>
              <a:rPr sz="1200" b="0" dirty="0"/>
              <a:t>. </a:t>
            </a:r>
            <a:r>
              <a:rPr sz="1200" b="0" dirty="0" err="1"/>
              <a:t>리뷰가</a:t>
            </a:r>
            <a:r>
              <a:rPr sz="1200" b="0" dirty="0"/>
              <a:t> </a:t>
            </a:r>
            <a:r>
              <a:rPr sz="1200" b="0" dirty="0" err="1"/>
              <a:t>임베딩을</a:t>
            </a:r>
            <a:r>
              <a:rPr sz="1200" b="0" dirty="0"/>
              <a:t> </a:t>
            </a:r>
            <a:r>
              <a:rPr sz="1200" b="0" dirty="0" err="1"/>
              <a:t>거쳐</a:t>
            </a:r>
            <a:r>
              <a:rPr sz="1200" b="0" dirty="0"/>
              <a:t> </a:t>
            </a:r>
            <a:r>
              <a:rPr sz="1200" b="0" dirty="0" err="1"/>
              <a:t>저장소에</a:t>
            </a:r>
            <a:r>
              <a:rPr sz="1200" b="0" dirty="0"/>
              <a:t> </a:t>
            </a:r>
            <a:r>
              <a:rPr sz="1200" b="0" dirty="0" err="1"/>
              <a:t>쌓이고</a:t>
            </a:r>
            <a:r>
              <a:rPr sz="1200" b="0" dirty="0"/>
              <a:t>, </a:t>
            </a:r>
            <a:r>
              <a:rPr sz="1200" b="0" dirty="0" err="1"/>
              <a:t>질의가</a:t>
            </a:r>
            <a:r>
              <a:rPr sz="1200" b="0" dirty="0"/>
              <a:t> </a:t>
            </a:r>
            <a:r>
              <a:rPr sz="1200" b="0" dirty="0" err="1"/>
              <a:t>오면</a:t>
            </a:r>
            <a:r>
              <a:rPr sz="1200" b="0" dirty="0"/>
              <a:t> </a:t>
            </a:r>
            <a:r>
              <a:rPr sz="1200" b="0" dirty="0" err="1"/>
              <a:t>검색해</a:t>
            </a:r>
            <a:r>
              <a:rPr sz="1200" b="0" dirty="0"/>
              <a:t> </a:t>
            </a:r>
            <a:r>
              <a:rPr sz="1200" b="0" dirty="0" err="1"/>
              <a:t>답을</a:t>
            </a:r>
            <a:r>
              <a:rPr sz="1200" b="0" dirty="0"/>
              <a:t> </a:t>
            </a:r>
            <a:r>
              <a:rPr sz="1200" b="0" dirty="0" err="1"/>
              <a:t>만듭니다</a:t>
            </a:r>
            <a:r>
              <a:rPr sz="1200" b="0" dirty="0"/>
              <a:t>.</a:t>
            </a:r>
          </a:p>
          <a:p>
            <a:pPr>
              <a:spcAft>
                <a:spcPts val="600"/>
              </a:spcAft>
            </a:pPr>
            <a:r>
              <a:rPr sz="1200" b="0" dirty="0"/>
              <a:t>(</a:t>
            </a:r>
            <a:r>
              <a:rPr sz="1200" b="0" dirty="0" err="1"/>
              <a:t>오른쪽</a:t>
            </a:r>
            <a:r>
              <a:rPr sz="1200" b="0" dirty="0"/>
              <a:t>) </a:t>
            </a:r>
            <a:r>
              <a:rPr sz="1200" b="0" dirty="0" err="1"/>
              <a:t>실제</a:t>
            </a:r>
            <a:r>
              <a:rPr sz="1200" b="0" dirty="0"/>
              <a:t> </a:t>
            </a:r>
            <a:r>
              <a:rPr sz="1200" b="0" dirty="0" err="1"/>
              <a:t>서비스</a:t>
            </a:r>
            <a:r>
              <a:rPr sz="1200" b="0" dirty="0"/>
              <a:t> </a:t>
            </a:r>
            <a:r>
              <a:rPr sz="1200" b="0" dirty="0" err="1"/>
              <a:t>화면입니다</a:t>
            </a:r>
            <a:r>
              <a:rPr sz="1200" b="0" dirty="0"/>
              <a:t>. </a:t>
            </a:r>
            <a:r>
              <a:rPr sz="1200" b="0" dirty="0" err="1"/>
              <a:t>다섯</a:t>
            </a:r>
            <a:r>
              <a:rPr sz="1200" b="0" dirty="0"/>
              <a:t> </a:t>
            </a:r>
            <a:r>
              <a:rPr sz="1200" b="0" dirty="0" err="1"/>
              <a:t>축으로</a:t>
            </a:r>
            <a:r>
              <a:rPr sz="1200" b="0" dirty="0"/>
              <a:t> </a:t>
            </a:r>
            <a:r>
              <a:rPr sz="1200" b="0" dirty="0" err="1"/>
              <a:t>채점하고</a:t>
            </a:r>
            <a:r>
              <a:rPr sz="1200" b="0" dirty="0"/>
              <a:t> </a:t>
            </a:r>
            <a:r>
              <a:rPr sz="1200" b="0" dirty="0" err="1"/>
              <a:t>모든</a:t>
            </a:r>
            <a:r>
              <a:rPr sz="1200" b="0" dirty="0"/>
              <a:t> </a:t>
            </a:r>
            <a:r>
              <a:rPr sz="1200" b="0" dirty="0" err="1"/>
              <a:t>판단에</a:t>
            </a:r>
            <a:r>
              <a:rPr sz="1200" b="0" dirty="0"/>
              <a:t> </a:t>
            </a:r>
            <a:r>
              <a:rPr sz="1200" b="0" dirty="0" err="1"/>
              <a:t>원문</a:t>
            </a:r>
            <a:r>
              <a:rPr sz="1200" b="0" dirty="0"/>
              <a:t> </a:t>
            </a:r>
            <a:r>
              <a:rPr sz="1200" b="0" dirty="0" err="1"/>
              <a:t>근거가</a:t>
            </a:r>
            <a:r>
              <a:rPr sz="1200" b="0" dirty="0"/>
              <a:t> </a:t>
            </a:r>
            <a:r>
              <a:rPr sz="1200" b="0" dirty="0" err="1"/>
              <a:t>붙습니다</a:t>
            </a:r>
            <a:r>
              <a:rPr sz="1200" b="0" dirty="0"/>
              <a:t>.</a:t>
            </a:r>
          </a:p>
          <a:p>
            <a:pPr>
              <a:spcAft>
                <a:spcPts val="600"/>
              </a:spcAft>
            </a:pPr>
            <a:r>
              <a:rPr lang="ko-KR" altLang="en-US" sz="1200" b="1" dirty="0"/>
              <a:t>아직 실전에 적용되지 않는 데모 버전이라 데이터셋이 적지만</a:t>
            </a:r>
            <a:endParaRPr lang="en-US" altLang="ko-KR" sz="1200" b="1" dirty="0"/>
          </a:p>
          <a:p>
            <a:pPr>
              <a:spcAft>
                <a:spcPts val="600"/>
              </a:spcAft>
            </a:pPr>
            <a:r>
              <a:rPr sz="1200" b="1" dirty="0" err="1"/>
              <a:t>앞으로</a:t>
            </a:r>
            <a:r>
              <a:rPr sz="1200" b="1" dirty="0"/>
              <a:t> </a:t>
            </a:r>
            <a:r>
              <a:rPr sz="1200" b="1" dirty="0" err="1"/>
              <a:t>보실</a:t>
            </a:r>
            <a:r>
              <a:rPr sz="1200" b="1" dirty="0"/>
              <a:t> </a:t>
            </a:r>
            <a:r>
              <a:rPr sz="1200" b="1" dirty="0" err="1"/>
              <a:t>리뷰</a:t>
            </a:r>
            <a:r>
              <a:rPr sz="1200" b="1" dirty="0"/>
              <a:t> </a:t>
            </a:r>
            <a:r>
              <a:rPr lang="ko-KR" altLang="en-US" sz="1200" b="1" dirty="0" err="1"/>
              <a:t>청크</a:t>
            </a:r>
            <a:r>
              <a:rPr sz="1200" b="1" dirty="0"/>
              <a:t> 1,347개는 </a:t>
            </a:r>
            <a:r>
              <a:rPr sz="1200" b="1" dirty="0" err="1"/>
              <a:t>전부</a:t>
            </a:r>
            <a:r>
              <a:rPr sz="1200" b="1" dirty="0"/>
              <a:t> 이 </a:t>
            </a:r>
            <a:r>
              <a:rPr lang="ko-KR" altLang="en-US" sz="1200" b="1" dirty="0"/>
              <a:t>서비스의 </a:t>
            </a:r>
            <a:r>
              <a:rPr sz="1200" b="1" dirty="0" err="1"/>
              <a:t>운영</a:t>
            </a:r>
            <a:r>
              <a:rPr sz="1200" b="1" dirty="0"/>
              <a:t> </a:t>
            </a:r>
            <a:r>
              <a:rPr sz="1200" b="1" dirty="0" err="1"/>
              <a:t>데이터입니다</a:t>
            </a:r>
            <a:r>
              <a:rPr sz="1200" b="1" dirty="0"/>
              <a:t>.</a:t>
            </a:r>
          </a:p>
          <a:p>
            <a:pPr>
              <a:spcAft>
                <a:spcPts val="0"/>
              </a:spcAft>
            </a:pPr>
            <a:r>
              <a:rPr sz="1100" b="1" dirty="0"/>
              <a:t>→ </a:t>
            </a:r>
            <a:r>
              <a:rPr sz="1100" b="1" dirty="0" err="1"/>
              <a:t>다음</a:t>
            </a:r>
            <a:r>
              <a:rPr sz="1100" b="1" dirty="0"/>
              <a:t>: 9장 Performance Evaluation — </a:t>
            </a:r>
            <a:r>
              <a:rPr sz="1100" b="1" dirty="0" err="1"/>
              <a:t>실험</a:t>
            </a:r>
            <a:r>
              <a:rPr sz="1100" b="1" dirty="0"/>
              <a:t> </a:t>
            </a:r>
            <a:r>
              <a:rPr sz="1100" b="1" dirty="0" err="1"/>
              <a:t>설계</a:t>
            </a:r>
            <a:r>
              <a:rPr sz="1100" b="1" dirty="0"/>
              <a:t> (6:20)</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dirty="0"/>
              <a:t>[9/17] 6:20–7:15 · 55초 · Performance Evaluation — </a:t>
            </a:r>
            <a:r>
              <a:rPr sz="1200" b="1" dirty="0" err="1"/>
              <a:t>실험</a:t>
            </a:r>
            <a:r>
              <a:rPr sz="1200" b="1" dirty="0"/>
              <a:t> </a:t>
            </a:r>
            <a:r>
              <a:rPr sz="1200" b="1" dirty="0" err="1"/>
              <a:t>설계</a:t>
            </a:r>
            <a:endParaRPr sz="1200" b="1" dirty="0"/>
          </a:p>
          <a:p>
            <a:pPr>
              <a:spcAft>
                <a:spcPts val="600"/>
              </a:spcAft>
            </a:pPr>
            <a:r>
              <a:rPr sz="1200" b="1" dirty="0"/>
              <a:t>※ 이 </a:t>
            </a:r>
            <a:r>
              <a:rPr sz="1200" b="1" dirty="0" err="1"/>
              <a:t>장을</a:t>
            </a:r>
            <a:r>
              <a:rPr sz="1200" b="1" dirty="0"/>
              <a:t> </a:t>
            </a:r>
            <a:r>
              <a:rPr sz="1200" b="1" dirty="0" err="1"/>
              <a:t>넘길</a:t>
            </a:r>
            <a:r>
              <a:rPr sz="1200" b="1" dirty="0"/>
              <a:t> 때 7분 15초면 </a:t>
            </a:r>
            <a:r>
              <a:rPr sz="1200" b="1" dirty="0" err="1"/>
              <a:t>정상</a:t>
            </a:r>
            <a:r>
              <a:rPr sz="1200" b="1" dirty="0"/>
              <a:t> </a:t>
            </a:r>
            <a:r>
              <a:rPr sz="1200" b="1" dirty="0" err="1"/>
              <a:t>속도입니다</a:t>
            </a:r>
            <a:r>
              <a:rPr sz="1200" b="1" dirty="0"/>
              <a:t>.</a:t>
            </a:r>
          </a:p>
          <a:p>
            <a:pPr>
              <a:spcAft>
                <a:spcPts val="600"/>
              </a:spcAft>
            </a:pPr>
            <a:r>
              <a:rPr sz="1200" b="0" dirty="0" err="1"/>
              <a:t>실험</a:t>
            </a:r>
            <a:r>
              <a:rPr sz="1200" b="0" dirty="0"/>
              <a:t> </a:t>
            </a:r>
            <a:r>
              <a:rPr sz="1200" b="0" dirty="0" err="1"/>
              <a:t>설정입니다</a:t>
            </a:r>
            <a:r>
              <a:rPr sz="1200" b="0" dirty="0"/>
              <a:t>.</a:t>
            </a:r>
          </a:p>
          <a:p>
            <a:pPr>
              <a:spcAft>
                <a:spcPts val="600"/>
              </a:spcAft>
            </a:pPr>
            <a:r>
              <a:rPr sz="1200" b="0" dirty="0" err="1"/>
              <a:t>대상은</a:t>
            </a:r>
            <a:r>
              <a:rPr sz="1200" b="0" dirty="0"/>
              <a:t> </a:t>
            </a:r>
            <a:r>
              <a:rPr sz="1200" b="0" dirty="0" err="1"/>
              <a:t>방금</a:t>
            </a:r>
            <a:r>
              <a:rPr sz="1200" b="0" dirty="0"/>
              <a:t> </a:t>
            </a:r>
            <a:r>
              <a:rPr sz="1200" b="0" dirty="0" err="1"/>
              <a:t>말씀드린</a:t>
            </a:r>
            <a:r>
              <a:rPr sz="1200" b="0" dirty="0"/>
              <a:t> </a:t>
            </a:r>
            <a:r>
              <a:rPr sz="1200" b="1" dirty="0" err="1"/>
              <a:t>리뷰</a:t>
            </a:r>
            <a:r>
              <a:rPr sz="1200" b="1" dirty="0"/>
              <a:t> </a:t>
            </a:r>
            <a:r>
              <a:rPr lang="ko-KR" altLang="en-US" sz="1200" b="1" dirty="0" err="1"/>
              <a:t>청크</a:t>
            </a:r>
            <a:r>
              <a:rPr sz="1200" b="1" dirty="0"/>
              <a:t> 1,347개</a:t>
            </a:r>
            <a:r>
              <a:rPr sz="1200" b="0" dirty="0"/>
              <a:t>이고, </a:t>
            </a:r>
            <a:r>
              <a:rPr sz="1200" b="1" dirty="0" err="1"/>
              <a:t>미리</a:t>
            </a:r>
            <a:r>
              <a:rPr sz="1200" b="1" dirty="0"/>
              <a:t> </a:t>
            </a:r>
            <a:r>
              <a:rPr sz="1200" b="1" dirty="0" err="1"/>
              <a:t>정해</a:t>
            </a:r>
            <a:r>
              <a:rPr sz="1200" b="1" dirty="0"/>
              <a:t> 둔 </a:t>
            </a:r>
            <a:r>
              <a:rPr lang="en-US" sz="1200" b="1" dirty="0"/>
              <a:t>RAG LLM </a:t>
            </a:r>
            <a:r>
              <a:rPr sz="1200" b="1" dirty="0" err="1"/>
              <a:t>질문</a:t>
            </a:r>
            <a:r>
              <a:rPr lang="ko-KR" altLang="en-US" sz="1200" b="1" dirty="0"/>
              <a:t>쿼리</a:t>
            </a:r>
            <a:r>
              <a:rPr sz="1200" b="1" dirty="0"/>
              <a:t> 43개</a:t>
            </a:r>
            <a:r>
              <a:rPr sz="1200" b="0" dirty="0"/>
              <a:t>를 세 </a:t>
            </a:r>
            <a:r>
              <a:rPr sz="1200" b="0" dirty="0" err="1"/>
              <a:t>조건에</a:t>
            </a:r>
            <a:r>
              <a:rPr sz="1200" b="0" dirty="0"/>
              <a:t> </a:t>
            </a:r>
            <a:r>
              <a:rPr sz="1200" b="0" dirty="0" err="1"/>
              <a:t>똑같이</a:t>
            </a:r>
            <a:r>
              <a:rPr sz="1200" b="0" dirty="0"/>
              <a:t> </a:t>
            </a:r>
            <a:r>
              <a:rPr sz="1200" b="0" dirty="0" err="1"/>
              <a:t>던졌습니다</a:t>
            </a:r>
            <a:r>
              <a:rPr sz="1200" b="0" dirty="0"/>
              <a:t>.</a:t>
            </a:r>
          </a:p>
          <a:p>
            <a:pPr>
              <a:spcAft>
                <a:spcPts val="600"/>
              </a:spcAft>
            </a:pPr>
            <a:r>
              <a:rPr sz="1200" b="0" dirty="0" err="1"/>
              <a:t>질문의</a:t>
            </a:r>
            <a:r>
              <a:rPr sz="1200" b="0" dirty="0"/>
              <a:t> </a:t>
            </a:r>
            <a:r>
              <a:rPr sz="1200" b="0" dirty="0" err="1"/>
              <a:t>출처는</a:t>
            </a:r>
            <a:r>
              <a:rPr sz="1200" b="0" dirty="0"/>
              <a:t> </a:t>
            </a:r>
            <a:r>
              <a:rPr sz="1200" b="0" dirty="0" err="1"/>
              <a:t>분명히</a:t>
            </a:r>
            <a:r>
              <a:rPr sz="1200" b="0" dirty="0"/>
              <a:t> </a:t>
            </a:r>
            <a:r>
              <a:rPr sz="1200" b="0" dirty="0" err="1"/>
              <a:t>말씀드리겠습니다</a:t>
            </a:r>
            <a:r>
              <a:rPr sz="1200" b="0" dirty="0"/>
              <a:t>. </a:t>
            </a:r>
            <a:r>
              <a:rPr sz="1200" b="1" dirty="0"/>
              <a:t>13개는 </a:t>
            </a:r>
            <a:r>
              <a:rPr sz="1200" b="1" dirty="0" err="1"/>
              <a:t>실제</a:t>
            </a:r>
            <a:r>
              <a:rPr sz="1200" b="1" dirty="0"/>
              <a:t> </a:t>
            </a:r>
            <a:r>
              <a:rPr sz="1200" b="1" dirty="0" err="1"/>
              <a:t>서비스</a:t>
            </a:r>
            <a:r>
              <a:rPr sz="1200" b="1" dirty="0"/>
              <a:t> </a:t>
            </a:r>
            <a:r>
              <a:rPr sz="1200" b="1" dirty="0" err="1"/>
              <a:t>로그에서</a:t>
            </a:r>
            <a:r>
              <a:rPr sz="1200" b="1" dirty="0"/>
              <a:t> </a:t>
            </a:r>
            <a:r>
              <a:rPr sz="1200" b="1" dirty="0" err="1"/>
              <a:t>뽑았고</a:t>
            </a:r>
            <a:r>
              <a:rPr sz="1200" b="1" dirty="0"/>
              <a:t>, 30개는 </a:t>
            </a:r>
            <a:r>
              <a:rPr sz="1200" b="1" dirty="0" err="1"/>
              <a:t>평가</a:t>
            </a:r>
            <a:r>
              <a:rPr sz="1200" b="1" dirty="0"/>
              <a:t> </a:t>
            </a:r>
            <a:r>
              <a:rPr sz="1200" b="1" dirty="0" err="1"/>
              <a:t>항목과</a:t>
            </a:r>
            <a:r>
              <a:rPr sz="1200" b="1" dirty="0"/>
              <a:t> </a:t>
            </a:r>
            <a:r>
              <a:rPr sz="1200" b="1" dirty="0" err="1"/>
              <a:t>구매</a:t>
            </a:r>
            <a:r>
              <a:rPr sz="1200" b="1" dirty="0"/>
              <a:t> </a:t>
            </a:r>
            <a:r>
              <a:rPr sz="1200" b="1" dirty="0" err="1"/>
              <a:t>단계를</a:t>
            </a:r>
            <a:r>
              <a:rPr sz="1200" b="1" dirty="0"/>
              <a:t> </a:t>
            </a:r>
            <a:r>
              <a:rPr sz="1200" b="1" dirty="0" err="1"/>
              <a:t>고르게</a:t>
            </a:r>
            <a:r>
              <a:rPr sz="1200" b="1" dirty="0"/>
              <a:t> </a:t>
            </a:r>
            <a:r>
              <a:rPr sz="1200" b="1" dirty="0" err="1"/>
              <a:t>덮으려고</a:t>
            </a:r>
            <a:r>
              <a:rPr sz="1200" b="1" dirty="0"/>
              <a:t> </a:t>
            </a:r>
            <a:r>
              <a:rPr sz="1200" b="1" dirty="0" err="1"/>
              <a:t>저희가</a:t>
            </a:r>
            <a:r>
              <a:rPr sz="1200" b="1" dirty="0"/>
              <a:t> </a:t>
            </a:r>
            <a:r>
              <a:rPr sz="1200" b="1" dirty="0" err="1"/>
              <a:t>만들었습니다</a:t>
            </a:r>
            <a:r>
              <a:rPr sz="1200" b="1" dirty="0"/>
              <a:t>.</a:t>
            </a:r>
            <a:r>
              <a:rPr sz="1200" b="0" dirty="0"/>
              <a:t> 두 </a:t>
            </a:r>
            <a:r>
              <a:rPr sz="1200" b="0" dirty="0" err="1"/>
              <a:t>묶음이</a:t>
            </a:r>
            <a:r>
              <a:rPr sz="1200" b="0" dirty="0"/>
              <a:t> </a:t>
            </a:r>
            <a:r>
              <a:rPr sz="1200" b="0" dirty="0" err="1"/>
              <a:t>다르게</a:t>
            </a:r>
            <a:r>
              <a:rPr sz="1200" b="0" dirty="0"/>
              <a:t> </a:t>
            </a:r>
            <a:r>
              <a:rPr sz="1200" b="0" dirty="0" err="1"/>
              <a:t>행동하지</a:t>
            </a:r>
            <a:r>
              <a:rPr sz="1200" b="0" dirty="0"/>
              <a:t> </a:t>
            </a:r>
            <a:r>
              <a:rPr sz="1200" b="0" dirty="0" err="1"/>
              <a:t>않는지는</a:t>
            </a:r>
            <a:r>
              <a:rPr sz="1200" b="0" dirty="0"/>
              <a:t> </a:t>
            </a:r>
            <a:r>
              <a:rPr sz="1200" b="0" dirty="0" err="1"/>
              <a:t>따로</a:t>
            </a:r>
            <a:r>
              <a:rPr sz="1200" b="0" dirty="0"/>
              <a:t> </a:t>
            </a:r>
            <a:r>
              <a:rPr sz="1200" b="0" dirty="0" err="1"/>
              <a:t>확인했습니다</a:t>
            </a:r>
            <a:r>
              <a:rPr sz="1200" b="0" dirty="0"/>
              <a:t>.</a:t>
            </a:r>
          </a:p>
          <a:p>
            <a:pPr>
              <a:spcAft>
                <a:spcPts val="600"/>
              </a:spcAft>
            </a:pPr>
            <a:r>
              <a:rPr sz="1200" b="0" dirty="0" err="1"/>
              <a:t>지표는</a:t>
            </a:r>
            <a:r>
              <a:rPr sz="1200" b="0" dirty="0"/>
              <a:t> 세 </a:t>
            </a:r>
            <a:r>
              <a:rPr sz="1200" b="0" dirty="0" err="1"/>
              <a:t>가지입니다</a:t>
            </a:r>
            <a:r>
              <a:rPr sz="1200" b="0" dirty="0"/>
              <a:t>. </a:t>
            </a:r>
            <a:r>
              <a:rPr sz="1200" b="1" dirty="0" err="1"/>
              <a:t>결과가</a:t>
            </a:r>
            <a:r>
              <a:rPr sz="1200" b="1" dirty="0"/>
              <a:t> </a:t>
            </a:r>
            <a:r>
              <a:rPr sz="1200" b="1" dirty="0" err="1"/>
              <a:t>얼마나</a:t>
            </a:r>
            <a:r>
              <a:rPr sz="1200" b="1" dirty="0"/>
              <a:t> </a:t>
            </a:r>
            <a:r>
              <a:rPr sz="1200" b="1" dirty="0" err="1"/>
              <a:t>같은지</a:t>
            </a:r>
            <a:r>
              <a:rPr sz="1200" b="0" dirty="0"/>
              <a:t>, </a:t>
            </a:r>
            <a:r>
              <a:rPr sz="1200" b="1" dirty="0" err="1"/>
              <a:t>근거가</a:t>
            </a:r>
            <a:r>
              <a:rPr sz="1200" b="1" dirty="0"/>
              <a:t> </a:t>
            </a:r>
            <a:r>
              <a:rPr sz="1200" b="1" dirty="0" err="1"/>
              <a:t>질문에</a:t>
            </a:r>
            <a:r>
              <a:rPr sz="1200" b="1" dirty="0"/>
              <a:t> </a:t>
            </a:r>
            <a:r>
              <a:rPr sz="1200" b="1" dirty="0" err="1"/>
              <a:t>얼마나</a:t>
            </a:r>
            <a:r>
              <a:rPr sz="1200" b="1" dirty="0"/>
              <a:t> </a:t>
            </a:r>
            <a:r>
              <a:rPr sz="1200" b="1" dirty="0" err="1"/>
              <a:t>맞는지</a:t>
            </a:r>
            <a:r>
              <a:rPr sz="1200" b="0" dirty="0" err="1"/>
              <a:t>를</a:t>
            </a:r>
            <a:r>
              <a:rPr sz="1200" b="0" dirty="0"/>
              <a:t> 0점에서 2점으로 </a:t>
            </a:r>
            <a:r>
              <a:rPr sz="1200" b="0" dirty="0" err="1"/>
              <a:t>매긴</a:t>
            </a:r>
            <a:r>
              <a:rPr sz="1200" b="0" dirty="0"/>
              <a:t> 값, </a:t>
            </a:r>
            <a:r>
              <a:rPr sz="1200" b="0" dirty="0" err="1"/>
              <a:t>그리고</a:t>
            </a:r>
            <a:r>
              <a:rPr sz="1200" b="0" dirty="0"/>
              <a:t> </a:t>
            </a:r>
            <a:r>
              <a:rPr sz="1200" b="1" dirty="0" err="1"/>
              <a:t>검색에</a:t>
            </a:r>
            <a:r>
              <a:rPr sz="1200" b="1" dirty="0"/>
              <a:t> </a:t>
            </a:r>
            <a:r>
              <a:rPr sz="1200" b="1" dirty="0" err="1"/>
              <a:t>걸린</a:t>
            </a:r>
            <a:r>
              <a:rPr sz="1200" b="1" dirty="0"/>
              <a:t> </a:t>
            </a:r>
            <a:r>
              <a:rPr sz="1200" b="1" dirty="0" err="1"/>
              <a:t>시간</a:t>
            </a:r>
            <a:r>
              <a:rPr sz="1200" b="0" dirty="0" err="1"/>
              <a:t>입니다</a:t>
            </a:r>
            <a:r>
              <a:rPr sz="1200" b="0" dirty="0"/>
              <a:t>.</a:t>
            </a:r>
          </a:p>
          <a:p>
            <a:pPr>
              <a:spcAft>
                <a:spcPts val="600"/>
              </a:spcAft>
            </a:pPr>
            <a:r>
              <a:rPr sz="1200" b="0" dirty="0"/>
              <a:t>(</a:t>
            </a:r>
            <a:r>
              <a:rPr sz="1200" b="0" dirty="0" err="1"/>
              <a:t>표를</a:t>
            </a:r>
            <a:r>
              <a:rPr sz="1200" b="0" dirty="0"/>
              <a:t> </a:t>
            </a:r>
            <a:r>
              <a:rPr sz="1200" b="0" dirty="0" err="1"/>
              <a:t>짚으며</a:t>
            </a:r>
            <a:r>
              <a:rPr sz="1200" b="0" dirty="0"/>
              <a:t>) </a:t>
            </a:r>
            <a:r>
              <a:rPr sz="1200" b="1" dirty="0" err="1"/>
              <a:t>파란</a:t>
            </a:r>
            <a:r>
              <a:rPr sz="1200" b="1" dirty="0"/>
              <a:t> </a:t>
            </a:r>
            <a:r>
              <a:rPr sz="1200" b="1" dirty="0" err="1"/>
              <a:t>칸이</a:t>
            </a:r>
            <a:r>
              <a:rPr sz="1200" b="1" dirty="0"/>
              <a:t> </a:t>
            </a:r>
            <a:r>
              <a:rPr sz="1200" b="1" dirty="0" err="1"/>
              <a:t>저장소</a:t>
            </a:r>
            <a:r>
              <a:rPr sz="1200" b="1" dirty="0"/>
              <a:t> </a:t>
            </a:r>
            <a:r>
              <a:rPr sz="1200" b="1" dirty="0" err="1"/>
              <a:t>요인</a:t>
            </a:r>
            <a:r>
              <a:rPr sz="1200" b="1" dirty="0"/>
              <a:t>, </a:t>
            </a:r>
            <a:r>
              <a:rPr sz="1200" b="1" dirty="0" err="1"/>
              <a:t>붉은</a:t>
            </a:r>
            <a:r>
              <a:rPr sz="1200" b="1" dirty="0"/>
              <a:t> </a:t>
            </a:r>
            <a:r>
              <a:rPr sz="1200" b="1" dirty="0" err="1"/>
              <a:t>칸이</a:t>
            </a:r>
            <a:r>
              <a:rPr sz="1200" b="1" dirty="0"/>
              <a:t> </a:t>
            </a:r>
            <a:r>
              <a:rPr sz="1200" b="1" dirty="0" err="1"/>
              <a:t>위치</a:t>
            </a:r>
            <a:r>
              <a:rPr sz="1200" b="1" dirty="0"/>
              <a:t> </a:t>
            </a:r>
            <a:r>
              <a:rPr sz="1200" b="1" dirty="0" err="1"/>
              <a:t>요인으로</a:t>
            </a:r>
            <a:r>
              <a:rPr sz="1200" b="1" dirty="0"/>
              <a:t> </a:t>
            </a:r>
            <a:r>
              <a:rPr sz="1200" b="1" dirty="0" err="1"/>
              <a:t>바뀐</a:t>
            </a:r>
            <a:r>
              <a:rPr sz="1200" b="1" dirty="0"/>
              <a:t> </a:t>
            </a:r>
            <a:r>
              <a:rPr sz="1200" b="1" dirty="0" err="1"/>
              <a:t>항목</a:t>
            </a:r>
            <a:r>
              <a:rPr sz="1200" b="0" dirty="0" err="1"/>
              <a:t>입니다</a:t>
            </a:r>
            <a:r>
              <a:rPr sz="1200" b="0" dirty="0"/>
              <a:t>. </a:t>
            </a:r>
            <a:r>
              <a:rPr sz="1200" b="0" dirty="0" err="1"/>
              <a:t>색이</a:t>
            </a:r>
            <a:r>
              <a:rPr sz="1200" b="0" dirty="0"/>
              <a:t> </a:t>
            </a:r>
            <a:r>
              <a:rPr sz="1200" b="0" dirty="0" err="1"/>
              <a:t>없는</a:t>
            </a:r>
            <a:r>
              <a:rPr sz="1200" b="0" dirty="0"/>
              <a:t> </a:t>
            </a:r>
            <a:r>
              <a:rPr sz="1200" b="0" dirty="0" err="1"/>
              <a:t>칸은</a:t>
            </a:r>
            <a:r>
              <a:rPr sz="1200" b="0" dirty="0"/>
              <a:t> 세 </a:t>
            </a:r>
            <a:r>
              <a:rPr sz="1200" b="0" dirty="0" err="1"/>
              <a:t>조건에서</a:t>
            </a:r>
            <a:r>
              <a:rPr sz="1200" b="0" dirty="0"/>
              <a:t> </a:t>
            </a:r>
            <a:r>
              <a:rPr sz="1200" b="0" dirty="0" err="1"/>
              <a:t>그대로입니다</a:t>
            </a:r>
            <a:r>
              <a:rPr sz="1200" b="0" dirty="0"/>
              <a:t>.</a:t>
            </a:r>
          </a:p>
          <a:p>
            <a:pPr>
              <a:spcAft>
                <a:spcPts val="600"/>
              </a:spcAft>
            </a:pPr>
            <a:r>
              <a:rPr sz="1200" b="0" dirty="0"/>
              <a:t>〈</a:t>
            </a:r>
            <a:r>
              <a:rPr sz="1200" b="0" dirty="0" err="1"/>
              <a:t>생략</a:t>
            </a:r>
            <a:r>
              <a:rPr sz="1200" b="0" dirty="0"/>
              <a:t> </a:t>
            </a:r>
            <a:r>
              <a:rPr sz="1200" b="0" dirty="0" err="1"/>
              <a:t>가능</a:t>
            </a:r>
            <a:r>
              <a:rPr sz="1200" b="0" dirty="0"/>
              <a:t>〉 </a:t>
            </a:r>
            <a:r>
              <a:rPr sz="1200" b="0" dirty="0" err="1"/>
              <a:t>측정은</a:t>
            </a:r>
            <a:r>
              <a:rPr sz="1200" b="0" dirty="0"/>
              <a:t> </a:t>
            </a:r>
            <a:r>
              <a:rPr sz="1200" b="0" dirty="0" err="1"/>
              <a:t>가장</a:t>
            </a:r>
            <a:r>
              <a:rPr sz="1200" b="0" dirty="0"/>
              <a:t> </a:t>
            </a:r>
            <a:r>
              <a:rPr sz="1200" b="0" dirty="0" err="1"/>
              <a:t>낮은</a:t>
            </a:r>
            <a:r>
              <a:rPr sz="1200" b="0" dirty="0"/>
              <a:t> </a:t>
            </a:r>
            <a:r>
              <a:rPr sz="1200" b="0" dirty="0" err="1"/>
              <a:t>등급</a:t>
            </a:r>
            <a:r>
              <a:rPr sz="1200" b="0" dirty="0"/>
              <a:t> </a:t>
            </a:r>
            <a:r>
              <a:rPr sz="1200" b="0" dirty="0" err="1"/>
              <a:t>인스턴스에서</a:t>
            </a:r>
            <a:r>
              <a:rPr sz="1200" b="0" dirty="0"/>
              <a:t> </a:t>
            </a:r>
            <a:r>
              <a:rPr sz="1200" b="0" dirty="0" err="1"/>
              <a:t>했습니다</a:t>
            </a:r>
            <a:r>
              <a:rPr sz="1200" b="0" dirty="0"/>
              <a:t>.</a:t>
            </a:r>
          </a:p>
          <a:p>
            <a:pPr>
              <a:spcAft>
                <a:spcPts val="0"/>
              </a:spcAft>
            </a:pPr>
            <a:r>
              <a:rPr sz="1100" b="1" dirty="0"/>
              <a:t>→ </a:t>
            </a:r>
            <a:r>
              <a:rPr sz="1100" b="1" dirty="0" err="1"/>
              <a:t>다음</a:t>
            </a:r>
            <a:r>
              <a:rPr sz="1100" b="1" dirty="0"/>
              <a:t>: 10장 Experiment Result — </a:t>
            </a:r>
            <a:r>
              <a:rPr sz="1100" b="1" dirty="0" err="1"/>
              <a:t>저장소</a:t>
            </a:r>
            <a:r>
              <a:rPr sz="1100" b="1" dirty="0"/>
              <a:t> </a:t>
            </a:r>
            <a:r>
              <a:rPr sz="1100" b="1" dirty="0" err="1"/>
              <a:t>요인</a:t>
            </a:r>
            <a:r>
              <a:rPr sz="1100" b="1" dirty="0"/>
              <a:t> ★ (7:15)</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[10/17] 7:15–8:25 · 70초 · Experiment Result — 저장소 요인 ★</a:t>
            </a:r>
          </a:p>
          <a:p>
            <a:pPr>
              <a:spcAft>
                <a:spcPts val="600"/>
              </a:spcAft>
            </a:pPr>
            <a:r>
              <a:rPr sz="1200" b="0"/>
              <a:t>첫 번째 결과입니다. </a:t>
            </a:r>
            <a:r>
              <a:rPr sz="1200" b="1"/>
              <a:t>저장소만 바꾼 A에서 B 구간입니다.</a:t>
            </a:r>
          </a:p>
          <a:p>
            <a:pPr>
              <a:spcAft>
                <a:spcPts val="600"/>
              </a:spcAft>
            </a:pPr>
            <a:r>
              <a:rPr sz="1200" b="0"/>
              <a:t>결론부터 말씀드리면 </a:t>
            </a:r>
            <a:r>
              <a:rPr sz="1200" b="1"/>
              <a:t>품질 변화가 검출되지 않았습니다.</a:t>
            </a:r>
          </a:p>
          <a:p>
            <a:pPr>
              <a:spcAft>
                <a:spcPts val="600"/>
              </a:spcAft>
            </a:pPr>
            <a:r>
              <a:rPr sz="1200" b="0"/>
              <a:t>상위 10개 결과가 얼마나 겹치는지를 보면 </a:t>
            </a:r>
            <a:r>
              <a:rPr sz="1200" b="1"/>
              <a:t>0.971</a:t>
            </a:r>
            <a:r>
              <a:rPr sz="1200" b="0"/>
              <a:t>입니다. </a:t>
            </a:r>
            <a:r>
              <a:rPr sz="1200" b="1"/>
              <a:t>같은 벡터를 실었을 때 두 저장소는 질문 43개 가운데 37개에서 상위 10개가 정확히 똑같았습니다.</a:t>
            </a:r>
          </a:p>
          <a:p>
            <a:pPr>
              <a:spcAft>
                <a:spcPts val="600"/>
              </a:spcAft>
            </a:pPr>
            <a:r>
              <a:rPr sz="1200" b="0"/>
              <a:t>근거가 질문에 얼마나 맞는지도 비교했는데 </a:t>
            </a:r>
            <a:r>
              <a:rPr sz="1200" b="1"/>
              <a:t>p값이 0.523</a:t>
            </a:r>
            <a:r>
              <a:rPr sz="1200" b="0"/>
              <a:t>입니다. 차이라고 부를 만한 것이 없었다는 뜻이고, p값은 다음 장에서 설명드리겠습니다.</a:t>
            </a:r>
          </a:p>
          <a:p>
            <a:pPr>
              <a:spcAft>
                <a:spcPts val="600"/>
              </a:spcAft>
            </a:pPr>
            <a:r>
              <a:rPr sz="1200" b="0"/>
              <a:t>나머지 6개에서 차이가 난 이유는 기존 시스템이 빠르게 찾는 대신 가끔 놓치는 방식을 쓰기 때문입니다. </a:t>
            </a:r>
            <a:r>
              <a:rPr sz="1200" b="1"/>
              <a:t>놓친 양은 대략 1.6퍼센트였습니다.</a:t>
            </a:r>
          </a:p>
          <a:p>
            <a:pPr>
              <a:spcAft>
                <a:spcPts val="600"/>
              </a:spcAft>
            </a:pPr>
            <a:r>
              <a:rPr sz="1200" b="0"/>
              <a:t>시간도 말씀드리면 </a:t>
            </a:r>
            <a:r>
              <a:rPr sz="1200" b="1"/>
              <a:t>150밀리초에서 110밀리초로 오히려 조금 빨라졌습니다.</a:t>
            </a:r>
            <a:r>
              <a:rPr sz="1200" b="0"/>
              <a:t> 저장소만 바꾸는 선택에서는 잃은 것이 없었습니다.</a:t>
            </a:r>
          </a:p>
          <a:p>
            <a:pPr>
              <a:spcAft>
                <a:spcPts val="0"/>
              </a:spcAft>
            </a:pPr>
            <a:r>
              <a:rPr sz="1100" b="1"/>
              <a:t>→ 다음: 11장 Experiment Result — 지표 해설 ① (8:25)</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[11/17] 8:25–9:20 · 55초 · Experiment Result — 지표 해설 ①</a:t>
            </a:r>
          </a:p>
          <a:p>
            <a:pPr>
              <a:spcAft>
                <a:spcPts val="600"/>
              </a:spcAft>
            </a:pPr>
            <a:r>
              <a:rPr sz="1200" b="1"/>
              <a:t>※ 숫자를 처음 자세히 다루는 자리입니다. 서두르지 말고 천천히 갑니다.</a:t>
            </a:r>
          </a:p>
          <a:p>
            <a:pPr>
              <a:spcAft>
                <a:spcPts val="600"/>
              </a:spcAft>
            </a:pPr>
            <a:r>
              <a:rPr sz="1200" b="0"/>
              <a:t>방금 나온 숫자 두 개를 설명드리겠습니다.</a:t>
            </a:r>
          </a:p>
          <a:p>
            <a:pPr>
              <a:spcAft>
                <a:spcPts val="600"/>
              </a:spcAft>
            </a:pPr>
            <a:r>
              <a:rPr sz="1200" b="0"/>
              <a:t>(왼쪽) 첫 번째는 </a:t>
            </a:r>
            <a:r>
              <a:rPr sz="1200" b="1"/>
              <a:t>두 목록이 얼마나 겹치는지</a:t>
            </a:r>
            <a:r>
              <a:rPr sz="1200" b="0"/>
              <a:t>입니다. 완전히 같으면 1, 하나도 안 겹치면 0입니다. 지금은 1에 가깝습니다.</a:t>
            </a:r>
          </a:p>
          <a:p>
            <a:pPr>
              <a:spcAft>
                <a:spcPts val="600"/>
              </a:spcAft>
            </a:pPr>
            <a:r>
              <a:rPr sz="1200" b="0"/>
              <a:t>(오른쪽) 두 번째가 </a:t>
            </a:r>
            <a:r>
              <a:rPr sz="1200" b="1"/>
              <a:t>p값</a:t>
            </a:r>
            <a:r>
              <a:rPr sz="1200" b="0"/>
              <a:t>입니다.</a:t>
            </a:r>
          </a:p>
          <a:p>
            <a:pPr>
              <a:spcAft>
                <a:spcPts val="600"/>
              </a:spcAft>
            </a:pPr>
            <a:r>
              <a:rPr sz="1200" b="0"/>
              <a:t>저희가 쓴 질문 43개는 가능한 질문 가운데 </a:t>
            </a:r>
            <a:r>
              <a:rPr sz="1200" b="1"/>
              <a:t>일부를 뽑아 온 것</a:t>
            </a:r>
            <a:r>
              <a:rPr sz="1200" b="0"/>
              <a:t>입니다. 다른 43개였다면 숫자도 조금 달라졌을 것입니다. 그래서 </a:t>
            </a:r>
            <a:r>
              <a:rPr sz="1200" b="1"/>
              <a:t>두 조건이 사실은 똑같다고 가정하고</a:t>
            </a:r>
            <a:r>
              <a:rPr sz="1200" b="0"/>
              <a:t>, 질문을 다시 뽑는 일을 반복하면 </a:t>
            </a:r>
            <a:r>
              <a:rPr sz="1200" b="1"/>
              <a:t>이만한 차이가 얼마나 자주 나오는지</a:t>
            </a:r>
            <a:r>
              <a:rPr sz="1200" b="0"/>
              <a:t>를 봅니다. 그 비율이 p값입니다.</a:t>
            </a:r>
          </a:p>
          <a:p>
            <a:pPr>
              <a:spcAft>
                <a:spcPts val="600"/>
              </a:spcAft>
            </a:pPr>
            <a:r>
              <a:rPr sz="1200" b="0"/>
              <a:t>자주 나오면 우연으로 설명되고, 드물면 우연이라고 보기 어렵습니다.</a:t>
            </a:r>
          </a:p>
          <a:p>
            <a:pPr>
              <a:spcAft>
                <a:spcPts val="600"/>
              </a:spcAft>
            </a:pPr>
            <a:r>
              <a:rPr sz="1200" b="0"/>
              <a:t>(그림을 짚으며) 회색 막대가 </a:t>
            </a:r>
            <a:r>
              <a:rPr sz="1200" b="1"/>
              <a:t>우연이 만들 수 있는 차이들</a:t>
            </a:r>
            <a:r>
              <a:rPr sz="1200" b="0"/>
              <a:t>이고, 관측값은 그 </a:t>
            </a:r>
            <a:r>
              <a:rPr sz="1200" b="1"/>
              <a:t>한가운데</a:t>
            </a:r>
            <a:r>
              <a:rPr sz="1200" b="0"/>
              <a:t>에 있습니다.</a:t>
            </a:r>
          </a:p>
          <a:p>
            <a:pPr>
              <a:spcAft>
                <a:spcPts val="600"/>
              </a:spcAft>
            </a:pPr>
            <a:r>
              <a:rPr sz="1200" b="0"/>
              <a:t>같은 잣대를 다음 장에서 위치 요인에 대 보겠습니다.</a:t>
            </a:r>
          </a:p>
          <a:p>
            <a:pPr>
              <a:spcAft>
                <a:spcPts val="0"/>
              </a:spcAft>
            </a:pPr>
            <a:r>
              <a:rPr sz="1100" b="1"/>
              <a:t>→ 다음: 12장 Experiment Result — 위치 요인 ★ (9:20)</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[12/17] 9:20–10:40 · 80초 · Experiment Result — 위치 요인 ★</a:t>
            </a:r>
          </a:p>
          <a:p>
            <a:pPr>
              <a:spcAft>
                <a:spcPts val="600"/>
              </a:spcAft>
            </a:pPr>
            <a:r>
              <a:rPr sz="1200" b="0"/>
              <a:t>두 번째 결과입니다. </a:t>
            </a:r>
            <a:r>
              <a:rPr sz="1200" b="1"/>
              <a:t>임베딩 위치만 바꾼 B에서 C 구간입니다.</a:t>
            </a:r>
          </a:p>
          <a:p>
            <a:pPr>
              <a:spcAft>
                <a:spcPts val="600"/>
              </a:spcAft>
            </a:pPr>
            <a:r>
              <a:rPr sz="1200" b="1"/>
              <a:t>여기서는 결과가 확연히 달라집니다.</a:t>
            </a:r>
          </a:p>
          <a:p>
            <a:pPr>
              <a:spcAft>
                <a:spcPts val="600"/>
              </a:spcAft>
            </a:pPr>
            <a:r>
              <a:rPr sz="1200" b="0"/>
              <a:t>방금 0.971이던 겹침이 </a:t>
            </a:r>
            <a:r>
              <a:rPr sz="1200" b="1"/>
              <a:t>0.175로 떨어졌습니다.</a:t>
            </a:r>
            <a:r>
              <a:rPr sz="1200" b="0"/>
              <a:t> 거의 딴 목록이 돌아왔다는 뜻입니다.</a:t>
            </a:r>
          </a:p>
          <a:p>
            <a:pPr>
              <a:spcAft>
                <a:spcPts val="600"/>
              </a:spcAft>
            </a:pPr>
            <a:r>
              <a:rPr sz="1200" b="0"/>
              <a:t>근거의 품질도 </a:t>
            </a:r>
            <a:r>
              <a:rPr sz="1200" b="1"/>
              <a:t>1.27점에서 1.01점으로, 약 20퍼센트 떨어졌습니다.</a:t>
            </a:r>
            <a:r>
              <a:rPr sz="1200" b="0"/>
              <a:t> p값은 </a:t>
            </a:r>
            <a:r>
              <a:rPr sz="1200" b="1"/>
              <a:t>0.003</a:t>
            </a:r>
            <a:r>
              <a:rPr sz="1200" b="0"/>
              <a:t>이라 우연으로 보기 어렵고, 차이의 크기도 중간 정도입니다.</a:t>
            </a:r>
          </a:p>
          <a:p>
            <a:pPr>
              <a:spcAft>
                <a:spcPts val="600"/>
              </a:spcAft>
            </a:pPr>
            <a:r>
              <a:rPr sz="1200" b="0"/>
              <a:t>시간은 더 크게 벌어집니다. </a:t>
            </a:r>
            <a:r>
              <a:rPr sz="1200" b="1"/>
              <a:t>110밀리초에서 950밀리초로, 여덟 배 넘게 느려졌습니다.</a:t>
            </a:r>
            <a:r>
              <a:rPr sz="1200" b="0"/>
              <a:t> 다만 가장 낮은 등급 인스턴스에서 모델을 돌린 결과이므로 </a:t>
            </a:r>
            <a:r>
              <a:rPr sz="1200" b="1"/>
              <a:t>장비를 올리면 달라질 수 있는 숫자</a:t>
            </a:r>
            <a:r>
              <a:rPr sz="1200" b="0"/>
              <a:t>입니다.</a:t>
            </a:r>
          </a:p>
          <a:p>
            <a:pPr>
              <a:spcAft>
                <a:spcPts val="600"/>
              </a:spcAft>
            </a:pPr>
            <a:r>
              <a:rPr sz="1200" b="0"/>
              <a:t>강조드리고 싶은 것은 이것입니다. </a:t>
            </a:r>
            <a:r>
              <a:rPr sz="1200" b="1"/>
              <a:t>저장소도 같고 검색 방식도 같은데 같은 질문에 대체로 다른 근거가 돌아왔습니다.</a:t>
            </a:r>
            <a:r>
              <a:rPr sz="1200" b="0"/>
              <a:t> 앞 구간에서 저장소 효과가 검출되지 않았으므로, </a:t>
            </a:r>
            <a:r>
              <a:rPr sz="1200" b="1"/>
              <a:t>관측된 변화는 사실상 전부 임베딩 위치와 거기 딸려 온 모델 크기 제한에서 나온 것</a:t>
            </a:r>
            <a:r>
              <a:rPr sz="1200" b="0"/>
              <a:t>입니다.</a:t>
            </a:r>
          </a:p>
          <a:p>
            <a:pPr>
              <a:spcAft>
                <a:spcPts val="600"/>
              </a:spcAft>
            </a:pPr>
            <a:r>
              <a:rPr sz="1200" b="1"/>
              <a:t>※ 여기서 한 박자 쉬고, 청중을 보며 말합니다.</a:t>
            </a:r>
          </a:p>
          <a:p>
            <a:pPr>
              <a:spcAft>
                <a:spcPts val="600"/>
              </a:spcAft>
            </a:pPr>
            <a:r>
              <a:rPr sz="1200" b="0"/>
              <a:t>만약 앞뒤만 비교했다면 어땠을까요. </a:t>
            </a:r>
            <a:r>
              <a:rPr sz="1200" b="1"/>
              <a:t>저장소 탓으로 돌렸을 것입니다.</a:t>
            </a:r>
            <a:r>
              <a:rPr sz="1200" b="0"/>
              <a:t> 그리고 저장소를 되돌렸겠지만 품질은 돌아오지 않았을 것입니다.</a:t>
            </a:r>
          </a:p>
          <a:p>
            <a:pPr>
              <a:spcAft>
                <a:spcPts val="0"/>
              </a:spcAft>
            </a:pPr>
            <a:r>
              <a:rPr sz="1100" b="1"/>
              <a:t>→ 다음: 13장 Experiment Result — 지표 해설 ② (10:40)</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[13/17] 10:40–11:15 · 35초 · Experiment Result — 지표 해설 ②</a:t>
            </a:r>
          </a:p>
          <a:p>
            <a:pPr>
              <a:spcAft>
                <a:spcPts val="600"/>
              </a:spcAft>
            </a:pPr>
            <a:r>
              <a:rPr sz="1200" b="0"/>
              <a:t>앞 장의 두 지표를 위치 요인에 그대로 적용한 그림입니다.</a:t>
            </a:r>
          </a:p>
          <a:p>
            <a:pPr>
              <a:spcAft>
                <a:spcPts val="600"/>
              </a:spcAft>
            </a:pPr>
            <a:r>
              <a:rPr sz="1200" b="0"/>
              <a:t>(왼쪽) 겹침이 0.971에서 0.175로 떨어졌습니다. </a:t>
            </a:r>
            <a:r>
              <a:rPr sz="1200" b="1"/>
              <a:t>두 목록을 합치면 17개인데 겹치는 것은 3개뿐입니다.</a:t>
            </a:r>
          </a:p>
          <a:p>
            <a:pPr>
              <a:spcAft>
                <a:spcPts val="600"/>
              </a:spcAft>
            </a:pPr>
            <a:r>
              <a:rPr sz="1200" b="0"/>
              <a:t>(오른쪽) p값은 0.523에서 0.003으로 내려갔습니다. 관측값이 </a:t>
            </a:r>
            <a:r>
              <a:rPr sz="1200" b="1"/>
              <a:t>우연이 만들 수 있는 차이들 거의 전부보다 바깥에</a:t>
            </a:r>
            <a:r>
              <a:rPr sz="1200" b="0"/>
              <a:t> 나가 있습니다.</a:t>
            </a:r>
          </a:p>
          <a:p>
            <a:pPr>
              <a:spcAft>
                <a:spcPts val="600"/>
              </a:spcAft>
            </a:pPr>
            <a:r>
              <a:rPr sz="1200" b="1"/>
              <a:t>같은 잣대를 댔는데 이만큼 다른 그림이 나온다</a:t>
            </a:r>
            <a:r>
              <a:rPr sz="1200" b="0"/>
              <a:t>는 것이 이 방법의 요점입니다.</a:t>
            </a:r>
          </a:p>
          <a:p>
            <a:pPr>
              <a:spcAft>
                <a:spcPts val="0"/>
              </a:spcAft>
            </a:pPr>
            <a:r>
              <a:rPr sz="1100" b="1"/>
              <a:t>→ 다음: 14장 Experiment Result — 등가성 검정 (11:15)</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[14/17] 11:15–12:20 · 65초 · Experiment Result — 등가성 검정</a:t>
            </a:r>
          </a:p>
          <a:p>
            <a:pPr>
              <a:spcAft>
                <a:spcPts val="600"/>
              </a:spcAft>
            </a:pPr>
            <a:r>
              <a:rPr sz="1200" b="0"/>
              <a:t>여기서 조심스럽게 말씀드릴 부분이 있습니다.</a:t>
            </a:r>
          </a:p>
          <a:p>
            <a:pPr>
              <a:spcAft>
                <a:spcPts val="600"/>
              </a:spcAft>
            </a:pPr>
            <a:r>
              <a:rPr sz="1200" b="0"/>
              <a:t>앞에서 저장소 요인은 차이가 검출되지 않았다고 했는데, </a:t>
            </a:r>
            <a:r>
              <a:rPr sz="1200" b="1"/>
              <a:t>"못 찾았다"와 "없다"는 다른 말입니다.</a:t>
            </a:r>
            <a:r>
              <a:rPr sz="1200" b="0"/>
              <a:t> 데이터가 부족해서 못 찾았을 수도 있습니다.</a:t>
            </a:r>
          </a:p>
          <a:p>
            <a:pPr>
              <a:spcAft>
                <a:spcPts val="600"/>
              </a:spcAft>
            </a:pPr>
            <a:r>
              <a:rPr sz="1200" b="0"/>
              <a:t>그래서 </a:t>
            </a:r>
            <a:r>
              <a:rPr sz="1200" b="1"/>
              <a:t>"차이가 없다"를 주장하려면 검정을 따로 해야 합니다.</a:t>
            </a:r>
            <a:r>
              <a:rPr sz="1200" b="0"/>
              <a:t> 2점 만점에서 </a:t>
            </a:r>
            <a:r>
              <a:rPr sz="1200" b="1"/>
              <a:t>플러스마이너스 0.15점 안쪽이면 같다고 보자</a:t>
            </a:r>
            <a:r>
              <a:rPr sz="1200" b="0"/>
              <a:t>고 기준을 정하고 등가성 검정을 했습니다.</a:t>
            </a:r>
          </a:p>
          <a:p>
            <a:pPr>
              <a:spcAft>
                <a:spcPts val="600"/>
              </a:spcAft>
            </a:pPr>
            <a:r>
              <a:rPr sz="1200" b="0"/>
              <a:t>(파란 띠를 짚으며) 옅은 띠가 그 기준입니다. </a:t>
            </a:r>
            <a:r>
              <a:rPr sz="1200" b="1"/>
              <a:t>신뢰구간이 띠 안에 통째로 들어와야 하는데, 왼쪽 끝이 조금 나가 있습니다.</a:t>
            </a:r>
            <a:r>
              <a:rPr sz="1200" b="0"/>
              <a:t> p값 0.052로, 기준선 0.05를 아슬아슬하게 넘지 못했습니다.</a:t>
            </a:r>
          </a:p>
          <a:p>
            <a:pPr>
              <a:spcAft>
                <a:spcPts val="600"/>
              </a:spcAft>
            </a:pPr>
            <a:r>
              <a:rPr sz="1200" b="0"/>
              <a:t>그래서 이렇게 보고합니다. </a:t>
            </a:r>
            <a:r>
              <a:rPr sz="1200" b="1"/>
              <a:t>"같다는 것이 입증되었다"가 아니라, "차이를 찾지 못했고 있더라도 이 정도 안쪽이다"입니다.</a:t>
            </a:r>
          </a:p>
          <a:p>
            <a:pPr>
              <a:spcAft>
                <a:spcPts val="600"/>
              </a:spcAft>
            </a:pPr>
            <a:r>
              <a:rPr sz="1200" b="0"/>
              <a:t>다만 구간이 뻗은 방향은 </a:t>
            </a:r>
            <a:r>
              <a:rPr sz="1200" b="1"/>
              <a:t>새 저장소 쪽이 더 높은 방향</a:t>
            </a:r>
            <a:r>
              <a:rPr sz="1200" b="0"/>
              <a:t>입니다. </a:t>
            </a:r>
            <a:r>
              <a:rPr sz="1200" b="1"/>
              <a:t>저장소를 바꿔서 품질이 나빠졌다고 볼 근거는 없습니다.</a:t>
            </a:r>
          </a:p>
          <a:p>
            <a:pPr>
              <a:spcAft>
                <a:spcPts val="0"/>
              </a:spcAft>
            </a:pPr>
            <a:r>
              <a:rPr sz="1100" b="1"/>
              <a:t>→ 다음: 15장 Conclusion ★ (12:20)</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[15/17] 12:20–13:50 · 90초 · Conclusion ★</a:t>
            </a:r>
          </a:p>
          <a:p>
            <a:pPr>
              <a:spcAft>
                <a:spcPts val="600"/>
              </a:spcAft>
            </a:pPr>
            <a:r>
              <a:rPr sz="1200" b="1"/>
              <a:t>※ 마지막 장입니다. 정리 부분과 판단 기준 사이에서 한 번 호흡을 둡니다.</a:t>
            </a:r>
          </a:p>
          <a:p>
            <a:pPr>
              <a:spcAft>
                <a:spcPts val="600"/>
              </a:spcAft>
            </a:pPr>
            <a:r>
              <a:rPr sz="1200" b="0"/>
              <a:t>정리하겠습니다.</a:t>
            </a:r>
          </a:p>
          <a:p>
            <a:pPr>
              <a:spcAft>
                <a:spcPts val="600"/>
              </a:spcAft>
            </a:pPr>
            <a:r>
              <a:rPr sz="1200" b="1"/>
              <a:t>방법 면에서는</a:t>
            </a:r>
            <a:r>
              <a:rPr sz="1200" b="0"/>
              <a:t>, 중간에 조건 하나를 두는 것만으로 </a:t>
            </a:r>
            <a:r>
              <a:rPr sz="1200" b="1"/>
              <a:t>앞뒤 비교 한 번이 한 요인씩 보는 비교 두 번으로 나뉩니다.</a:t>
            </a:r>
          </a:p>
          <a:p>
            <a:pPr>
              <a:spcAft>
                <a:spcPts val="600"/>
              </a:spcAft>
            </a:pPr>
            <a:r>
              <a:rPr sz="1200" b="1"/>
              <a:t>관측 면에서는</a:t>
            </a:r>
            <a:r>
              <a:rPr sz="1200" b="0"/>
              <a:t>, 저장소 교체만으로는 품질 변화가 검출되지 않았고 </a:t>
            </a:r>
            <a:r>
              <a:rPr sz="1200" b="1"/>
              <a:t>변화가 전부 임베딩 위치에서 나왔습니다.</a:t>
            </a:r>
          </a:p>
          <a:p>
            <a:pPr>
              <a:spcAft>
                <a:spcPts val="600"/>
              </a:spcAft>
            </a:pPr>
            <a:r>
              <a:rPr sz="1200" b="0"/>
              <a:t>드리고 싶은 문장은 이것입니다. </a:t>
            </a:r>
            <a:r>
              <a:rPr sz="1200" b="1"/>
              <a:t>임베딩을 안으로 들이는 것은 성능을 사는 거래가 아니라, 데이터를 경계 안에 두는 대가로 성능을 내주는 거래입니다.</a:t>
            </a:r>
            <a:r>
              <a:rPr sz="1200" b="0"/>
              <a:t> 저희가 치른 값은 </a:t>
            </a:r>
            <a:r>
              <a:rPr sz="1200" b="1"/>
              <a:t>근거 품질 20퍼센트와 검색 시간 여덟 배</a:t>
            </a:r>
            <a:r>
              <a:rPr sz="1200" b="0"/>
              <a:t>였습니다.</a:t>
            </a:r>
          </a:p>
          <a:p>
            <a:pPr>
              <a:spcAft>
                <a:spcPts val="600"/>
              </a:spcAft>
            </a:pPr>
            <a:r>
              <a:rPr sz="1200" b="1"/>
              <a:t>※ 여기서 한 박자 쉽니다.</a:t>
            </a:r>
          </a:p>
          <a:p>
            <a:pPr>
              <a:spcAft>
                <a:spcPts val="600"/>
              </a:spcAft>
            </a:pPr>
            <a:r>
              <a:rPr sz="1200" b="0"/>
              <a:t>실무 판단 기준으로는 이렇게 됩니다.</a:t>
            </a:r>
          </a:p>
          <a:p>
            <a:pPr>
              <a:spcAft>
                <a:spcPts val="600"/>
              </a:spcAft>
            </a:pPr>
            <a:r>
              <a:rPr sz="1200" b="1"/>
              <a:t>저장해 둔 데이터만 경계 안에 두면 되는 경우라면, 저장소만 바꾸는 것으로 충분합니다.</a:t>
            </a:r>
          </a:p>
          <a:p>
            <a:pPr>
              <a:spcAft>
                <a:spcPts val="600"/>
              </a:spcAft>
            </a:pPr>
            <a:r>
              <a:rPr sz="1200" b="1"/>
              <a:t>질의 경로까지 안에 두어야 한다면, 옮기기 전에 모델 크기가 충분한지 확인하셔야 합니다.</a:t>
            </a:r>
            <a:r>
              <a:rPr sz="1200" b="0"/>
              <a:t> 중간 조건은 그 확인을 </a:t>
            </a:r>
            <a:r>
              <a:rPr sz="1200" b="1"/>
              <a:t>옮기기 전에</a:t>
            </a:r>
            <a:r>
              <a:rPr sz="1200" b="0"/>
              <a:t> 할 수 있게 해 줍니다.</a:t>
            </a:r>
          </a:p>
          <a:p>
            <a:pPr>
              <a:spcAft>
                <a:spcPts val="600"/>
              </a:spcAft>
            </a:pPr>
            <a:r>
              <a:rPr sz="1200" b="0"/>
              <a:t>한계를 분명히 말씀드리겠습니다. </a:t>
            </a:r>
            <a:r>
              <a:rPr sz="1200" b="1"/>
              <a:t>한 도메인의 한국어 데이터 하나</a:t>
            </a:r>
            <a:r>
              <a:rPr sz="1200" b="0"/>
              <a:t>에서 얻은 결과이고, </a:t>
            </a:r>
            <a:r>
              <a:rPr sz="1200" b="1"/>
              <a:t>채점에 사람이 참여하지 않았습니다.</a:t>
            </a:r>
            <a:r>
              <a:rPr sz="1200" b="0"/>
              <a:t> 시간 수치도 최저 등급 인스턴스에서 잰 것이라 일반화할 수 없습니다.</a:t>
            </a:r>
          </a:p>
          <a:p>
            <a:pPr>
              <a:spcAft>
                <a:spcPts val="600"/>
              </a:spcAft>
            </a:pPr>
            <a:r>
              <a:rPr sz="1200" b="0"/>
              <a:t>또 설계상 </a:t>
            </a:r>
            <a:r>
              <a:rPr sz="1200" b="1"/>
              <a:t>위치와 모델 크기가 붙어 있어서</a:t>
            </a:r>
            <a:r>
              <a:rPr sz="1200" b="0"/>
              <a:t>, 떼어 놓으려면 </a:t>
            </a:r>
            <a:r>
              <a:rPr sz="1200" b="1"/>
              <a:t>작은 모델을 바깥에서 돌리는 네 번째 조건</a:t>
            </a:r>
            <a:r>
              <a:rPr sz="1200" b="0"/>
              <a:t>이 필요합니다. 다음 과제입니다.</a:t>
            </a:r>
          </a:p>
          <a:p>
            <a:pPr>
              <a:spcAft>
                <a:spcPts val="0"/>
              </a:spcAft>
            </a:pPr>
            <a:r>
              <a:rPr sz="1100" b="1"/>
              <a:t>→ 다음: 16장 References (13:50)</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800"/>
              </a:spcAft>
            </a:pPr>
            <a:r>
              <a:rPr sz="1200" b="1"/>
              <a:t>[16/17] 13:50–14:00 · 10초 · References</a:t>
            </a:r>
          </a:p>
          <a:p>
            <a:pPr>
              <a:spcAft>
                <a:spcPts val="600"/>
              </a:spcAft>
            </a:pPr>
            <a:r>
              <a:rPr sz="1200" b="1"/>
              <a:t>※ 읽지 않습니다. 화면만 띄우고 한 문장으로 넘깁니다.</a:t>
            </a:r>
          </a:p>
          <a:p>
            <a:pPr>
              <a:spcAft>
                <a:spcPts val="600"/>
              </a:spcAft>
            </a:pPr>
            <a:r>
              <a:rPr sz="1200" b="0"/>
              <a:t>본 연구에서 참고한 문헌입니다.</a:t>
            </a:r>
          </a:p>
          <a:p>
            <a:pPr>
              <a:spcAft>
                <a:spcPts val="0"/>
              </a:spcAft>
            </a:pPr>
            <a:r>
              <a:rPr sz="1100" b="1"/>
              <a:t>→ 다음: 17장 Thank You (14:00)</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spcAft>
                <a:spcPts val="400"/>
              </a:spcAft>
            </a:pPr>
            <a:r>
              <a:rPr sz="1100" b="1"/>
              <a:t>[17/17] 14:00–14:15 · 15초 · Thank You</a:t>
            </a:r>
          </a:p>
          <a:p>
            <a:pPr>
              <a:spcAft>
                <a:spcPts val="400"/>
              </a:spcAft>
            </a:pPr>
            <a:r>
              <a:rPr sz="1100" b="0"/>
              <a:t>이상으로 발표를 마치겠습니다. 끝까지 들어 주셔서 감사합니다.</a:t>
            </a:r>
          </a:p>
          <a:p>
            <a:pPr>
              <a:spcAft>
                <a:spcPts val="400"/>
              </a:spcAft>
            </a:pPr>
            <a:r>
              <a:rPr sz="1100" b="0"/>
              <a:t>〈시간이 남을 때만〉 화면에 메일 주소를 띄워 두었습니다. 편하게 연락 주십시오.</a:t>
            </a:r>
          </a:p>
          <a:p>
            <a:pPr>
              <a:spcAft>
                <a:spcPts val="400"/>
              </a:spcAft>
            </a:pPr>
            <a:r>
              <a:rPr sz="1100" b="1"/>
              <a:t>→ 발표 종료 · Q&amp;A 4분</a:t>
            </a:r>
          </a:p>
          <a:p>
            <a:pPr>
              <a:spcAft>
                <a:spcPts val="400"/>
              </a:spcAft>
            </a:pPr>
            <a:r>
              <a:rPr sz="1100" b="0"/>
              <a:t>──────────────────────────────</a:t>
            </a:r>
          </a:p>
          <a:p>
            <a:pPr>
              <a:spcAft>
                <a:spcPts val="400"/>
              </a:spcAft>
            </a:pPr>
            <a:r>
              <a:rPr sz="1100" b="1"/>
              <a:t>■ 응답 원칙</a:t>
            </a:r>
          </a:p>
          <a:p>
            <a:pPr>
              <a:spcAft>
                <a:spcPts val="400"/>
              </a:spcAft>
            </a:pPr>
            <a:r>
              <a:rPr sz="1100" b="0"/>
              <a:t>짧게 시작하고 필요하면 덧붙인다. 모르는 것은 모른다고 말한다.</a:t>
            </a:r>
          </a:p>
          <a:p>
            <a:pPr>
              <a:spcAft>
                <a:spcPts val="400"/>
              </a:spcAft>
            </a:pPr>
            <a:r>
              <a:rPr sz="1100" b="0"/>
              <a:t>막히면 이 세 숫자로 돌아온다 — </a:t>
            </a:r>
            <a:r>
              <a:rPr sz="1100" b="1"/>
              <a:t>저장소 0.971 / 위치 0.175 / 시간 8배</a:t>
            </a:r>
          </a:p>
          <a:p>
            <a:pPr>
              <a:spcAft>
                <a:spcPts val="400"/>
              </a:spcAft>
            </a:pPr>
            <a:r>
              <a:rPr sz="1100" b="0"/>
              <a:t>──────────────────────────────</a:t>
            </a:r>
          </a:p>
          <a:p>
            <a:pPr>
              <a:spcAft>
                <a:spcPts val="400"/>
              </a:spcAft>
            </a:pPr>
            <a:r>
              <a:rPr sz="1100" b="1"/>
              <a:t>■ 예상 질문 · 핵심 한 줄</a:t>
            </a:r>
            <a:r>
              <a:rPr sz="1100" b="0"/>
              <a:t> (전체 답변은 A4 대본 Q1–Q18)</a:t>
            </a:r>
          </a:p>
          <a:p>
            <a:pPr>
              <a:spcAft>
                <a:spcPts val="400"/>
              </a:spcAft>
            </a:pPr>
            <a:r>
              <a:rPr sz="1100" b="1"/>
              <a:t>Q1 왜 더 큰 임베딩 모델을 안 썼나</a:t>
            </a:r>
            <a:r>
              <a:rPr sz="1100" b="0"/>
              <a:t> → DB 내장은 모델 크기 제한이 있어 384차원. 그 제약 자체가 이 논문의 대상.</a:t>
            </a:r>
          </a:p>
          <a:p>
            <a:pPr>
              <a:spcAft>
                <a:spcPts val="400"/>
              </a:spcAft>
            </a:pPr>
            <a:r>
              <a:rPr sz="1100" b="1"/>
              <a:t>Q2 43개는 적지 않나</a:t>
            </a:r>
            <a:r>
              <a:rPr sz="1100" b="0"/>
              <a:t> → 인정. 그래서 값 하나가 아니라 신뢰구간·효과크기를 함께 보고.</a:t>
            </a:r>
          </a:p>
          <a:p>
            <a:pPr>
              <a:spcAft>
                <a:spcPts val="400"/>
              </a:spcAft>
            </a:pPr>
            <a:r>
              <a:rPr sz="1100" b="1"/>
              <a:t>Q3 질의 30개를 직접 만들었는데 믿을 수 있나</a:t>
            </a:r>
            <a:r>
              <a:rPr sz="1100" b="0"/>
              <a:t> → 절대 점수는 실제 로그 쪽이 유의하게 높음(우리가 만든 질의가 더 어려웠음). 단 귀속 근거인 랭킹 일치도는 두 묶음 차이 없음 → 결론 동일.</a:t>
            </a:r>
          </a:p>
          <a:p>
            <a:pPr>
              <a:spcAft>
                <a:spcPts val="400"/>
              </a:spcAft>
            </a:pPr>
            <a:r>
              <a:rPr sz="1100" b="1"/>
              <a:t>Q4 사람이 채점 안 했는데</a:t>
            </a:r>
            <a:r>
              <a:rPr sz="1100" b="0"/>
              <a:t> → 한계 인정. 다만 같은 잣대를 세 조건에 동일 적용 → 조건 간 비교 목적에선 방향성 유지.</a:t>
            </a:r>
          </a:p>
          <a:p>
            <a:pPr>
              <a:spcAft>
                <a:spcPts val="400"/>
              </a:spcAft>
            </a:pPr>
            <a:r>
              <a:rPr sz="1100" b="1"/>
              <a:t>Q5 새로운 방법인가</a:t>
            </a:r>
            <a:r>
              <a:rPr sz="1100" b="0"/>
              <a:t> → 요소는 익숙함. 기여는 이전 의사결정 상황에서의 절차화 + 재임베딩 없이 무중단으로 가능함을 실측한 점.</a:t>
            </a:r>
          </a:p>
          <a:p>
            <a:pPr>
              <a:spcAft>
                <a:spcPts val="400"/>
              </a:spcAft>
            </a:pPr>
            <a:r>
              <a:rPr sz="1100" b="1"/>
              <a:t>Q6 이전하지 말라는 뜻인가</a:t>
            </a:r>
            <a:r>
              <a:rPr sz="1100" b="0"/>
              <a:t> → 아님. 저장 데이터만이면 저장소 교체로 충분, 질의 경로까지면 모델 크기를 먼저 확인.</a:t>
            </a:r>
          </a:p>
          <a:p>
            <a:pPr>
              <a:spcAft>
                <a:spcPts val="400"/>
              </a:spcAft>
            </a:pPr>
            <a:r>
              <a:rPr sz="1100" b="1"/>
              <a:t>Q7 저장소 요인에 인덱스 변화가 섞였다</a:t>
            </a:r>
            <a:r>
              <a:rPr sz="1100" b="0"/>
              <a:t> → 인정. recall 98.4% → 인덱스 몫의 상한은 1.6%. 포함해도 결론 유지.</a:t>
            </a:r>
          </a:p>
          <a:p>
            <a:pPr>
              <a:spcAft>
                <a:spcPts val="400"/>
              </a:spcAft>
            </a:pPr>
            <a:r>
              <a:rPr sz="1100" b="1"/>
              <a:t>Q8 규모가 커져도 같은가</a:t>
            </a:r>
            <a:r>
              <a:rPr sz="1100" b="0"/>
              <a:t> → 품질은 방향 유지 예상, 속도는 분명히 달라짐. 제안하는 것은 숫자가 아니라 절차.</a:t>
            </a:r>
          </a:p>
          <a:p>
            <a:pPr>
              <a:spcAft>
                <a:spcPts val="400"/>
              </a:spcAft>
            </a:pPr>
            <a:r>
              <a:rPr sz="1100" b="1"/>
              <a:t>Q9 8배는 in-DB가 원래 느리다는 뜻인가</a:t>
            </a:r>
            <a:r>
              <a:rPr sz="1100" b="0"/>
              <a:t> → 최저 등급 인스턴스 결과. 임베딩 시간은 A·B 공통으로 1회 측정 → A·B 차이는 검색 시간만 반영.</a:t>
            </a:r>
          </a:p>
          <a:p>
            <a:pPr>
              <a:spcAft>
                <a:spcPts val="400"/>
              </a:spcAft>
            </a:pPr>
            <a:r>
              <a:rPr sz="1100" b="1"/>
              <a:t>Q10 검증 방법</a:t>
            </a:r>
            <a:r>
              <a:rPr sz="1100" b="0"/>
              <a:t> → 대응표본 t 주검정 + 윌콕슨 + 부트스트랩 1만, seed 고정. 자카드는 검정이 아니라 요약값.</a:t>
            </a:r>
          </a:p>
          <a:p>
            <a:pPr>
              <a:spcAft>
                <a:spcPts val="400"/>
              </a:spcAft>
            </a:pPr>
            <a:r>
              <a:rPr sz="1100" b="1"/>
              <a:t>Q11 다중비교 보정</a:t>
            </a:r>
            <a:r>
              <a:rPr sz="1100" b="0"/>
              <a:t> → 미적용. 핵심 두 개가 0.523/0.003이라 무관. (물으면) 13건 본페로니 0.044.</a:t>
            </a:r>
          </a:p>
          <a:p>
            <a:pPr>
              <a:spcAft>
                <a:spcPts val="400"/>
              </a:spcAft>
            </a:pPr>
            <a:r>
              <a:rPr sz="1100" b="1"/>
              <a:t>Q12 ±0.15 마진 근거</a:t>
            </a:r>
            <a:r>
              <a:rPr sz="1100" b="0"/>
              <a:t> → 이론값 아닌 임계값(7.5%). 등가성을 주장하지 않고 오히려 미충족으로 보고.</a:t>
            </a:r>
          </a:p>
          <a:p>
            <a:pPr>
              <a:spcAft>
                <a:spcPts val="400"/>
              </a:spcAft>
            </a:pPr>
            <a:r>
              <a:rPr sz="1100" b="1"/>
              <a:t>Q13 0.052면 같다고 봐도 되나</a:t>
            </a:r>
            <a:r>
              <a:rPr sz="1100" b="0"/>
              <a:t> → "같다"는 주장 안 함. "나빠졌다고 볼 근거는 없다"까지.</a:t>
            </a:r>
          </a:p>
          <a:p>
            <a:pPr>
              <a:spcAft>
                <a:spcPts val="400"/>
              </a:spcAft>
            </a:pPr>
            <a:r>
              <a:rPr sz="1100" b="1"/>
              <a:t>Q14 왜 0–2 세 단계인가</a:t>
            </a:r>
            <a:r>
              <a:rPr sz="1100" b="0"/>
              <a:t> → LLM 채점 재현성. 필요한 것은 절대값이 아니라 조건 간 차이.</a:t>
            </a:r>
          </a:p>
          <a:p>
            <a:pPr>
              <a:spcAft>
                <a:spcPts val="400"/>
              </a:spcAft>
            </a:pPr>
            <a:r>
              <a:rPr sz="1100" b="1"/>
              <a:t>Q15 215건인데 왜 43개로 검정</a:t>
            </a:r>
            <a:r>
              <a:rPr sz="1100" b="0"/>
              <a:t> → 같은 질의의 5점은 독립이 아님 → 질의별 평균 43 대응쌍.</a:t>
            </a:r>
          </a:p>
          <a:p>
            <a:pPr>
              <a:spcAft>
                <a:spcPts val="400"/>
              </a:spcAft>
            </a:pPr>
            <a:r>
              <a:rPr sz="1100" b="1"/>
              <a:t>Q16 무엇의 차이인가</a:t>
            </a:r>
            <a:r>
              <a:rPr sz="1100" b="0"/>
              <a:t> → 관련성 평균. 1.228 대 1.270, 차이 0.042.</a:t>
            </a:r>
          </a:p>
          <a:p>
            <a:pPr>
              <a:spcAft>
                <a:spcPts val="400"/>
              </a:spcAft>
            </a:pPr>
            <a:r>
              <a:rPr sz="1100" b="1"/>
              <a:t>Q17 우연이란 무엇인가</a:t>
            </a:r>
            <a:r>
              <a:rPr sz="1100" b="0"/>
              <a:t> → 질의 43개를 뽑은 표본의 우연. 채점은 temperature 0이라 무작위 아님.</a:t>
            </a:r>
          </a:p>
          <a:p>
            <a:pPr>
              <a:spcAft>
                <a:spcPts val="400"/>
              </a:spcAft>
            </a:pPr>
            <a:r>
              <a:rPr sz="1100" b="1"/>
              <a:t>Q18 왜 이 두 제품인가</a:t>
            </a:r>
            <a:r>
              <a:rPr sz="1100" b="0"/>
              <a:t> → 실제 운영 조합이자 실제 검토 대상. 제품 우열은 판단하지 않음.</a:t>
            </a:r>
          </a:p>
          <a:p>
            <a:pPr>
              <a:spcAft>
                <a:spcPts val="400"/>
              </a:spcAft>
            </a:pPr>
            <a:r>
              <a:rPr sz="1100" b="0"/>
              <a:t>──────────────────────────────</a:t>
            </a:r>
          </a:p>
          <a:p>
            <a:pPr>
              <a:spcAft>
                <a:spcPts val="400"/>
              </a:spcAft>
            </a:pPr>
            <a:r>
              <a:rPr sz="1100" b="1"/>
              <a:t>■ 영어 질문이 들어왔을 때</a:t>
            </a:r>
          </a:p>
          <a:p>
            <a:pPr>
              <a:spcAft>
                <a:spcPts val="400"/>
              </a:spcAft>
            </a:pPr>
            <a:r>
              <a:rPr sz="1100" b="1"/>
              <a:t>① 못 알아들었을 때 — 정중한 사과 + 재요청</a:t>
            </a:r>
            <a:r>
              <a:rPr sz="1100" b="0"/>
              <a:t> (이 한 줄만 외워도 됨)</a:t>
            </a:r>
          </a:p>
          <a:p>
            <a:pPr>
              <a:spcAft>
                <a:spcPts val="400"/>
              </a:spcAft>
            </a:pPr>
            <a:r>
              <a:rPr sz="1100" b="1"/>
              <a:t>"I'm sorry, my English is not very good. Could you please say that again, a little more slowly?"</a:t>
            </a:r>
          </a:p>
          <a:p>
            <a:pPr>
              <a:spcAft>
                <a:spcPts val="400"/>
              </a:spcAft>
            </a:pPr>
            <a:r>
              <a:rPr sz="1100" b="0"/>
              <a:t>(아임 쏘리, 마이 잉글리시 이즈 낫 베리 굿. 쿠쥬 플리즈 쎄이 댓 어겐, 어 리틀 모어 슬로울리?)</a:t>
            </a:r>
          </a:p>
          <a:p>
            <a:pPr>
              <a:spcAft>
                <a:spcPts val="400"/>
              </a:spcAft>
            </a:pPr>
            <a:r>
              <a:rPr sz="1100" b="0"/>
              <a:t>"I apologize — I didn't quite catch that. Could you rephrase your question, please?"</a:t>
            </a:r>
          </a:p>
          <a:p>
            <a:pPr>
              <a:spcAft>
                <a:spcPts val="400"/>
              </a:spcAft>
            </a:pPr>
            <a:r>
              <a:rPr sz="1100" b="0"/>
              <a:t>"Sorry, one more time, please? I want to make sure I understand your question correctly."</a:t>
            </a:r>
          </a:p>
          <a:p>
            <a:pPr>
              <a:spcAft>
                <a:spcPts val="400"/>
              </a:spcAft>
            </a:pPr>
            <a:r>
              <a:rPr sz="1100" b="1"/>
              <a:t>② 반쯤 알아들었을 때 — 확인하고 되묻기</a:t>
            </a:r>
            <a:r>
              <a:rPr sz="1100" b="0"/>
              <a:t> (가장 안전한 수)</a:t>
            </a:r>
          </a:p>
          <a:p>
            <a:pPr>
              <a:spcAft>
                <a:spcPts val="400"/>
              </a:spcAft>
            </a:pPr>
            <a:r>
              <a:rPr sz="1100" b="1"/>
              <a:t>"If I understood correctly, you're asking about ___. Is that right?"</a:t>
            </a:r>
          </a:p>
          <a:p>
            <a:pPr>
              <a:spcAft>
                <a:spcPts val="400"/>
              </a:spcAft>
            </a:pPr>
            <a:r>
              <a:rPr sz="1100" b="0"/>
              <a:t>"So your question is about the store, not the embedding placement — is that correct?"</a:t>
            </a:r>
          </a:p>
          <a:p>
            <a:pPr>
              <a:spcAft>
                <a:spcPts val="400"/>
              </a:spcAft>
            </a:pPr>
            <a:r>
              <a:rPr sz="1100" b="0"/>
              <a:t>→ 상대가 고쳐 주면 그때 답한다. 잘못 알아듣고 엉뚱한 답을 하는 것보다 훨씬 낫다.</a:t>
            </a:r>
          </a:p>
          <a:p>
            <a:pPr>
              <a:spcAft>
                <a:spcPts val="400"/>
              </a:spcAft>
            </a:pPr>
            <a:r>
              <a:rPr sz="1100" b="1"/>
              <a:t>③ 그래도 안 되면 — 좌장·통역에게 넘기기</a:t>
            </a:r>
            <a:r>
              <a:rPr sz="1100" b="0"/>
              <a:t> (부끄러운 일이 아님)</a:t>
            </a:r>
          </a:p>
          <a:p>
            <a:pPr>
              <a:spcAft>
                <a:spcPts val="400"/>
              </a:spcAft>
            </a:pPr>
            <a:r>
              <a:rPr sz="1100" b="1"/>
              <a:t>"Could I answer this in Korean? I'd like to give you an accurate answer."</a:t>
            </a:r>
          </a:p>
          <a:p>
            <a:pPr>
              <a:spcAft>
                <a:spcPts val="400"/>
              </a:spcAft>
            </a:pPr>
            <a:r>
              <a:rPr sz="1100" b="0"/>
              <a:t>"Chair, could I ask for help with the question, please?"</a:t>
            </a:r>
          </a:p>
          <a:p>
            <a:pPr>
              <a:spcAft>
                <a:spcPts val="400"/>
              </a:spcAft>
            </a:pPr>
            <a:r>
              <a:rPr sz="1100" b="0"/>
              <a:t>(좌장께 한국어로) "죄송합니다. 질문을 정확히 이해하지 못했는데, 한 번 정리해 주실 수 있을까요?"</a:t>
            </a:r>
          </a:p>
          <a:p>
            <a:pPr>
              <a:spcAft>
                <a:spcPts val="400"/>
              </a:spcAft>
            </a:pPr>
            <a:r>
              <a:rPr sz="1100" b="1"/>
              <a:t>④ 답할 수 없는 질문 — 정중한 회피 + 연결</a:t>
            </a:r>
          </a:p>
          <a:p>
            <a:pPr>
              <a:spcAft>
                <a:spcPts val="400"/>
              </a:spcAft>
            </a:pPr>
            <a:r>
              <a:rPr sz="1100" b="1"/>
              <a:t>"That's a good question. We haven't measured that directly, so I don't want to guess."</a:t>
            </a:r>
          </a:p>
          <a:p>
            <a:pPr>
              <a:spcAft>
                <a:spcPts val="400"/>
              </a:spcAft>
            </a:pPr>
            <a:r>
              <a:rPr sz="1100" b="0"/>
              <a:t>"That goes beyond what our data can support. What I can say is ___."</a:t>
            </a:r>
          </a:p>
          <a:p>
            <a:pPr>
              <a:spcAft>
                <a:spcPts val="400"/>
              </a:spcAft>
            </a:pPr>
            <a:r>
              <a:rPr sz="1100" b="1"/>
              <a:t>"Could we continue this after the session? My email is on the slide."</a:t>
            </a:r>
          </a:p>
          <a:p>
            <a:pPr>
              <a:spcAft>
                <a:spcPts val="400"/>
              </a:spcAft>
            </a:pPr>
            <a:r>
              <a:rPr sz="1100" b="0"/>
              <a:t>→ </a:t>
            </a:r>
            <a:r>
              <a:rPr sz="1100" b="1"/>
              <a:t>"모릅니다"를 영어로 말하는 것은 감점이 아니다.</a:t>
            </a:r>
            <a:r>
              <a:rPr sz="1100" b="0"/>
              <a:t> 추측해서 틀리는 것이 감점이다.</a:t>
            </a:r>
          </a:p>
          <a:p>
            <a:pPr>
              <a:spcAft>
                <a:spcPts val="400"/>
              </a:spcAft>
            </a:pPr>
            <a:r>
              <a:rPr sz="1100" b="1"/>
              <a:t>⑤ 자주 나올 질문의 짧은 영어 답</a:t>
            </a:r>
            <a:r>
              <a:rPr sz="1100" b="0"/>
              <a:t> (한 문장씩만)</a:t>
            </a:r>
          </a:p>
          <a:p>
            <a:pPr>
              <a:spcAft>
                <a:spcPts val="400"/>
              </a:spcAft>
            </a:pPr>
            <a:r>
              <a:rPr sz="1100" b="0"/>
              <a:t>저장소: "Changing only the store showed no detectable change. Top-10 Jaccard was 0.971, p was 0.523."</a:t>
            </a:r>
          </a:p>
          <a:p>
            <a:pPr>
              <a:spcAft>
                <a:spcPts val="400"/>
              </a:spcAft>
            </a:pPr>
            <a:r>
              <a:rPr sz="1100" b="0"/>
              <a:t>위치: "Moving the embedding inside carried the entire effect. Jaccard 0.175, p 0.003, about a twenty percent drop in relevance, and search was about eight times slower."</a:t>
            </a:r>
          </a:p>
          <a:p>
            <a:pPr>
              <a:spcAft>
                <a:spcPts val="400"/>
              </a:spcAft>
            </a:pPr>
            <a:r>
              <a:rPr sz="1100" b="0"/>
              <a:t>규모: "Our corpus is 1,347 chunks, so I cannot claim this holds at a much larger scale. What we propose is the procedure, not the numbers."</a:t>
            </a:r>
          </a:p>
          <a:p>
            <a:pPr>
              <a:spcAft>
                <a:spcPts val="400"/>
              </a:spcAft>
            </a:pPr>
            <a:r>
              <a:rPr sz="1100" b="0"/>
              <a:t>제품: "We do not claim any product is better. We show a procedure for separating the two factors."</a:t>
            </a:r>
          </a:p>
          <a:p>
            <a:pPr>
              <a:spcAft>
                <a:spcPts val="400"/>
              </a:spcAft>
            </a:pPr>
            <a:r>
              <a:rPr sz="1100" b="1"/>
              <a:t>⑥ 마무리는 항상 감사로</a:t>
            </a:r>
          </a:p>
          <a:p>
            <a:pPr>
              <a:spcAft>
                <a:spcPts val="400"/>
              </a:spcAft>
            </a:pPr>
            <a:r>
              <a:rPr sz="1100" b="1"/>
              <a:t>"Thank you for your question."</a:t>
            </a:r>
            <a:r>
              <a:rPr sz="1100" b="0"/>
              <a:t> / "Thank you, that's a helpful point."</a:t>
            </a:r>
          </a:p>
          <a:p>
            <a:pPr>
              <a:spcAft>
                <a:spcPts val="400"/>
              </a:spcAft>
            </a:pPr>
            <a:r>
              <a:rPr sz="1100" b="0"/>
              <a:t>──────────────────────────────</a:t>
            </a:r>
          </a:p>
          <a:p>
            <a:pPr>
              <a:spcAft>
                <a:spcPts val="400"/>
              </a:spcAft>
            </a:pPr>
            <a:r>
              <a:rPr sz="1100" b="1"/>
              <a:t>■ 마지막 한 줄</a:t>
            </a:r>
          </a:p>
          <a:p>
            <a:pPr>
              <a:spcAft>
                <a:spcPts val="400"/>
              </a:spcAft>
            </a:pPr>
            <a:r>
              <a:rPr sz="1100" b="0"/>
              <a:t>천천히 말해도 된다. 침묵 3초는 길게 느껴지지만 청중에게는 짧다.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제목 슬라이드" type="title" preserve="1">
  <p:cSld name="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1524000" y="1122363"/>
            <a:ext cx="9144000" cy="2387600"/>
          </a:xfrm>
        </p:spPr>
        <p:txBody>
          <a:bodyPr anchor="b"/>
          <a:lstStyle>
            <a:lvl1pPr algn="ctr">
              <a:defRPr sz="6000"/>
            </a:lvl1pPr>
          </a:lstStyle>
          <a:p>
            <a:pPr lvl="0">
              <a:defRPr/>
            </a:pPr>
            <a:r>
              <a:rPr lang="ko-KR" altLang="en-US"/>
              <a:t>마스터 제목 스타일 편집</a:t>
            </a:r>
          </a:p>
        </p:txBody>
      </p:sp>
      <p:sp>
        <p:nvSpPr>
          <p:cNvPr id="3" name="부제목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defRPr/>
            </a:pPr>
            <a:r>
              <a:rPr lang="ko-KR" altLang="en-US"/>
              <a:t>클릭하여 마스터 부제목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제목 및 내용"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idx="1"/>
          </p:nvPr>
        </p:nvSpPr>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구역 머리글"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831850" y="1709738"/>
            <a:ext cx="10515600" cy="2852737"/>
          </a:xfrm>
        </p:spPr>
        <p:txBody>
          <a:bodyPr anchor="b"/>
          <a:lstStyle>
            <a:lvl1pPr>
              <a:defRPr sz="6000"/>
            </a:lvl1pPr>
          </a:lstStyle>
          <a:p>
            <a:pPr lvl="0">
              <a:defRPr/>
            </a:pPr>
            <a:r>
              <a:rPr lang="ko-KR" altLang="en-US"/>
              <a:t>마스터 제목 스타일 편집</a:t>
            </a:r>
          </a:p>
        </p:txBody>
      </p:sp>
      <p:sp>
        <p:nvSpPr>
          <p:cNvPr id="3" name="텍스트 개체 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ko-KR" altLang="en-US"/>
              <a:t>마스터 텍스트 스타일 편집</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콘텐츠 2개"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내용 개체 틀 2"/>
          <p:cNvSpPr>
            <a:spLocks noGrp="1"/>
          </p:cNvSpPr>
          <p:nvPr>
            <p:ph sz="half" idx="1"/>
          </p:nvPr>
        </p:nvSpPr>
        <p:spPr>
          <a:xfrm>
            <a:off x="838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내용 개체 틀 3"/>
          <p:cNvSpPr>
            <a:spLocks noGrp="1"/>
          </p:cNvSpPr>
          <p:nvPr>
            <p:ph sz="half" idx="2"/>
          </p:nvPr>
        </p:nvSpPr>
        <p:spPr>
          <a:xfrm>
            <a:off x="6172200" y="1825625"/>
            <a:ext cx="5181600" cy="435133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비교"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839788" y="365125"/>
            <a:ext cx="10515600" cy="1325563"/>
          </a:xfrm>
        </p:spPr>
        <p:txBody>
          <a:bodyPr/>
          <a:lstStyle/>
          <a:p>
            <a:pPr lvl="0">
              <a:defRPr/>
            </a:pPr>
            <a:r>
              <a:rPr lang="ko-KR" altLang="en-US"/>
              <a:t>마스터 제목 스타일 편집</a:t>
            </a:r>
          </a:p>
        </p:txBody>
      </p:sp>
      <p:sp>
        <p:nvSpPr>
          <p:cNvPr id="3" name="텍스트 개체 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4" name="내용 개체 틀 3"/>
          <p:cNvSpPr>
            <a:spLocks noGrp="1"/>
          </p:cNvSpPr>
          <p:nvPr>
            <p:ph sz="half" idx="2"/>
          </p:nvPr>
        </p:nvSpPr>
        <p:spPr>
          <a:xfrm>
            <a:off x="839788" y="2505075"/>
            <a:ext cx="5157787"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5" name="텍스트 개체 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ko-KR" altLang="en-US"/>
              <a:t>마스터 텍스트 스타일 편집</a:t>
            </a:r>
          </a:p>
        </p:txBody>
      </p:sp>
      <p:sp>
        <p:nvSpPr>
          <p:cNvPr id="6" name="내용 개체 틀 5"/>
          <p:cNvSpPr>
            <a:spLocks noGrp="1"/>
          </p:cNvSpPr>
          <p:nvPr>
            <p:ph sz="quarter" idx="4"/>
          </p:nvPr>
        </p:nvSpPr>
        <p:spPr>
          <a:xfrm>
            <a:off x="6172200" y="2505075"/>
            <a:ext cx="5183188" cy="3684588"/>
          </a:xfrm>
        </p:spPr>
        <p:txBody>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7" name="날짜 개체 틀 6"/>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8" name="바닥글 개체 틀 7"/>
          <p:cNvSpPr>
            <a:spLocks noGrp="1"/>
          </p:cNvSpPr>
          <p:nvPr>
            <p:ph type="ftr" sz="quarter" idx="11"/>
          </p:nvPr>
        </p:nvSpPr>
        <p:spPr/>
        <p:txBody>
          <a:bodyPr/>
          <a:lstStyle/>
          <a:p>
            <a:pPr lvl="0">
              <a:defRPr/>
            </a:pPr>
            <a:endParaRPr lang="ko-KR" altLang="en-US"/>
          </a:p>
        </p:txBody>
      </p:sp>
      <p:sp>
        <p:nvSpPr>
          <p:cNvPr id="9" name="슬라이드 번호 개체 틀 8"/>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제목만"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날짜 개체 틀 2"/>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4" name="바닥글 개체 틀 3"/>
          <p:cNvSpPr>
            <a:spLocks noGrp="1"/>
          </p:cNvSpPr>
          <p:nvPr>
            <p:ph type="ftr" sz="quarter" idx="11"/>
          </p:nvPr>
        </p:nvSpPr>
        <p:spPr/>
        <p:txBody>
          <a:bodyPr/>
          <a:lstStyle/>
          <a:p>
            <a:pPr lvl="0">
              <a:defRPr/>
            </a:pPr>
            <a:endParaRPr lang="ko-KR" altLang="en-US"/>
          </a:p>
        </p:txBody>
      </p:sp>
      <p:sp>
        <p:nvSpPr>
          <p:cNvPr id="5" name="슬라이드 번호 개체 틀 4"/>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빈 화면" type="blank" preserve="1">
  <p:cSld name="빈 화면">
    <p:spTree>
      <p:nvGrpSpPr>
        <p:cNvPr id="1" name=""/>
        <p:cNvGrpSpPr/>
        <p:nvPr/>
      </p:nvGrpSpPr>
      <p:grpSpPr>
        <a:xfrm>
          <a:off x="0" y="0"/>
          <a:ext cx="0" cy="0"/>
          <a:chOff x="0" y="0"/>
          <a:chExt cx="0" cy="0"/>
        </a:xfrm>
      </p:grpSpPr>
      <p:sp>
        <p:nvSpPr>
          <p:cNvPr id="2" name="날짜 개체 틀 1"/>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3" name="바닥글 개체 틀 2"/>
          <p:cNvSpPr>
            <a:spLocks noGrp="1"/>
          </p:cNvSpPr>
          <p:nvPr>
            <p:ph type="ftr" sz="quarter" idx="11"/>
          </p:nvPr>
        </p:nvSpPr>
        <p:spPr/>
        <p:txBody>
          <a:bodyPr/>
          <a:lstStyle/>
          <a:p>
            <a:pPr lvl="0">
              <a:defRPr/>
            </a:pPr>
            <a:endParaRPr lang="ko-KR" altLang="en-US"/>
          </a:p>
        </p:txBody>
      </p:sp>
      <p:sp>
        <p:nvSpPr>
          <p:cNvPr id="4" name="슬라이드 번호 개체 틀 3"/>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캡션 있는 콘텐츠"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내용 개체 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제목 및 세로 텍스트"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pPr lvl="0">
              <a:defRPr/>
            </a:pPr>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세로 제목 및 텍스트"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8724900" y="365125"/>
            <a:ext cx="2628900" cy="5811838"/>
          </a:xfrm>
        </p:spPr>
        <p:txBody>
          <a:bodyPr vert="eaVert"/>
          <a:lstStyle/>
          <a:p>
            <a:pPr lvl="0">
              <a:defRPr/>
            </a:pPr>
            <a:r>
              <a:rPr lang="ko-KR" altLang="en-US"/>
              <a:t>마스터 제목 스타일 편집</a:t>
            </a:r>
          </a:p>
        </p:txBody>
      </p:sp>
      <p:sp>
        <p:nvSpPr>
          <p:cNvPr id="3" name="세로 텍스트 개체 틀 2"/>
          <p:cNvSpPr>
            <a:spLocks noGrp="1"/>
          </p:cNvSpPr>
          <p:nvPr>
            <p:ph type="body" orient="vert" idx="1"/>
          </p:nvPr>
        </p:nvSpPr>
        <p:spPr>
          <a:xfrm>
            <a:off x="838200" y="365125"/>
            <a:ext cx="7734300" cy="5811838"/>
          </a:xfrm>
        </p:spPr>
        <p:txBody>
          <a:bodyPr vert="eaVert"/>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11"/>
          </p:nvPr>
        </p:nvSpPr>
        <p:spPr/>
        <p:txBody>
          <a:bodyPr/>
          <a:lstStyle/>
          <a:p>
            <a:pPr lvl="0">
              <a:defRPr/>
            </a:pPr>
            <a:endParaRPr lang="ko-KR" altLang="en-US"/>
          </a:p>
        </p:txBody>
      </p:sp>
      <p:sp>
        <p:nvSpPr>
          <p:cNvPr id="6" name="슬라이드 번호 개체 틀 5"/>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제목 슬라이드" userDrawn="1">
  <p:cSld name="1_제목 슬라이드">
    <p:spTree>
      <p:nvGrpSpPr>
        <p:cNvPr id="1" name=""/>
        <p:cNvGrpSpPr/>
        <p:nvPr/>
      </p:nvGrpSpPr>
      <p:grpSpPr>
        <a:xfrm>
          <a:off x="0" y="0"/>
          <a:ext cx="0" cy="0"/>
          <a:chOff x="0" y="0"/>
          <a:chExt cx="0" cy="0"/>
        </a:xfrm>
      </p:grpSpPr>
      <p:sp>
        <p:nvSpPr>
          <p:cNvPr id="9" name="제목 1"/>
          <p:cNvSpPr>
            <a:spLocks noGrp="1"/>
          </p:cNvSpPr>
          <p:nvPr>
            <p:ph type="title"/>
          </p:nvPr>
        </p:nvSpPr>
        <p:spPr>
          <a:xfrm>
            <a:off x="514350" y="241300"/>
            <a:ext cx="4410075" cy="473075"/>
          </a:xfrm>
          <a:prstGeom prst="rect">
            <a:avLst/>
          </a:prstGeom>
        </p:spPr>
        <p:txBody>
          <a:bodyPr/>
          <a:lstStyle>
            <a:lvl1pPr>
              <a:defRPr sz="2800" b="1"/>
            </a:lvl1pPr>
          </a:lstStyle>
          <a:p>
            <a:pPr lvl="0">
              <a:defRPr/>
            </a:pPr>
            <a:r>
              <a:rPr lang="ko-KR" altLang="en-US"/>
              <a:t>마스터 제목 스타일 편집</a:t>
            </a: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캡션 있는 그림"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839788" y="457200"/>
            <a:ext cx="3932237" cy="1600200"/>
          </a:xfrm>
        </p:spPr>
        <p:txBody>
          <a:bodyPr anchor="b"/>
          <a:lstStyle>
            <a:lvl1pPr>
              <a:defRPr sz="3200"/>
            </a:lvl1pPr>
          </a:lstStyle>
          <a:p>
            <a:pPr lvl="0">
              <a:defRPr/>
            </a:pPr>
            <a:r>
              <a:rPr lang="ko-KR" altLang="en-US"/>
              <a:t>마스터 제목 스타일 편집</a:t>
            </a:r>
          </a:p>
        </p:txBody>
      </p:sp>
      <p:sp>
        <p:nvSpPr>
          <p:cNvPr id="3" name="그림 개체 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defRPr/>
            </a:pPr>
            <a:endParaRPr lang="ko-KR" altLang="en-US"/>
          </a:p>
        </p:txBody>
      </p:sp>
      <p:sp>
        <p:nvSpPr>
          <p:cNvPr id="4" name="텍스트 개체 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ko-KR" altLang="en-US"/>
              <a:t>마스터 텍스트 스타일 편집</a:t>
            </a:r>
          </a:p>
        </p:txBody>
      </p:sp>
      <p:sp>
        <p:nvSpPr>
          <p:cNvPr id="5" name="날짜 개체 틀 4"/>
          <p:cNvSpPr>
            <a:spLocks noGrp="1"/>
          </p:cNvSpPr>
          <p:nvPr>
            <p:ph type="dt" sz="half" idx="10"/>
          </p:nvPr>
        </p:nvSpPr>
        <p:spPr/>
        <p:txBody>
          <a:bodyPr/>
          <a:lstStyle/>
          <a:p>
            <a:pPr lvl="0">
              <a:defRPr/>
            </a:pPr>
            <a:fld id="{EA2485B4-4CD5-433A-9C5E-1F9D9E18D170}" type="datetime1">
              <a:rPr lang="ko-KR" altLang="en-US"/>
              <a:pPr lvl="0">
                <a:defRPr/>
              </a:pPr>
              <a:t>2026-08-16</a:t>
            </a:fld>
            <a:endParaRPr lang="ko-KR" altLang="en-US"/>
          </a:p>
        </p:txBody>
      </p:sp>
      <p:sp>
        <p:nvSpPr>
          <p:cNvPr id="6" name="바닥글 개체 틀 5"/>
          <p:cNvSpPr>
            <a:spLocks noGrp="1"/>
          </p:cNvSpPr>
          <p:nvPr>
            <p:ph type="ftr" sz="quarter" idx="11"/>
          </p:nvPr>
        </p:nvSpPr>
        <p:spPr/>
        <p:txBody>
          <a:bodyPr/>
          <a:lstStyle/>
          <a:p>
            <a:pPr lvl="0">
              <a:defRPr/>
            </a:pPr>
            <a:endParaRPr lang="ko-KR" altLang="en-US"/>
          </a:p>
        </p:txBody>
      </p:sp>
      <p:sp>
        <p:nvSpPr>
          <p:cNvPr id="7" name="슬라이드 번호 개체 틀 6"/>
          <p:cNvSpPr>
            <a:spLocks noGrp="1"/>
          </p:cNvSpPr>
          <p:nvPr>
            <p:ph type="sldNum" sz="quarter" idx="12"/>
          </p:nvPr>
        </p:nvSpPr>
        <p:spPr/>
        <p:txBody>
          <a:bodyPr/>
          <a:lstStyle/>
          <a:p>
            <a:pPr lvl="0">
              <a:defRPr/>
            </a:pPr>
            <a:fld id="{01C71F60-5500-4FC4-A037-67ABFCE0E1C4}" type="slidenum">
              <a:rPr lang="ko-KR" altLang="en-US"/>
              <a:pPr lvl="0">
                <a:defRPr/>
              </a:pPr>
              <a:t>‹#›</a:t>
            </a:fld>
            <a:endParaRPr lang="ko-KR" altLang="en-US"/>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Office 테마">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pPr lvl="0">
              <a:defRPr/>
            </a:pPr>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defRPr/>
            </a:pPr>
            <a:r>
              <a:rPr lang="ko-KR" altLang="en-US"/>
              <a:t>마스터 텍스트 스타일 편집</a:t>
            </a:r>
          </a:p>
          <a:p>
            <a:pPr lvl="1">
              <a:defRPr/>
            </a:pPr>
            <a:r>
              <a:rPr lang="ko-KR" altLang="en-US"/>
              <a:t>둘째 수준</a:t>
            </a:r>
          </a:p>
          <a:p>
            <a:pPr lvl="2">
              <a:defRPr/>
            </a:pPr>
            <a:r>
              <a:rPr lang="ko-KR" altLang="en-US"/>
              <a:t>셋째 수준</a:t>
            </a:r>
          </a:p>
          <a:p>
            <a:pPr lvl="3">
              <a:defRPr/>
            </a:pPr>
            <a:r>
              <a:rPr lang="ko-KR" altLang="en-US"/>
              <a:t>넷째 수준</a:t>
            </a:r>
          </a:p>
          <a:p>
            <a:pPr lvl="4">
              <a:defRPr/>
            </a:pPr>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anchor="ctr"/>
          <a:lstStyle>
            <a:lvl1pPr algn="l">
              <a:defRPr sz="1200">
                <a:solidFill>
                  <a:schemeClr val="tx1">
                    <a:tint val="75000"/>
                  </a:schemeClr>
                </a:solidFill>
              </a:defRPr>
            </a:lvl1pPr>
          </a:lstStyle>
          <a:p>
            <a:pPr lvl="0">
              <a:defRPr/>
            </a:pPr>
            <a:fld id="{EA2485B4-4CD5-433A-9C5E-1F9D9E18D170}" type="datetime1">
              <a:rPr lang="ko-KR" altLang="en-US"/>
              <a:pPr lvl="0">
                <a:defRPr/>
              </a:pPr>
              <a:t>2026-08-16</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endParaRPr lang="ko-KR" altLang="en-US"/>
          </a:p>
        </p:txBody>
      </p:sp>
      <p:sp>
        <p:nvSpPr>
          <p:cNvPr id="6" name="슬라이드 번호 개체 틀 5"/>
          <p:cNvSpPr>
            <a:spLocks noGrp="1"/>
          </p:cNvSpPr>
          <p:nvPr>
            <p:ph type="sldNum" sz="quarter" idx="4"/>
          </p:nvPr>
        </p:nvSpPr>
        <p:spPr>
          <a:xfrm>
            <a:off x="8610600" y="6356350"/>
            <a:ext cx="2743200" cy="365125"/>
          </a:xfrm>
          <a:prstGeom prst="rect">
            <a:avLst/>
          </a:prstGeom>
        </p:spPr>
        <p:txBody>
          <a:bodyPr vert="horz" lIns="91440" tIns="45720" rIns="91440" bIns="45720" anchor="ctr"/>
          <a:lstStyle>
            <a:lvl1pPr algn="ctr">
              <a:defRPr sz="1200">
                <a:solidFill>
                  <a:schemeClr val="tx1">
                    <a:tint val="75000"/>
                  </a:schemeClr>
                </a:solidFill>
              </a:defRPr>
            </a:lvl1pPr>
          </a:lstStyle>
          <a:p>
            <a:pPr lvl="0">
              <a:defRPr/>
            </a:pPr>
            <a:r>
              <a:rPr lang="ko-KR" altLang="en-US"/>
              <a:t>                                        </a:t>
            </a:r>
            <a:fld id="{01C71F60-5500-4FC4-A037-67ABFCE0E1C4}" type="slidenum">
              <a:rPr lang="ko-KR" altLang="en-US"/>
              <a:pPr lvl="0">
                <a:defRPr/>
              </a:pPr>
              <a:t>‹#›</a:t>
            </a:fld>
            <a:r>
              <a:rPr lang="ko-KR" altLang="en-US"/>
              <a:t>     </a:t>
            </a:r>
          </a:p>
        </p:txBody>
      </p:sp>
    </p:spTree>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ransition/>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dirty="0"/>
          </a:p>
        </p:txBody>
      </p:sp>
      <p:sp>
        <p:nvSpPr>
          <p:cNvPr id="24" name="직사각형 23"/>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sp>
        <p:nvSpPr>
          <p:cNvPr id="25" name="직사각형 24"/>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dirty="0">
              <a:solidFill>
                <a:srgbClr val="FFFFFF"/>
              </a:solidFill>
              <a:latin typeface="맑은 고딕"/>
              <a:ea typeface="맑은 고딕"/>
              <a:cs typeface="맑은 고딕"/>
            </a:endParaRPr>
          </a:p>
        </p:txBody>
      </p:sp>
      <p:cxnSp>
        <p:nvCxnSpPr>
          <p:cNvPr id="30" name="직선 연결선 29"/>
          <p:cNvCxnSpPr/>
          <p:nvPr/>
        </p:nvCxnSpPr>
        <p:spPr>
          <a:xfrm>
            <a:off x="2377440" y="3255264"/>
            <a:ext cx="7434072" cy="0"/>
          </a:xfrm>
          <a:prstGeom prst="line">
            <a:avLst/>
          </a:prstGeom>
          <a:ln w="25400">
            <a:solidFill>
              <a:srgbClr val="3375BE"/>
            </a:solidFill>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822960" y="1389888"/>
            <a:ext cx="10543032" cy="1783080"/>
          </a:xfrm>
          <a:prstGeom prst="rect">
            <a:avLst/>
          </a:prstGeom>
          <a:noFill/>
        </p:spPr>
        <p:txBody>
          <a:bodyPr wrap="square" lIns="0" tIns="0" rIns="0" bIns="0" anchor="ctr">
            <a:noAutofit/>
          </a:bodyPr>
          <a:lstStyle/>
          <a:p>
            <a:pPr algn="ctr">
              <a:lnSpc>
                <a:spcPct val="122000"/>
              </a:lnSpc>
            </a:pPr>
            <a:r>
              <a:rPr lang="en-US" altLang="en-US" sz="2700" b="1" i="0">
                <a:solidFill>
                  <a:srgbClr val="1A1A1A"/>
                </a:solidFill>
                <a:latin typeface="Arial"/>
                <a:ea typeface="Arial"/>
                <a:cs typeface="Arial"/>
              </a:rPr>
              <a:t>A Factor Decomposition Method for Separating</a:t>
            </a:r>
          </a:p>
          <a:p>
            <a:pPr algn="ctr">
              <a:lnSpc>
                <a:spcPct val="122000"/>
              </a:lnSpc>
            </a:pPr>
            <a:r>
              <a:rPr lang="en-US" altLang="en-US" sz="2700" b="1" i="0">
                <a:solidFill>
                  <a:srgbClr val="1A1A1A"/>
                </a:solidFill>
                <a:latin typeface="Arial"/>
                <a:ea typeface="Arial"/>
                <a:cs typeface="Arial"/>
              </a:rPr>
              <a:t>Store Substitution and Embedding Placement Effects</a:t>
            </a:r>
          </a:p>
          <a:p>
            <a:pPr algn="ctr">
              <a:lnSpc>
                <a:spcPct val="122000"/>
              </a:lnSpc>
            </a:pPr>
            <a:r>
              <a:rPr lang="en-US" altLang="en-US" sz="2700" b="1" i="0">
                <a:solidFill>
                  <a:srgbClr val="1A1A1A"/>
                </a:solidFill>
                <a:latin typeface="Arial"/>
                <a:ea typeface="Arial"/>
                <a:cs typeface="Arial"/>
              </a:rPr>
              <a:t>in Vector Database Migration</a:t>
            </a:r>
          </a:p>
        </p:txBody>
      </p:sp>
      <p:sp>
        <p:nvSpPr>
          <p:cNvPr id="32" name="TextBox 31"/>
          <p:cNvSpPr txBox="1"/>
          <p:nvPr/>
        </p:nvSpPr>
        <p:spPr>
          <a:xfrm>
            <a:off x="721256" y="3846307"/>
            <a:ext cx="10746439" cy="2033699"/>
          </a:xfrm>
          <a:prstGeom prst="rect">
            <a:avLst/>
          </a:prstGeom>
          <a:noFill/>
        </p:spPr>
        <p:txBody>
          <a:bodyPr wrap="square" lIns="0" tIns="0" rIns="0" bIns="0" anchor="t">
            <a:noAutofit/>
          </a:bodyPr>
          <a:lstStyle/>
          <a:p>
            <a:pPr algn="ctr">
              <a:spcBef>
                <a:spcPts val="2600"/>
              </a:spcBef>
            </a:pPr>
            <a:r>
              <a:rPr lang="en-US" altLang="en-US" sz="1600" b="1" dirty="0" err="1">
                <a:solidFill>
                  <a:srgbClr val="1A1A1A"/>
                </a:solidFill>
                <a:latin typeface="Arial"/>
                <a:ea typeface="Arial"/>
                <a:cs typeface="Arial"/>
              </a:rPr>
              <a:t>Junha</a:t>
            </a:r>
            <a:r>
              <a:rPr lang="en-US" altLang="en-US" sz="1600" b="1" dirty="0">
                <a:solidFill>
                  <a:srgbClr val="1A1A1A"/>
                </a:solidFill>
                <a:latin typeface="Arial"/>
                <a:ea typeface="Arial"/>
                <a:cs typeface="Arial"/>
              </a:rPr>
              <a:t> Yoon · </a:t>
            </a:r>
            <a:r>
              <a:rPr lang="en-US" altLang="en-US" sz="1600" b="1" dirty="0" err="1">
                <a:solidFill>
                  <a:srgbClr val="1A1A1A"/>
                </a:solidFill>
                <a:latin typeface="Arial"/>
                <a:ea typeface="Arial"/>
                <a:cs typeface="Arial"/>
              </a:rPr>
              <a:t>Ohhyeon</a:t>
            </a:r>
            <a:r>
              <a:rPr lang="en-US" altLang="en-US" sz="1600" b="1" dirty="0">
                <a:solidFill>
                  <a:srgbClr val="1A1A1A"/>
                </a:solidFill>
                <a:latin typeface="Arial"/>
                <a:ea typeface="Arial"/>
                <a:cs typeface="Arial"/>
              </a:rPr>
              <a:t> Gwon · </a:t>
            </a:r>
            <a:r>
              <a:rPr lang="en-US" altLang="en-US" sz="1600" b="1" dirty="0" err="1">
                <a:solidFill>
                  <a:srgbClr val="1A1A1A"/>
                </a:solidFill>
                <a:latin typeface="Arial"/>
                <a:ea typeface="Arial"/>
                <a:cs typeface="Arial"/>
              </a:rPr>
              <a:t>Junhaeng</a:t>
            </a:r>
            <a:r>
              <a:rPr lang="en-US" altLang="en-US" sz="1600" b="1" dirty="0">
                <a:solidFill>
                  <a:srgbClr val="1A1A1A"/>
                </a:solidFill>
                <a:latin typeface="Arial"/>
                <a:ea typeface="Arial"/>
                <a:cs typeface="Arial"/>
              </a:rPr>
              <a:t> Lee · </a:t>
            </a:r>
            <a:r>
              <a:rPr lang="en-US" altLang="en-US" sz="1600" b="1" dirty="0" err="1">
                <a:solidFill>
                  <a:srgbClr val="1A1A1A"/>
                </a:solidFill>
                <a:latin typeface="Arial"/>
                <a:ea typeface="Arial"/>
                <a:cs typeface="Arial"/>
              </a:rPr>
              <a:t>Hyeji</a:t>
            </a:r>
            <a:r>
              <a:rPr lang="en-US" altLang="en-US" sz="1600" b="1" dirty="0">
                <a:solidFill>
                  <a:srgbClr val="1A1A1A"/>
                </a:solidFill>
                <a:latin typeface="Arial"/>
                <a:ea typeface="Arial"/>
                <a:cs typeface="Arial"/>
              </a:rPr>
              <a:t> Roh · </a:t>
            </a:r>
            <a:r>
              <a:rPr lang="en-US" altLang="en-US" sz="1600" b="1" dirty="0" err="1">
                <a:solidFill>
                  <a:srgbClr val="1A1A1A"/>
                </a:solidFill>
                <a:latin typeface="Arial"/>
                <a:ea typeface="Arial"/>
                <a:cs typeface="Arial"/>
              </a:rPr>
              <a:t>Soowan</a:t>
            </a:r>
            <a:r>
              <a:rPr lang="en-US" altLang="en-US" sz="1600" b="1" dirty="0">
                <a:solidFill>
                  <a:srgbClr val="1A1A1A"/>
                </a:solidFill>
                <a:latin typeface="Arial"/>
                <a:ea typeface="Arial"/>
                <a:cs typeface="Arial"/>
              </a:rPr>
              <a:t> Cho · </a:t>
            </a:r>
            <a:r>
              <a:rPr lang="en-US" altLang="en-US" sz="1600" b="1" dirty="0" err="1">
                <a:solidFill>
                  <a:srgbClr val="1A1A1A"/>
                </a:solidFill>
                <a:latin typeface="Arial"/>
                <a:ea typeface="Arial"/>
                <a:cs typeface="Arial"/>
              </a:rPr>
              <a:t>Suhee</a:t>
            </a:r>
            <a:r>
              <a:rPr lang="en-US" altLang="en-US" sz="1600" b="1" dirty="0">
                <a:solidFill>
                  <a:srgbClr val="1A1A1A"/>
                </a:solidFill>
                <a:latin typeface="Arial"/>
                <a:ea typeface="Arial"/>
                <a:cs typeface="Arial"/>
              </a:rPr>
              <a:t> Kim · </a:t>
            </a:r>
            <a:r>
              <a:rPr lang="en-US" altLang="en-US" sz="1600" b="1" dirty="0" err="1">
                <a:solidFill>
                  <a:srgbClr val="1A1A1A"/>
                </a:solidFill>
                <a:latin typeface="Arial"/>
                <a:ea typeface="Arial"/>
                <a:cs typeface="Arial"/>
              </a:rPr>
              <a:t>SangSoon</a:t>
            </a:r>
            <a:r>
              <a:rPr lang="en-US" altLang="en-US" sz="1600" b="1" dirty="0">
                <a:solidFill>
                  <a:srgbClr val="1A1A1A"/>
                </a:solidFill>
                <a:latin typeface="Arial"/>
                <a:ea typeface="Arial"/>
                <a:cs typeface="Arial"/>
              </a:rPr>
              <a:t> Lim</a:t>
            </a:r>
          </a:p>
          <a:p>
            <a:pPr algn="ctr">
              <a:spcBef>
                <a:spcPts val="500"/>
              </a:spcBef>
            </a:pPr>
            <a:r>
              <a:rPr lang="en-US" altLang="en-US" sz="1400" dirty="0" err="1">
                <a:solidFill>
                  <a:srgbClr val="6D6D6D"/>
                </a:solidFill>
                <a:latin typeface="Arial"/>
                <a:ea typeface="Arial"/>
                <a:cs typeface="Arial"/>
              </a:rPr>
              <a:t>Sungkyul</a:t>
            </a:r>
            <a:r>
              <a:rPr lang="en-US" altLang="en-US" sz="1400" dirty="0">
                <a:solidFill>
                  <a:srgbClr val="6D6D6D"/>
                </a:solidFill>
                <a:latin typeface="Arial"/>
                <a:ea typeface="Arial"/>
                <a:cs typeface="Arial"/>
              </a:rPr>
              <a:t> University · Chung-Ang University · Deep Insight Lab</a:t>
            </a:r>
            <a:endParaRPr lang="en-US" altLang="en-US" sz="1500" b="1" i="0"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endParaRPr lang="en-US" altLang="en-US" sz="1500" b="1" dirty="0">
              <a:solidFill>
                <a:srgbClr val="1A1A1A"/>
              </a:solidFill>
              <a:latin typeface="Arial"/>
              <a:ea typeface="Arial"/>
              <a:cs typeface="Arial"/>
            </a:endParaRPr>
          </a:p>
          <a:p>
            <a:pPr algn="ctr"/>
            <a:r>
              <a:rPr lang="en-US" altLang="en-US" sz="1500" b="1" i="0" dirty="0">
                <a:solidFill>
                  <a:srgbClr val="1A1A1A"/>
                </a:solidFill>
                <a:latin typeface="Arial"/>
                <a:ea typeface="Arial"/>
                <a:cs typeface="Arial"/>
              </a:rPr>
              <a:t>2026 International Conference on </a:t>
            </a:r>
            <a:r>
              <a:rPr lang="en-US" altLang="en-US" sz="1500" b="1" i="0" dirty="0" err="1">
                <a:solidFill>
                  <a:srgbClr val="1A1A1A"/>
                </a:solidFill>
                <a:latin typeface="Arial"/>
                <a:ea typeface="Arial"/>
                <a:cs typeface="Arial"/>
              </a:rPr>
              <a:t>PyGeek</a:t>
            </a:r>
            <a:endParaRPr lang="en-US" altLang="en-US" sz="1500" b="1" i="0" dirty="0">
              <a:solidFill>
                <a:srgbClr val="1A1A1A"/>
              </a:solidFill>
              <a:latin typeface="Arial"/>
              <a:ea typeface="Arial"/>
              <a:cs typeface="Arial"/>
            </a:endParaRPr>
          </a:p>
          <a:p>
            <a:pPr algn="ctr">
              <a:spcBef>
                <a:spcPts val="400"/>
              </a:spcBef>
            </a:pPr>
            <a:r>
              <a:rPr lang="en-US" altLang="en-US" sz="1400" b="0" i="0" dirty="0">
                <a:solidFill>
                  <a:srgbClr val="6D6D6D"/>
                </a:solidFill>
                <a:latin typeface="Arial"/>
                <a:ea typeface="Arial"/>
                <a:cs typeface="Arial"/>
              </a:rPr>
              <a:t>Hongik University</a:t>
            </a:r>
          </a:p>
        </p:txBody>
      </p:sp>
    </p:spTree>
  </p:cSld>
  <p:clrMapOvr>
    <a:masterClrMapping/>
  </p:clrMapOvr>
  <mc:AlternateContent xmlns:mc="http://schemas.openxmlformats.org/markup-compatibility/2006" xmlns:p14="http://schemas.microsoft.com/office/powerpoint/2010/main">
    <mc:Choice Requires="p14">
      <p:transition/>
    </mc:Choice>
    <mc:Fallback xmlns="" xmlns:c="http://schemas.openxmlformats.org/drawingml/2006/chart" xmlns:dgm="http://schemas.openxmlformats.org/drawingml/2006/diagram" xmlns:dsp="http://schemas.microsoft.com/office/drawing/2008/diagra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a:t>
            </a:r>
          </a:p>
        </p:txBody>
      </p:sp>
      <p:sp>
        <p:nvSpPr>
          <p:cNvPr id="28" name="TextBox 27"/>
          <p:cNvSpPr txBox="1"/>
          <p:nvPr/>
        </p:nvSpPr>
        <p:spPr>
          <a:xfrm>
            <a:off x="676656" y="274320"/>
            <a:ext cx="10323576" cy="548640"/>
          </a:xfrm>
          <a:prstGeom prst="rect">
            <a:avLst/>
          </a:prstGeom>
          <a:noFill/>
        </p:spPr>
        <p:txBody>
          <a:bodyPr wrap="square" lIns="0" tIns="0" rIns="0" bIns="0" anchor="t">
            <a:noAutofit/>
          </a:bodyPr>
          <a:lstStyle/>
          <a:p>
            <a:pPr algn="l"/>
            <a:r>
              <a:rPr lang="en-US" altLang="en-US" sz="2400" b="1" i="0" dirty="0">
                <a:solidFill>
                  <a:srgbClr val="1A1A1A"/>
                </a:solidFill>
                <a:latin typeface="Arial"/>
                <a:ea typeface="Arial"/>
                <a:cs typeface="Arial"/>
              </a:rPr>
              <a:t>Contents</a:t>
            </a:r>
          </a:p>
        </p:txBody>
      </p:sp>
      <p:sp>
        <p:nvSpPr>
          <p:cNvPr id="29" name="TextBox 28"/>
          <p:cNvSpPr txBox="1"/>
          <p:nvPr/>
        </p:nvSpPr>
        <p:spPr>
          <a:xfrm>
            <a:off x="676656" y="949524"/>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1</a:t>
            </a:r>
          </a:p>
        </p:txBody>
      </p:sp>
      <p:sp>
        <p:nvSpPr>
          <p:cNvPr id="30" name="TextBox 29"/>
          <p:cNvSpPr txBox="1"/>
          <p:nvPr/>
        </p:nvSpPr>
        <p:spPr>
          <a:xfrm>
            <a:off x="1154383" y="949524"/>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Introduction</a:t>
            </a:r>
          </a:p>
        </p:txBody>
      </p:sp>
      <p:sp>
        <p:nvSpPr>
          <p:cNvPr id="32" name="TextBox 31"/>
          <p:cNvSpPr txBox="1"/>
          <p:nvPr/>
        </p:nvSpPr>
        <p:spPr>
          <a:xfrm>
            <a:off x="676656" y="1608618"/>
            <a:ext cx="685800" cy="566928"/>
          </a:xfrm>
          <a:prstGeom prst="rect">
            <a:avLst/>
          </a:prstGeom>
          <a:noFill/>
        </p:spPr>
        <p:txBody>
          <a:bodyPr wrap="square" lIns="0" tIns="0" rIns="0" bIns="0" anchor="ctr">
            <a:noAutofit/>
          </a:bodyPr>
          <a:lstStyle/>
          <a:p>
            <a:pPr algn="l"/>
            <a:r>
              <a:rPr lang="en-US" altLang="en-US" sz="2000" b="1" i="0" dirty="0">
                <a:solidFill>
                  <a:srgbClr val="3375BE"/>
                </a:solidFill>
                <a:latin typeface="Arial"/>
                <a:ea typeface="Arial"/>
                <a:cs typeface="Arial"/>
              </a:rPr>
              <a:t>2</a:t>
            </a:r>
          </a:p>
        </p:txBody>
      </p:sp>
      <p:sp>
        <p:nvSpPr>
          <p:cNvPr id="33" name="TextBox 32"/>
          <p:cNvSpPr txBox="1"/>
          <p:nvPr/>
        </p:nvSpPr>
        <p:spPr>
          <a:xfrm>
            <a:off x="1154383" y="1608618"/>
            <a:ext cx="7772400" cy="566928"/>
          </a:xfrm>
          <a:prstGeom prst="rect">
            <a:avLst/>
          </a:prstGeom>
          <a:noFill/>
        </p:spPr>
        <p:txBody>
          <a:bodyPr wrap="square" lIns="0" tIns="0" rIns="0" bIns="0" anchor="ctr">
            <a:noAutofit/>
          </a:bodyPr>
          <a:lstStyle/>
          <a:p>
            <a:pPr algn="l"/>
            <a:r>
              <a:rPr lang="en-US" altLang="en-US" sz="2000" b="1" i="0" dirty="0">
                <a:solidFill>
                  <a:srgbClr val="1A1A1A"/>
                </a:solidFill>
                <a:latin typeface="Arial"/>
                <a:ea typeface="Arial"/>
                <a:cs typeface="Arial"/>
              </a:rPr>
              <a:t>Proposed Method</a:t>
            </a:r>
          </a:p>
        </p:txBody>
      </p:sp>
      <p:sp>
        <p:nvSpPr>
          <p:cNvPr id="35" name="TextBox 34"/>
          <p:cNvSpPr txBox="1"/>
          <p:nvPr/>
        </p:nvSpPr>
        <p:spPr>
          <a:xfrm>
            <a:off x="676656" y="2267712"/>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3</a:t>
            </a:r>
          </a:p>
        </p:txBody>
      </p:sp>
      <p:sp>
        <p:nvSpPr>
          <p:cNvPr id="36" name="TextBox 35"/>
          <p:cNvSpPr txBox="1"/>
          <p:nvPr/>
        </p:nvSpPr>
        <p:spPr>
          <a:xfrm>
            <a:off x="1154383" y="2267712"/>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Performance Evaluation</a:t>
            </a:r>
          </a:p>
        </p:txBody>
      </p:sp>
      <p:sp>
        <p:nvSpPr>
          <p:cNvPr id="38" name="TextBox 37"/>
          <p:cNvSpPr txBox="1"/>
          <p:nvPr/>
        </p:nvSpPr>
        <p:spPr>
          <a:xfrm>
            <a:off x="676656" y="2926806"/>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4</a:t>
            </a:r>
          </a:p>
        </p:txBody>
      </p:sp>
      <p:sp>
        <p:nvSpPr>
          <p:cNvPr id="39" name="TextBox 38"/>
          <p:cNvSpPr txBox="1"/>
          <p:nvPr/>
        </p:nvSpPr>
        <p:spPr>
          <a:xfrm>
            <a:off x="1154383" y="2926806"/>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Experiment Result</a:t>
            </a:r>
          </a:p>
        </p:txBody>
      </p:sp>
      <p:sp>
        <p:nvSpPr>
          <p:cNvPr id="41" name="TextBox 40"/>
          <p:cNvSpPr txBox="1"/>
          <p:nvPr/>
        </p:nvSpPr>
        <p:spPr>
          <a:xfrm>
            <a:off x="676656" y="3585900"/>
            <a:ext cx="685800" cy="566928"/>
          </a:xfrm>
          <a:prstGeom prst="rect">
            <a:avLst/>
          </a:prstGeom>
          <a:noFill/>
        </p:spPr>
        <p:txBody>
          <a:bodyPr wrap="square" lIns="0" tIns="0" rIns="0" bIns="0" anchor="ctr">
            <a:noAutofit/>
          </a:bodyPr>
          <a:lstStyle/>
          <a:p>
            <a:pPr algn="l"/>
            <a:r>
              <a:rPr lang="en-US" altLang="en-US" sz="2000" b="1" i="0">
                <a:solidFill>
                  <a:srgbClr val="3375BE"/>
                </a:solidFill>
                <a:latin typeface="Arial"/>
                <a:ea typeface="Arial"/>
                <a:cs typeface="Arial"/>
              </a:rPr>
              <a:t>5</a:t>
            </a:r>
          </a:p>
        </p:txBody>
      </p:sp>
      <p:sp>
        <p:nvSpPr>
          <p:cNvPr id="42" name="TextBox 41"/>
          <p:cNvSpPr txBox="1"/>
          <p:nvPr/>
        </p:nvSpPr>
        <p:spPr>
          <a:xfrm>
            <a:off x="1154383" y="3585900"/>
            <a:ext cx="7772400" cy="566928"/>
          </a:xfrm>
          <a:prstGeom prst="rect">
            <a:avLst/>
          </a:prstGeom>
          <a:noFill/>
        </p:spPr>
        <p:txBody>
          <a:bodyPr wrap="square" lIns="0" tIns="0" rIns="0" bIns="0" anchor="ctr">
            <a:noAutofit/>
          </a:bodyPr>
          <a:lstStyle/>
          <a:p>
            <a:pPr algn="l"/>
            <a:r>
              <a:rPr lang="en-US" altLang="en-US" sz="2000" b="1" i="0">
                <a:solidFill>
                  <a:srgbClr val="1A1A1A"/>
                </a:solidFill>
                <a:latin typeface="Arial"/>
                <a:ea typeface="Arial"/>
                <a:cs typeface="Arial"/>
              </a:rPr>
              <a:t>Conclusion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2</a:t>
            </a:r>
          </a:p>
        </p:txBody>
      </p:sp>
      <p:sp>
        <p:nvSpPr>
          <p:cNvPr id="28" name="TextBox 27"/>
          <p:cNvSpPr txBox="1"/>
          <p:nvPr/>
        </p:nvSpPr>
        <p:spPr>
          <a:xfrm>
            <a:off x="713232" y="22088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vector layer is the part that gets replaced after deployment</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RAG system combines an embedding model, a store, and a language model</a:t>
            </a:r>
          </a:p>
          <a:p>
            <a:pPr marL="256032" indent="-256032" algn="l">
              <a:lnSpc>
                <a:spcPct val="125000"/>
              </a:lnSpc>
              <a:spcBef>
                <a:spcPts val="900"/>
              </a:spcBef>
            </a:pPr>
            <a:r>
              <a:rPr lang="en-US" altLang="en-US" sz="1600" b="0" i="0">
                <a:solidFill>
                  <a:srgbClr val="1A1A1A"/>
                </a:solidFill>
                <a:latin typeface="Arial"/>
                <a:ea typeface="Arial"/>
                <a:cs typeface="Arial"/>
              </a:rPr>
              <a:t>·   A common migration moves it to a converged database that embeds internally</a:t>
            </a:r>
          </a:p>
        </p:txBody>
      </p:sp>
      <p:pic>
        <p:nvPicPr>
          <p:cNvPr id="31" name="Picture 30" descr="slide2-fig-intro-rag.png"/>
          <p:cNvPicPr>
            <a:picLocks noChangeAspect="1"/>
          </p:cNvPicPr>
          <p:nvPr/>
        </p:nvPicPr>
        <p:blipFill>
          <a:blip r:embed="rId3"/>
          <a:stretch>
            <a:fillRect/>
          </a:stretch>
        </p:blipFill>
        <p:spPr>
          <a:xfrm>
            <a:off x="792480" y="2896730"/>
            <a:ext cx="10607040" cy="237329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3</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One migration changes two things at the same time</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store and the embedding placement move together, not one at a time</a:t>
            </a:r>
          </a:p>
          <a:p>
            <a:pPr marL="256032" indent="-256032" algn="l">
              <a:lnSpc>
                <a:spcPct val="125000"/>
              </a:lnSpc>
              <a:spcBef>
                <a:spcPts val="900"/>
              </a:spcBef>
            </a:pPr>
            <a:r>
              <a:rPr lang="en-US" altLang="en-US" sz="1600" b="0" i="0">
                <a:solidFill>
                  <a:srgbClr val="1A1A1A"/>
                </a:solidFill>
                <a:latin typeface="Arial"/>
                <a:ea typeface="Arial"/>
                <a:cs typeface="Arial"/>
              </a:rPr>
              <a:t>·   A governance-driven migration pulls the model inside, and the model size limit follows</a:t>
            </a:r>
          </a:p>
          <a:p>
            <a:pPr marL="256032" indent="-256032" algn="l">
              <a:lnSpc>
                <a:spcPct val="125000"/>
              </a:lnSpc>
              <a:spcBef>
                <a:spcPts val="900"/>
              </a:spcBef>
            </a:pPr>
            <a:r>
              <a:rPr lang="en-US" altLang="en-US" sz="1600" b="0" i="0">
                <a:solidFill>
                  <a:srgbClr val="1A1A1A"/>
                </a:solidFill>
                <a:latin typeface="Arial"/>
                <a:ea typeface="Arial"/>
                <a:cs typeface="Arial"/>
              </a:rPr>
              <a:t>·   A single before-and-after comparison cannot attribute the change to either factor</a:t>
            </a:r>
          </a:p>
        </p:txBody>
      </p:sp>
      <p:pic>
        <p:nvPicPr>
          <p:cNvPr id="31" name="Picture 30" descr="slide2-fig-intro-problem.png"/>
          <p:cNvPicPr>
            <a:picLocks noChangeAspect="1"/>
          </p:cNvPicPr>
          <p:nvPr/>
        </p:nvPicPr>
        <p:blipFill>
          <a:blip r:embed="rId3"/>
          <a:stretch>
            <a:fillRect/>
          </a:stretch>
        </p:blipFill>
        <p:spPr>
          <a:xfrm>
            <a:off x="792480" y="3096103"/>
            <a:ext cx="10607040" cy="226207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Introduction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dirty="0">
                <a:solidFill>
                  <a:srgbClr val="3375BE"/>
                </a:solidFill>
                <a:latin typeface="Arial"/>
                <a:ea typeface="Arial"/>
                <a:cs typeface="Arial"/>
              </a:rPr>
              <a:t>Misattributing the cause leads to the wrong remedy</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decline cannot be assigned to the store or to the model</a:t>
            </a:r>
          </a:p>
          <a:p>
            <a:pPr marL="256032" indent="-256032" algn="l">
              <a:lnSpc>
                <a:spcPct val="125000"/>
              </a:lnSpc>
              <a:spcBef>
                <a:spcPts val="900"/>
              </a:spcBef>
            </a:pPr>
            <a:r>
              <a:rPr lang="en-US" altLang="en-US" sz="1600" b="0" i="0">
                <a:solidFill>
                  <a:srgbClr val="1A1A1A"/>
                </a:solidFill>
                <a:latin typeface="Arial"/>
                <a:ea typeface="Arial"/>
                <a:cs typeface="Arial"/>
              </a:rPr>
              <a:t>·   No observed change may mean no effect, or two effects cancelling each other out</a:t>
            </a:r>
          </a:p>
        </p:txBody>
      </p:sp>
      <p:pic>
        <p:nvPicPr>
          <p:cNvPr id="31" name="Picture 30" descr="slide2-fig-intro-misdiagnosis.png"/>
          <p:cNvPicPr>
            <a:picLocks noChangeAspect="1"/>
          </p:cNvPicPr>
          <p:nvPr/>
        </p:nvPicPr>
        <p:blipFill>
          <a:blip r:embed="rId3"/>
          <a:stretch>
            <a:fillRect/>
          </a:stretch>
        </p:blipFill>
        <p:spPr>
          <a:xfrm>
            <a:off x="792480" y="2626489"/>
            <a:ext cx="10607040" cy="284162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A bridge condition splits one comparison into two</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Load the target store with the vectors the source system has already produced</a:t>
            </a:r>
          </a:p>
          <a:p>
            <a:pPr marL="256032" indent="-256032" algn="l">
              <a:lnSpc>
                <a:spcPct val="125000"/>
              </a:lnSpc>
              <a:spcBef>
                <a:spcPts val="900"/>
              </a:spcBef>
            </a:pPr>
            <a:r>
              <a:rPr lang="en-US" altLang="en-US" sz="1600" b="0" i="0">
                <a:solidFill>
                  <a:srgbClr val="1A1A1A"/>
                </a:solidFill>
                <a:latin typeface="Arial"/>
                <a:ea typeface="Arial"/>
                <a:cs typeface="Arial"/>
              </a:rPr>
              <a:t>·   A to B differs only in the store, B to C only in the placement</a:t>
            </a:r>
          </a:p>
          <a:p>
            <a:pPr marL="256032" indent="-256032" algn="l">
              <a:lnSpc>
                <a:spcPct val="125000"/>
              </a:lnSpc>
              <a:spcBef>
                <a:spcPts val="900"/>
              </a:spcBef>
            </a:pPr>
            <a:r>
              <a:rPr lang="en-US" altLang="en-US" sz="1600" b="0" i="0">
                <a:solidFill>
                  <a:srgbClr val="1A1A1A"/>
                </a:solidFill>
                <a:latin typeface="Arial"/>
                <a:ea typeface="Arial"/>
                <a:cs typeface="Arial"/>
              </a:rPr>
              <a:t>·   No re-embedding is required, so the running service is left untouched</a:t>
            </a:r>
          </a:p>
        </p:txBody>
      </p:sp>
      <p:pic>
        <p:nvPicPr>
          <p:cNvPr id="31" name="Picture 30" descr="image.png"/>
          <p:cNvPicPr>
            <a:picLocks noChangeAspect="1"/>
          </p:cNvPicPr>
          <p:nvPr/>
        </p:nvPicPr>
        <p:blipFill>
          <a:blip r:embed="rId3"/>
          <a:stretch>
            <a:fillRect/>
          </a:stretch>
        </p:blipFill>
        <p:spPr>
          <a:xfrm>
            <a:off x="195353" y="3015228"/>
            <a:ext cx="11801293" cy="24528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6</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Proposed Method</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Network boundaries drop from two to one and the external model call disappears</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The baseline crosses two network boundaries to reach an external embedding service</a:t>
            </a:r>
          </a:p>
          <a:p>
            <a:pPr marL="256032" indent="-256032" algn="l">
              <a:lnSpc>
                <a:spcPct val="125000"/>
              </a:lnSpc>
              <a:spcBef>
                <a:spcPts val="900"/>
              </a:spcBef>
            </a:pPr>
            <a:r>
              <a:rPr lang="en-US" altLang="en-US" sz="1600" b="0">
                <a:solidFill>
                  <a:srgbClr val="1A1A1A"/>
                </a:solidFill>
                <a:latin typeface="Arial"/>
                <a:ea typeface="Arial"/>
                <a:cs typeface="Arial"/>
              </a:rPr>
              <a:t>·   After migration, embedding and search both run inside the database boundary</a:t>
            </a:r>
          </a:p>
          <a:p>
            <a:pPr marL="256032" indent="-256032" algn="l">
              <a:lnSpc>
                <a:spcPct val="125000"/>
              </a:lnSpc>
              <a:spcBef>
                <a:spcPts val="900"/>
              </a:spcBef>
            </a:pPr>
            <a:r>
              <a:rPr lang="en-US" altLang="en-US" sz="1600" b="0">
                <a:solidFill>
                  <a:srgbClr val="1A1A1A"/>
                </a:solidFill>
                <a:latin typeface="Arial"/>
                <a:ea typeface="Arial"/>
                <a:cs typeface="Arial"/>
              </a:rPr>
              <a:t>·   The retrieval rule and its parameters were held identical across the three conditions</a:t>
            </a:r>
          </a:p>
        </p:txBody>
      </p:sp>
      <p:pic>
        <p:nvPicPr>
          <p:cNvPr id="31" name="Picture 30" descr="_arch-nodot.png"/>
          <p:cNvPicPr>
            <a:picLocks noChangeAspect="1"/>
          </p:cNvPicPr>
          <p:nvPr/>
        </p:nvPicPr>
        <p:blipFill>
          <a:blip r:embed="rId3"/>
          <a:stretch>
            <a:fillRect/>
          </a:stretch>
        </p:blipFill>
        <p:spPr>
          <a:xfrm>
            <a:off x="1025998" y="2852928"/>
            <a:ext cx="10139698" cy="334670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7</a:t>
            </a:r>
          </a:p>
        </p:txBody>
      </p:sp>
      <p:sp>
        <p:nvSpPr>
          <p:cNvPr id="28" name="TextBox 27"/>
          <p:cNvSpPr txBox="1"/>
          <p:nvPr/>
        </p:nvSpPr>
        <p:spPr>
          <a:xfrm>
            <a:off x="713232" y="224942"/>
            <a:ext cx="10323576" cy="548640"/>
          </a:xfrm>
          <a:prstGeom prst="rect">
            <a:avLst/>
          </a:prstGeom>
          <a:noFill/>
        </p:spPr>
        <p:txBody>
          <a:bodyPr wrap="square" lIns="0" tIns="0" rIns="0" bIns="0" anchor="t">
            <a:noAutofit/>
          </a:bodyPr>
          <a:lstStyle/>
          <a:p>
            <a:r>
              <a:rPr lang="en-US" altLang="en-US" sz="2400" b="1">
                <a:solidFill>
                  <a:srgbClr val="1A1A1A"/>
                </a:solidFill>
                <a:latin typeface="Arial"/>
                <a:ea typeface="Arial"/>
                <a:cs typeface="Arial"/>
              </a:rPr>
              <a:t>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r>
              <a:rPr lang="en-US" altLang="en-US" sz="1700" b="1" dirty="0">
                <a:solidFill>
                  <a:srgbClr val="3375BE"/>
                </a:solidFill>
                <a:latin typeface="Arial"/>
                <a:ea typeface="Arial"/>
                <a:cs typeface="Arial"/>
              </a:rPr>
              <a:t>Testbed — DILAB, a product-review analysis service in production</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dirty="0">
                <a:solidFill>
                  <a:srgbClr val="1A1A1A"/>
                </a:solidFill>
                <a:latin typeface="Arial"/>
                <a:ea typeface="Arial"/>
                <a:cs typeface="Arial"/>
              </a:rPr>
              <a:t>·   Consumer and expert reviews are embedded into a vector store and served as evidence-cited reports</a:t>
            </a:r>
          </a:p>
          <a:p>
            <a:pPr marL="256032" indent="-256032">
              <a:lnSpc>
                <a:spcPct val="125000"/>
              </a:lnSpc>
              <a:spcBef>
                <a:spcPts val="900"/>
              </a:spcBef>
            </a:pPr>
            <a:r>
              <a:rPr lang="en-US" altLang="en-US" sz="1600" b="0" dirty="0">
                <a:solidFill>
                  <a:srgbClr val="1A1A1A"/>
                </a:solidFill>
                <a:latin typeface="Arial"/>
                <a:ea typeface="Arial"/>
                <a:cs typeface="Arial"/>
              </a:rPr>
              <a:t>·   The 1,347-chunk corpus and 43 queries in our experiments come from this service</a:t>
            </a:r>
          </a:p>
        </p:txBody>
      </p:sp>
      <p:pic>
        <p:nvPicPr>
          <p:cNvPr id="31" name="Picture 30" descr="fig1-architecture.png"/>
          <p:cNvPicPr>
            <a:picLocks noChangeAspect="1"/>
          </p:cNvPicPr>
          <p:nvPr/>
        </p:nvPicPr>
        <p:blipFill>
          <a:blip r:embed="rId3"/>
          <a:stretch>
            <a:fillRect/>
          </a:stretch>
        </p:blipFill>
        <p:spPr>
          <a:xfrm>
            <a:off x="225811" y="2395728"/>
            <a:ext cx="6521639" cy="3670372"/>
          </a:xfrm>
          <a:prstGeom prst="rect">
            <a:avLst/>
          </a:prstGeom>
        </p:spPr>
      </p:pic>
      <p:pic>
        <p:nvPicPr>
          <p:cNvPr id="32" name="Picture 31" descr="fig2-product.png"/>
          <p:cNvPicPr>
            <a:picLocks noChangeAspect="1"/>
          </p:cNvPicPr>
          <p:nvPr/>
        </p:nvPicPr>
        <p:blipFill>
          <a:blip r:embed="rId4"/>
          <a:stretch>
            <a:fillRect/>
          </a:stretch>
        </p:blipFill>
        <p:spPr>
          <a:xfrm>
            <a:off x="7021770" y="2257770"/>
            <a:ext cx="4502459" cy="3808330"/>
          </a:xfrm>
          <a:prstGeom prst="rect">
            <a:avLst/>
          </a:prstGeom>
        </p:spPr>
      </p:pic>
      <p:sp>
        <p:nvSpPr>
          <p:cNvPr id="33" name="TextBox 32"/>
          <p:cNvSpPr txBox="1"/>
          <p:nvPr/>
        </p:nvSpPr>
        <p:spPr>
          <a:xfrm>
            <a:off x="400999" y="6139252"/>
            <a:ext cx="6034218" cy="256032"/>
          </a:xfrm>
          <a:prstGeom prst="rect">
            <a:avLst/>
          </a:prstGeom>
          <a:noFill/>
        </p:spPr>
        <p:txBody>
          <a:bodyPr wrap="square" lIns="0" tIns="0" rIns="0" bIns="0" anchor="t">
            <a:noAutofit/>
          </a:bodyPr>
          <a:lstStyle/>
          <a:p>
            <a:pPr algn="ctr"/>
            <a:r>
              <a:rPr lang="en-US" altLang="en-US" sz="1100" b="0">
                <a:solidFill>
                  <a:srgbClr val="6D6D6D"/>
                </a:solidFill>
                <a:latin typeface="Arial"/>
                <a:ea typeface="Arial"/>
                <a:cs typeface="Arial"/>
              </a:rPr>
              <a:t>System architecture &amp; analysis pipeline</a:t>
            </a:r>
          </a:p>
        </p:txBody>
      </p:sp>
      <p:sp>
        <p:nvSpPr>
          <p:cNvPr id="34" name="TextBox 33"/>
          <p:cNvSpPr txBox="1"/>
          <p:nvPr/>
        </p:nvSpPr>
        <p:spPr>
          <a:xfrm>
            <a:off x="7400910" y="6139252"/>
            <a:ext cx="4015037" cy="256032"/>
          </a:xfrm>
          <a:prstGeom prst="rect">
            <a:avLst/>
          </a:prstGeom>
          <a:noFill/>
        </p:spPr>
        <p:txBody>
          <a:bodyPr wrap="square" lIns="0" tIns="0" rIns="0" bIns="0" anchor="t">
            <a:noAutofit/>
          </a:bodyPr>
          <a:lstStyle/>
          <a:p>
            <a:pPr algn="ctr"/>
            <a:r>
              <a:rPr lang="en-US" altLang="en-US" sz="1100" b="0">
                <a:solidFill>
                  <a:srgbClr val="6D6D6D"/>
                </a:solidFill>
                <a:latin typeface="Arial"/>
                <a:ea typeface="Arial"/>
                <a:cs typeface="Arial"/>
              </a:rPr>
              <a:t>Product report dashboard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8</a:t>
            </a:r>
          </a:p>
        </p:txBody>
      </p:sp>
      <p:sp>
        <p:nvSpPr>
          <p:cNvPr id="28" name="TextBox 27"/>
          <p:cNvSpPr txBox="1"/>
          <p:nvPr/>
        </p:nvSpPr>
        <p:spPr>
          <a:xfrm>
            <a:off x="713232" y="225148"/>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Performance Evaluation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Three conditions measured over 1,347 chunks and 43 fixed queries</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Retrieval agreement, evidence relevance on a 0 to 2 scale, and search latency</a:t>
            </a:r>
          </a:p>
          <a:p>
            <a:pPr marL="256032" indent="-256032" algn="l">
              <a:lnSpc>
                <a:spcPct val="125000"/>
              </a:lnSpc>
              <a:spcBef>
                <a:spcPts val="900"/>
              </a:spcBef>
            </a:pPr>
            <a:r>
              <a:rPr lang="en-US" altLang="en-US" sz="1600" b="0" i="0">
                <a:solidFill>
                  <a:srgbClr val="1A1A1A"/>
                </a:solidFill>
                <a:latin typeface="Arial"/>
                <a:ea typeface="Arial"/>
                <a:cs typeface="Arial"/>
              </a:rPr>
              <a:t>·   Confidence intervals from 10,000 bootstrap resamples on an entry-level instance</a:t>
            </a:r>
          </a:p>
        </p:txBody>
      </p:sp>
      <p:pic>
        <p:nvPicPr>
          <p:cNvPr id="31" name="Picture 30" descr="slide2-fig-setup-matrix.png"/>
          <p:cNvPicPr>
            <a:picLocks noChangeAspect="1"/>
          </p:cNvPicPr>
          <p:nvPr/>
        </p:nvPicPr>
        <p:blipFill>
          <a:blip r:embed="rId3"/>
          <a:stretch>
            <a:fillRect/>
          </a:stretch>
        </p:blipFill>
        <p:spPr>
          <a:xfrm>
            <a:off x="702469" y="2578244"/>
            <a:ext cx="10787062" cy="260386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9</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Store factor — no quality change was detected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An identical top-10 set was returned for 37 of the 43 queries</a:t>
            </a:r>
          </a:p>
          <a:p>
            <a:pPr marL="256032" indent="-256032" algn="l">
              <a:lnSpc>
                <a:spcPct val="125000"/>
              </a:lnSpc>
              <a:spcBef>
                <a:spcPts val="900"/>
              </a:spcBef>
            </a:pPr>
            <a:r>
              <a:rPr lang="en-US" altLang="en-US" sz="1600" b="0" i="0">
                <a:solidFill>
                  <a:srgbClr val="1A1A1A"/>
                </a:solidFill>
                <a:latin typeface="Arial"/>
                <a:ea typeface="Arial"/>
                <a:cs typeface="Arial"/>
              </a:rPr>
              <a:t>·   What the approximate index missed amounts to about 1.6 percent</a:t>
            </a:r>
          </a:p>
          <a:p>
            <a:pPr marL="256032" indent="-256032" algn="l">
              <a:lnSpc>
                <a:spcPct val="125000"/>
              </a:lnSpc>
              <a:spcBef>
                <a:spcPts val="900"/>
              </a:spcBef>
            </a:pPr>
            <a:r>
              <a:rPr lang="en-US" altLang="en-US" sz="1600" b="0" i="0">
                <a:solidFill>
                  <a:srgbClr val="1A1A1A"/>
                </a:solidFill>
                <a:latin typeface="Arial"/>
                <a:ea typeface="Arial"/>
                <a:cs typeface="Arial"/>
              </a:rPr>
              <a:t>·   A Wilcoxon test on the queries remaining after ties agrees (p = 0.908)</a:t>
            </a:r>
          </a:p>
        </p:txBody>
      </p:sp>
      <p:pic>
        <p:nvPicPr>
          <p:cNvPr id="31" name="Picture 30" descr="slide2-fig-result-store.png"/>
          <p:cNvPicPr>
            <a:picLocks noChangeAspect="1"/>
          </p:cNvPicPr>
          <p:nvPr/>
        </p:nvPicPr>
        <p:blipFill>
          <a:blip r:embed="rId3"/>
          <a:stretch>
            <a:fillRect/>
          </a:stretch>
        </p:blipFill>
        <p:spPr>
          <a:xfrm>
            <a:off x="792480" y="2927695"/>
            <a:ext cx="10607040" cy="190496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10</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How the two metrics are read</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measures how much the two top-10 sets overlap, on a 0 to 1 scale</a:t>
            </a:r>
          </a:p>
          <a:p>
            <a:pPr marL="256032" indent="-256032" algn="l">
              <a:lnSpc>
                <a:spcPct val="125000"/>
              </a:lnSpc>
              <a:spcBef>
                <a:spcPts val="900"/>
              </a:spcBef>
            </a:pPr>
            <a:r>
              <a:rPr lang="en-US" altLang="en-US" sz="1600" b="0">
                <a:solidFill>
                  <a:srgbClr val="1A1A1A"/>
                </a:solidFill>
                <a:latin typeface="Arial"/>
                <a:ea typeface="Arial"/>
                <a:cs typeface="Arial"/>
              </a:rPr>
              <a:t>·   The p value is how well chance alone explains the observed difference</a:t>
            </a:r>
          </a:p>
          <a:p>
            <a:pPr marL="256032" indent="-256032" algn="l">
              <a:lnSpc>
                <a:spcPct val="125000"/>
              </a:lnSpc>
              <a:spcBef>
                <a:spcPts val="900"/>
              </a:spcBef>
            </a:pPr>
            <a:r>
              <a:rPr lang="en-US" altLang="en-US" sz="1600" b="0">
                <a:solidFill>
                  <a:srgbClr val="1A1A1A"/>
                </a:solidFill>
                <a:latin typeface="Arial"/>
                <a:ea typeface="Arial"/>
                <a:cs typeface="Arial"/>
              </a:rPr>
              <a:t>·   Here both conditions returned the same list and the difference sits mid-distribution</a:t>
            </a:r>
          </a:p>
        </p:txBody>
      </p:sp>
      <p:pic>
        <p:nvPicPr>
          <p:cNvPr id="31" name="Picture 30" descr="image.png"/>
          <p:cNvPicPr>
            <a:picLocks noChangeAspect="1"/>
          </p:cNvPicPr>
          <p:nvPr/>
        </p:nvPicPr>
        <p:blipFill>
          <a:blip r:embed="rId3"/>
          <a:stretch>
            <a:fillRect/>
          </a:stretch>
        </p:blipFill>
        <p:spPr>
          <a:xfrm>
            <a:off x="620081" y="3054576"/>
            <a:ext cx="10951532" cy="314505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11</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Placement factor — a significant, medium-sized effect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The same store and the same search method returned mostly different evidence</a:t>
            </a:r>
          </a:p>
          <a:p>
            <a:pPr marL="256032" indent="-256032" algn="l">
              <a:lnSpc>
                <a:spcPct val="125000"/>
              </a:lnSpc>
              <a:spcBef>
                <a:spcPts val="900"/>
              </a:spcBef>
            </a:pPr>
            <a:r>
              <a:rPr lang="en-US" altLang="en-US" sz="1600" b="0" i="0">
                <a:solidFill>
                  <a:srgbClr val="1A1A1A"/>
                </a:solidFill>
                <a:latin typeface="Arial"/>
                <a:ea typeface="Arial"/>
                <a:cs typeface="Arial"/>
              </a:rPr>
              <a:t>·   Since no store effect was detected, the change is attributable to the placement factor</a:t>
            </a:r>
          </a:p>
          <a:p>
            <a:pPr marL="256032" indent="-256032" algn="l">
              <a:lnSpc>
                <a:spcPct val="125000"/>
              </a:lnSpc>
              <a:spcBef>
                <a:spcPts val="900"/>
              </a:spcBef>
            </a:pPr>
            <a:r>
              <a:rPr lang="en-US" altLang="en-US" sz="1600" b="0" i="0">
                <a:solidFill>
                  <a:srgbClr val="1A1A1A"/>
                </a:solidFill>
                <a:latin typeface="Arial"/>
                <a:ea typeface="Arial"/>
                <a:cs typeface="Arial"/>
              </a:rPr>
              <a:t>·   An end-to-end comparison alone would have blamed the store instead</a:t>
            </a:r>
          </a:p>
        </p:txBody>
      </p:sp>
      <p:pic>
        <p:nvPicPr>
          <p:cNvPr id="31" name="Picture 30" descr="slide2-fig-result-placement.png"/>
          <p:cNvPicPr>
            <a:picLocks noChangeAspect="1"/>
          </p:cNvPicPr>
          <p:nvPr/>
        </p:nvPicPr>
        <p:blipFill>
          <a:blip r:embed="rId3"/>
          <a:stretch>
            <a:fillRect/>
          </a:stretch>
        </p:blipFill>
        <p:spPr>
          <a:xfrm>
            <a:off x="792480" y="3004084"/>
            <a:ext cx="10607040" cy="1904963"/>
          </a:xfrm>
          <a:prstGeom prst="rect">
            <a:avLst/>
          </a:prstGeom>
        </p:spPr>
      </p:pic>
      <p:sp>
        <p:nvSpPr>
          <p:cNvPr id="3" name="TextBox 2">
            <a:extLst>
              <a:ext uri="{FF2B5EF4-FFF2-40B4-BE49-F238E27FC236}">
                <a16:creationId xmlns:a16="http://schemas.microsoft.com/office/drawing/2014/main" id="{F9524619-6348-A811-5AE3-E78292BAC5E2}"/>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12</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The same two metrics applied to the placement factor</a:t>
            </a:r>
          </a:p>
        </p:txBody>
      </p:sp>
      <p:sp>
        <p:nvSpPr>
          <p:cNvPr id="3" name="TextBox 2">
            <a:extLst>
              <a:ext uri="{FF2B5EF4-FFF2-40B4-BE49-F238E27FC236}">
                <a16:creationId xmlns:a16="http://schemas.microsoft.com/office/drawing/2014/main" id="{554CB5AE-D9F6-4DFD-D240-D6E14936C345}"/>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a:solidFill>
                  <a:srgbClr val="1A1A1A"/>
                </a:solidFill>
                <a:latin typeface="Arial"/>
                <a:ea typeface="Arial"/>
                <a:cs typeface="Arial"/>
              </a:rPr>
              <a:t>·   Jaccard falls from 0.971 to 0.175 and the p value from 0.523 to 0.003</a:t>
            </a:r>
          </a:p>
          <a:p>
            <a:pPr marL="256032" indent="-256032" algn="l">
              <a:lnSpc>
                <a:spcPct val="125000"/>
              </a:lnSpc>
              <a:spcBef>
                <a:spcPts val="900"/>
              </a:spcBef>
            </a:pPr>
            <a:r>
              <a:rPr lang="en-US" altLang="en-US" sz="1600" b="0">
                <a:solidFill>
                  <a:srgbClr val="1A1A1A"/>
                </a:solidFill>
                <a:latin typeface="Arial"/>
                <a:ea typeface="Arial"/>
                <a:cs typeface="Arial"/>
              </a:rPr>
              <a:t>·   Only 3 items are shared between the two top-10 lists</a:t>
            </a:r>
          </a:p>
          <a:p>
            <a:pPr marL="256032" indent="-256032" algn="l">
              <a:lnSpc>
                <a:spcPct val="125000"/>
              </a:lnSpc>
              <a:spcBef>
                <a:spcPts val="900"/>
              </a:spcBef>
            </a:pPr>
            <a:r>
              <a:rPr lang="en-US" altLang="en-US" sz="1600" b="0">
                <a:solidFill>
                  <a:srgbClr val="1A1A1A"/>
                </a:solidFill>
                <a:latin typeface="Arial"/>
                <a:ea typeface="Arial"/>
                <a:cs typeface="Arial"/>
              </a:rPr>
              <a:t>·   The observed difference now sits far out in the tail of the chance distribution</a:t>
            </a:r>
          </a:p>
        </p:txBody>
      </p:sp>
      <p:pic>
        <p:nvPicPr>
          <p:cNvPr id="31" name="Picture 30" descr="image.png"/>
          <p:cNvPicPr>
            <a:picLocks noChangeAspect="1"/>
          </p:cNvPicPr>
          <p:nvPr/>
        </p:nvPicPr>
        <p:blipFill>
          <a:blip r:embed="rId3"/>
          <a:stretch>
            <a:fillRect/>
          </a:stretch>
        </p:blipFill>
        <p:spPr>
          <a:xfrm>
            <a:off x="528060" y="3001723"/>
            <a:ext cx="11135574" cy="319790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13</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Claiming no difference requires an equivalence test of its own</a:t>
            </a:r>
          </a:p>
        </p:txBody>
      </p:sp>
      <p:sp>
        <p:nvSpPr>
          <p:cNvPr id="30" name="TextBox 29"/>
          <p:cNvSpPr txBox="1"/>
          <p:nvPr/>
        </p:nvSpPr>
        <p:spPr>
          <a:xfrm>
            <a:off x="713232" y="1389888"/>
            <a:ext cx="10323576" cy="1371600"/>
          </a:xfrm>
          <a:prstGeom prst="rect">
            <a:avLst/>
          </a:prstGeom>
          <a:noFill/>
        </p:spPr>
        <p:txBody>
          <a:bodyPr wrap="square" lIns="0" tIns="0" rIns="0" bIns="0" anchor="t">
            <a:noAutofit/>
          </a:bodyPr>
          <a:lstStyle/>
          <a:p>
            <a:pPr marL="256032" indent="-256032" algn="l">
              <a:lnSpc>
                <a:spcPct val="125000"/>
              </a:lnSpc>
            </a:pPr>
            <a:r>
              <a:rPr lang="en-US" altLang="en-US" sz="1600" b="0" i="0">
                <a:solidFill>
                  <a:srgbClr val="1A1A1A"/>
                </a:solidFill>
                <a:latin typeface="Arial"/>
                <a:ea typeface="Arial"/>
                <a:cs typeface="Arial"/>
              </a:rPr>
              <a:t>·   A non-significant p value is not evidence of equivalence</a:t>
            </a:r>
          </a:p>
          <a:p>
            <a:pPr marL="256032" indent="-256032" algn="l">
              <a:lnSpc>
                <a:spcPct val="125000"/>
              </a:lnSpc>
              <a:spcBef>
                <a:spcPts val="900"/>
              </a:spcBef>
            </a:pPr>
            <a:r>
              <a:rPr lang="en-US" altLang="en-US" sz="1600" b="0" i="0">
                <a:solidFill>
                  <a:srgbClr val="1A1A1A"/>
                </a:solidFill>
                <a:latin typeface="Arial"/>
                <a:ea typeface="Arial"/>
                <a:cs typeface="Arial"/>
              </a:rPr>
              <a:t>·   TOST over a plus or minus 0.15 range gave p = 0.052, so the level was not met</a:t>
            </a:r>
          </a:p>
          <a:p>
            <a:pPr marL="256032" indent="-256032" algn="l">
              <a:lnSpc>
                <a:spcPct val="125000"/>
              </a:lnSpc>
              <a:spcBef>
                <a:spcPts val="900"/>
              </a:spcBef>
            </a:pPr>
            <a:r>
              <a:rPr lang="en-US" altLang="en-US" sz="1600" b="0" i="0">
                <a:solidFill>
                  <a:srgbClr val="1A1A1A"/>
                </a:solidFill>
                <a:latin typeface="Arial"/>
                <a:ea typeface="Arial"/>
                <a:cs typeface="Arial"/>
              </a:rPr>
              <a:t>·   We report no effect detected with a bounded magnitude, not equivalence established</a:t>
            </a:r>
          </a:p>
        </p:txBody>
      </p:sp>
      <p:pic>
        <p:nvPicPr>
          <p:cNvPr id="31" name="Picture 30" descr="_equivalence.png"/>
          <p:cNvPicPr>
            <a:picLocks noChangeAspect="1"/>
          </p:cNvPicPr>
          <p:nvPr/>
        </p:nvPicPr>
        <p:blipFill>
          <a:blip r:embed="rId3"/>
          <a:stretch>
            <a:fillRect/>
          </a:stretch>
        </p:blipFill>
        <p:spPr>
          <a:xfrm>
            <a:off x="792327" y="2573293"/>
            <a:ext cx="10607040" cy="3626338"/>
          </a:xfrm>
          <a:prstGeom prst="rect">
            <a:avLst/>
          </a:prstGeom>
        </p:spPr>
      </p:pic>
      <p:sp>
        <p:nvSpPr>
          <p:cNvPr id="3" name="TextBox 2">
            <a:extLst>
              <a:ext uri="{FF2B5EF4-FFF2-40B4-BE49-F238E27FC236}">
                <a16:creationId xmlns:a16="http://schemas.microsoft.com/office/drawing/2014/main" id="{841E306E-7C77-2124-28C9-52549C60D1A0}"/>
              </a:ext>
            </a:extLst>
          </p:cNvPr>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Experiment Result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14</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pPr algn="l"/>
            <a:r>
              <a:rPr lang="en-US" altLang="en-US" sz="2400" b="1" i="0" dirty="0">
                <a:solidFill>
                  <a:srgbClr val="1A1A1A"/>
                </a:solidFill>
                <a:latin typeface="Arial"/>
                <a:ea typeface="Arial"/>
                <a:cs typeface="Arial"/>
              </a:rPr>
              <a:t>Conclusion</a:t>
            </a:r>
          </a:p>
        </p:txBody>
      </p:sp>
      <p:sp>
        <p:nvSpPr>
          <p:cNvPr id="29" name="TextBox 28"/>
          <p:cNvSpPr txBox="1"/>
          <p:nvPr/>
        </p:nvSpPr>
        <p:spPr>
          <a:xfrm>
            <a:off x="713232" y="905256"/>
            <a:ext cx="10323576" cy="384048"/>
          </a:xfrm>
          <a:prstGeom prst="rect">
            <a:avLst/>
          </a:prstGeom>
          <a:noFill/>
        </p:spPr>
        <p:txBody>
          <a:bodyPr wrap="square" lIns="0" tIns="0" rIns="0" bIns="0" anchor="t">
            <a:noAutofit/>
          </a:bodyPr>
          <a:lstStyle/>
          <a:p>
            <a:pPr algn="l"/>
            <a:r>
              <a:rPr lang="en-US" altLang="en-US" sz="1700" b="1" i="0">
                <a:solidFill>
                  <a:srgbClr val="3375BE"/>
                </a:solidFill>
                <a:latin typeface="Arial"/>
                <a:ea typeface="Arial"/>
                <a:cs typeface="Arial"/>
              </a:rPr>
              <a:t>Moving the placement is a trade in governance rather than in performance</a:t>
            </a:r>
          </a:p>
        </p:txBody>
      </p:sp>
      <p:sp>
        <p:nvSpPr>
          <p:cNvPr id="30" name="TextBox 29"/>
          <p:cNvSpPr txBox="1"/>
          <p:nvPr/>
        </p:nvSpPr>
        <p:spPr>
          <a:xfrm>
            <a:off x="713232" y="1389888"/>
            <a:ext cx="10323576" cy="1005840"/>
          </a:xfrm>
          <a:prstGeom prst="rect">
            <a:avLst/>
          </a:prstGeom>
          <a:noFill/>
        </p:spPr>
        <p:txBody>
          <a:bodyPr wrap="square" lIns="0" tIns="0" rIns="0" bIns="0" anchor="t">
            <a:noAutofit/>
          </a:bodyPr>
          <a:lstStyle/>
          <a:p>
            <a:pPr marL="256032" indent="-256032">
              <a:lnSpc>
                <a:spcPct val="125000"/>
              </a:lnSpc>
            </a:pPr>
            <a:r>
              <a:rPr lang="en-US" altLang="en-US" sz="1600" b="0">
                <a:solidFill>
                  <a:srgbClr val="1A1A1A"/>
                </a:solidFill>
                <a:latin typeface="Arial"/>
                <a:ea typeface="Arial"/>
                <a:cs typeface="Arial"/>
              </a:rPr>
              <a:t>·   A single bridge condition splits an end-to-end comparison into two single-factor comparisons</a:t>
            </a:r>
          </a:p>
          <a:p>
            <a:pPr marL="256032" indent="-256032">
              <a:lnSpc>
                <a:spcPct val="125000"/>
              </a:lnSpc>
              <a:spcBef>
                <a:spcPts val="900"/>
              </a:spcBef>
            </a:pPr>
            <a:r>
              <a:rPr lang="en-US" altLang="en-US" sz="1600" b="0">
                <a:solidFill>
                  <a:srgbClr val="1A1A1A"/>
                </a:solidFill>
                <a:latin typeface="Arial"/>
                <a:ea typeface="Arial"/>
                <a:cs typeface="Arial"/>
              </a:rPr>
              <a:t>·   No store effect was detected; the entire observed change came from the placement</a:t>
            </a:r>
          </a:p>
        </p:txBody>
      </p:sp>
      <p:sp>
        <p:nvSpPr>
          <p:cNvPr id="31" name="TextBox 30"/>
          <p:cNvSpPr txBox="1"/>
          <p:nvPr/>
        </p:nvSpPr>
        <p:spPr>
          <a:xfrm>
            <a:off x="713232" y="2596896"/>
            <a:ext cx="10323576" cy="365760"/>
          </a:xfrm>
          <a:prstGeom prst="rect">
            <a:avLst/>
          </a:prstGeom>
          <a:noFill/>
        </p:spPr>
        <p:txBody>
          <a:bodyPr wrap="square" lIns="0" tIns="0" rIns="0" bIns="0" anchor="t">
            <a:noAutofit/>
          </a:bodyPr>
          <a:lstStyle/>
          <a:p>
            <a:r>
              <a:rPr lang="en-US" altLang="en-US" sz="1700" b="1">
                <a:solidFill>
                  <a:srgbClr val="3375BE"/>
                </a:solidFill>
                <a:latin typeface="Arial"/>
                <a:ea typeface="Arial"/>
                <a:cs typeface="Arial"/>
              </a:rPr>
              <a:t>A practical decision rule</a:t>
            </a:r>
          </a:p>
        </p:txBody>
      </p:sp>
      <p:sp>
        <p:nvSpPr>
          <p:cNvPr id="32" name="TextBox 31"/>
          <p:cNvSpPr txBox="1"/>
          <p:nvPr/>
        </p:nvSpPr>
        <p:spPr>
          <a:xfrm>
            <a:off x="713232" y="3054096"/>
            <a:ext cx="10323576" cy="1005840"/>
          </a:xfrm>
          <a:prstGeom prst="rect">
            <a:avLst/>
          </a:prstGeom>
          <a:noFill/>
        </p:spPr>
        <p:txBody>
          <a:bodyPr wrap="square" lIns="0" tIns="0" rIns="0" bIns="0" anchor="t">
            <a:noAutofit/>
          </a:bodyPr>
          <a:lstStyle/>
          <a:p>
            <a:pPr marL="256032" indent="-256032">
              <a:lnSpc>
                <a:spcPct val="125000"/>
              </a:lnSpc>
            </a:pPr>
            <a:r>
              <a:rPr lang="en-US" altLang="en-US" sz="1600" b="0" dirty="0">
                <a:solidFill>
                  <a:srgbClr val="1A1A1A"/>
                </a:solidFill>
                <a:latin typeface="Arial"/>
                <a:ea typeface="Arial"/>
                <a:cs typeface="Arial"/>
              </a:rPr>
              <a:t>·   If governance of the stored data is the only goal, replacing the store alone is enough</a:t>
            </a:r>
          </a:p>
          <a:p>
            <a:pPr marL="256032" indent="-256032">
              <a:lnSpc>
                <a:spcPct val="125000"/>
              </a:lnSpc>
              <a:spcBef>
                <a:spcPts val="900"/>
              </a:spcBef>
            </a:pPr>
            <a:r>
              <a:rPr lang="en-US" altLang="en-US" sz="1600" b="0" dirty="0">
                <a:solidFill>
                  <a:srgbClr val="1A1A1A"/>
                </a:solidFill>
                <a:latin typeface="Arial"/>
                <a:ea typeface="Arial"/>
                <a:cs typeface="Arial"/>
              </a:rPr>
              <a:t>·   If the query path must stay inside, confirm the model size limit before migrating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직사각형 3"/>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4" name="직사각형 23"/>
          <p:cNvSpPr/>
          <p:nvPr/>
        </p:nvSpPr>
        <p:spPr>
          <a:xfrm>
            <a:off x="0" y="305691"/>
            <a:ext cx="617636" cy="386952"/>
          </a:xfrm>
          <a:prstGeom prst="rect">
            <a:avLst/>
          </a:prstGeom>
          <a:solidFill>
            <a:srgbClr val="3375BE">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6" name="직사각형 25"/>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15</a:t>
            </a:r>
          </a:p>
        </p:txBody>
      </p:sp>
      <p:sp>
        <p:nvSpPr>
          <p:cNvPr id="28" name="TextBox 27"/>
          <p:cNvSpPr txBox="1"/>
          <p:nvPr/>
        </p:nvSpPr>
        <p:spPr>
          <a:xfrm>
            <a:off x="713232" y="224847"/>
            <a:ext cx="10323576" cy="548640"/>
          </a:xfrm>
          <a:prstGeom prst="rect">
            <a:avLst/>
          </a:prstGeom>
          <a:noFill/>
        </p:spPr>
        <p:txBody>
          <a:bodyPr wrap="square" lIns="0" tIns="0" rIns="0" bIns="0" anchor="ctr">
            <a:noAutofit/>
          </a:bodyPr>
          <a:lstStyle/>
          <a:p>
            <a:r>
              <a:rPr lang="en-US" altLang="en-US" sz="2400" b="1" dirty="0">
                <a:solidFill>
                  <a:srgbClr val="1A1A1A"/>
                </a:solidFill>
                <a:latin typeface="Arial"/>
                <a:ea typeface="Arial"/>
                <a:cs typeface="Arial"/>
              </a:rPr>
              <a:t>References</a:t>
            </a:r>
          </a:p>
        </p:txBody>
      </p:sp>
      <p:sp>
        <p:nvSpPr>
          <p:cNvPr id="29" name="TextBox 28"/>
          <p:cNvSpPr txBox="1"/>
          <p:nvPr/>
        </p:nvSpPr>
        <p:spPr>
          <a:xfrm>
            <a:off x="713232" y="1051560"/>
            <a:ext cx="10323576" cy="5148072"/>
          </a:xfrm>
          <a:prstGeom prst="rect">
            <a:avLst/>
          </a:prstGeom>
          <a:noFill/>
        </p:spPr>
        <p:txBody>
          <a:bodyPr wrap="square" lIns="0" tIns="0" rIns="0" bIns="0" anchor="t">
            <a:noAutofit/>
          </a:bodyPr>
          <a:lstStyle/>
          <a:p>
            <a:pPr marL="384048" indent="-384048">
              <a:lnSpc>
                <a:spcPct val="118000"/>
              </a:lnSpc>
            </a:pPr>
            <a:r>
              <a:rPr lang="en-US" altLang="en-US" sz="1400" b="0">
                <a:solidFill>
                  <a:srgbClr val="1A1A1A"/>
                </a:solidFill>
                <a:latin typeface="Arial"/>
                <a:ea typeface="Arial"/>
                <a:cs typeface="Arial"/>
              </a:rPr>
              <a:t>[1] P. Lewis et al., “Retrieval-augmented generation for knowledge-intensive NLP tasks,” Advances in Neural Information Processing Systems, vol. 33, pp. 9459–9474, 2020.</a:t>
            </a:r>
          </a:p>
          <a:p>
            <a:pPr marL="384048" indent="-384048">
              <a:lnSpc>
                <a:spcPct val="118000"/>
              </a:lnSpc>
              <a:spcBef>
                <a:spcPts val="900"/>
              </a:spcBef>
            </a:pPr>
            <a:r>
              <a:rPr lang="en-US" altLang="en-US" sz="1400" b="0">
                <a:solidFill>
                  <a:srgbClr val="1A1A1A"/>
                </a:solidFill>
                <a:latin typeface="Arial"/>
                <a:ea typeface="Arial"/>
                <a:cs typeface="Arial"/>
              </a:rPr>
              <a:t>[2] Y. Gao et al., “Retrieval-augmented generation for large language models: A survey,” arXiv preprint arXiv:2312.10997, 2023.</a:t>
            </a:r>
          </a:p>
          <a:p>
            <a:pPr marL="384048" indent="-384048">
              <a:lnSpc>
                <a:spcPct val="118000"/>
              </a:lnSpc>
              <a:spcBef>
                <a:spcPts val="900"/>
              </a:spcBef>
            </a:pPr>
            <a:r>
              <a:rPr lang="en-US" altLang="en-US" sz="1400" b="0">
                <a:solidFill>
                  <a:srgbClr val="1A1A1A"/>
                </a:solidFill>
                <a:latin typeface="Arial"/>
                <a:ea typeface="Arial"/>
                <a:cs typeface="Arial"/>
              </a:rPr>
              <a:t>[3] Oracle, “Oracle AI Vector Search User’s Guide,” Oracle AI Database 26ai documentation, 2026.</a:t>
            </a:r>
          </a:p>
          <a:p>
            <a:pPr marL="384048" indent="-384048">
              <a:lnSpc>
                <a:spcPct val="118000"/>
              </a:lnSpc>
              <a:spcBef>
                <a:spcPts val="900"/>
              </a:spcBef>
            </a:pPr>
            <a:r>
              <a:rPr lang="en-US" altLang="en-US" sz="1400" b="0">
                <a:solidFill>
                  <a:srgbClr val="1A1A1A"/>
                </a:solidFill>
                <a:latin typeface="Arial"/>
                <a:ea typeface="Arial"/>
                <a:cs typeface="Arial"/>
              </a:rPr>
              <a:t>[4] L. Wang, N. Yang, X. Huang, L. Yang, R. Majumder, and F. Wei, “Multilingual E5 text embeddings: A technical report,” arXiv preprint arXiv:2402.05672, 2024.</a:t>
            </a:r>
          </a:p>
          <a:p>
            <a:pPr marL="384048" indent="-384048">
              <a:lnSpc>
                <a:spcPct val="118000"/>
              </a:lnSpc>
              <a:spcBef>
                <a:spcPts val="900"/>
              </a:spcBef>
            </a:pPr>
            <a:r>
              <a:rPr lang="en-US" altLang="en-US" sz="1400" b="0">
                <a:solidFill>
                  <a:srgbClr val="1A1A1A"/>
                </a:solidFill>
                <a:latin typeface="Arial"/>
                <a:ea typeface="Arial"/>
                <a:cs typeface="Arial"/>
              </a:rPr>
              <a:t>[5] pgvector, “pgvector: Open-source vector similarity search for Postgres,” GitHub repository, 2026.</a:t>
            </a:r>
          </a:p>
          <a:p>
            <a:pPr marL="384048" indent="-384048">
              <a:lnSpc>
                <a:spcPct val="118000"/>
              </a:lnSpc>
              <a:spcBef>
                <a:spcPts val="900"/>
              </a:spcBef>
            </a:pPr>
            <a:r>
              <a:rPr lang="en-US" altLang="en-US" sz="1400" b="0">
                <a:solidFill>
                  <a:srgbClr val="1A1A1A"/>
                </a:solidFill>
                <a:latin typeface="Arial"/>
                <a:ea typeface="Arial"/>
                <a:cs typeface="Arial"/>
              </a:rPr>
              <a:t>[6] J. Chen, S. Xiao, P. Zhang, K. Luo, D. Lian, and Z. Liu, “M3-Embedding: Multi-linguality, multi-functionality, multi-granularity text embeddings through self-knowledge distillation,” Findings of the Association for Computational Linguistics: ACL 2024, pp. 2318–2335, 2024.</a:t>
            </a:r>
          </a:p>
          <a:p>
            <a:pPr marL="384048" indent="-384048">
              <a:lnSpc>
                <a:spcPct val="118000"/>
              </a:lnSpc>
              <a:spcBef>
                <a:spcPts val="900"/>
              </a:spcBef>
            </a:pPr>
            <a:r>
              <a:rPr lang="en-US" altLang="en-US" sz="1400" b="0">
                <a:solidFill>
                  <a:srgbClr val="1A1A1A"/>
                </a:solidFill>
                <a:latin typeface="Arial"/>
                <a:ea typeface="Arial"/>
                <a:cs typeface="Arial"/>
              </a:rPr>
              <a:t>[7] Y. A. Malkov and D. A. Yashunin, “Efficient and robust approximate nearest neighbor search using hierarchical navigable small world graphs,” IEEE Transactions on Pattern Analysis and Machine Intelligence, vol. 42, no. 4, pp. 824–836, 2020.</a:t>
            </a:r>
          </a:p>
          <a:p>
            <a:pPr marL="384048" indent="-384048">
              <a:lnSpc>
                <a:spcPct val="118000"/>
              </a:lnSpc>
              <a:spcBef>
                <a:spcPts val="900"/>
              </a:spcBef>
            </a:pPr>
            <a:r>
              <a:rPr lang="en-US" altLang="en-US" sz="1400" b="0">
                <a:solidFill>
                  <a:srgbClr val="1A1A1A"/>
                </a:solidFill>
                <a:latin typeface="Arial"/>
                <a:ea typeface="Arial"/>
                <a:cs typeface="Arial"/>
              </a:rPr>
              <a:t>[8] L. Zheng et al., “Judging LLM-as-a-judge with MT-Bench and Chatbot Arena,” Advances in Neural Information Processing Systems, vol. 36, Datasets and Benchmarks Track, 2023.</a:t>
            </a:r>
          </a:p>
          <a:p>
            <a:pPr marL="384048" indent="-384048">
              <a:lnSpc>
                <a:spcPct val="118000"/>
              </a:lnSpc>
              <a:spcBef>
                <a:spcPts val="900"/>
              </a:spcBef>
            </a:pPr>
            <a:r>
              <a:rPr lang="en-US" altLang="en-US" sz="1400" b="0">
                <a:solidFill>
                  <a:srgbClr val="1A1A1A"/>
                </a:solidFill>
                <a:latin typeface="Arial"/>
                <a:ea typeface="Arial"/>
                <a:cs typeface="Arial"/>
              </a:rPr>
              <a:t>[9] D. Lakens, “Equivalence tests: A practical primer for t tests, correlations, and meta-analyses,” Social Psychological and Personality Science, vol. 8, no. 4, pp. 355–362, 2017.</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4A119-C188-F9F6-057A-A01843152677}"/>
            </a:ext>
          </a:extLst>
        </p:cNvPr>
        <p:cNvGrpSpPr/>
        <p:nvPr/>
      </p:nvGrpSpPr>
      <p:grpSpPr>
        <a:xfrm>
          <a:off x="0" y="0"/>
          <a:ext cx="0" cy="0"/>
          <a:chOff x="0" y="0"/>
          <a:chExt cx="0" cy="0"/>
        </a:xfrm>
      </p:grpSpPr>
      <p:sp>
        <p:nvSpPr>
          <p:cNvPr id="4" name="직사각형 3">
            <a:extLst>
              <a:ext uri="{FF2B5EF4-FFF2-40B4-BE49-F238E27FC236}">
                <a16:creationId xmlns:a16="http://schemas.microsoft.com/office/drawing/2014/main" id="{82A312D2-83DF-C026-4DCB-53BE682C96F4}"/>
              </a:ext>
            </a:extLst>
          </p:cNvPr>
          <p:cNvSpPr/>
          <p:nvPr/>
        </p:nvSpPr>
        <p:spPr>
          <a:xfrm>
            <a:off x="0" y="-1"/>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ko-KR" altLang="en-US"/>
          </a:p>
        </p:txBody>
      </p:sp>
      <p:sp>
        <p:nvSpPr>
          <p:cNvPr id="26" name="직사각형 25">
            <a:extLst>
              <a:ext uri="{FF2B5EF4-FFF2-40B4-BE49-F238E27FC236}">
                <a16:creationId xmlns:a16="http://schemas.microsoft.com/office/drawing/2014/main" id="{44FC25EB-05B2-E061-0FF8-6A0D881E3CD3}"/>
              </a:ext>
            </a:extLst>
          </p:cNvPr>
          <p:cNvSpPr/>
          <p:nvPr/>
        </p:nvSpPr>
        <p:spPr>
          <a:xfrm>
            <a:off x="0" y="6471048"/>
            <a:ext cx="11489531" cy="386952"/>
          </a:xfrm>
          <a:prstGeom prst="rect">
            <a:avLst/>
          </a:prstGeom>
          <a:solidFill>
            <a:srgbClr val="827E7F">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endParaRPr kumimoji="0" lang="ko-KR" altLang="en-US" sz="1800" b="0" i="0" u="none" strike="noStrike" kern="1200" cap="none" spc="0" normalizeH="0" baseline="0">
              <a:solidFill>
                <a:srgbClr val="FFFFFF"/>
              </a:solidFill>
              <a:latin typeface="맑은 고딕"/>
              <a:ea typeface="맑은 고딕"/>
              <a:cs typeface="맑은 고딕"/>
            </a:endParaRPr>
          </a:p>
        </p:txBody>
      </p:sp>
      <p:sp>
        <p:nvSpPr>
          <p:cNvPr id="27" name="직사각형 26">
            <a:extLst>
              <a:ext uri="{FF2B5EF4-FFF2-40B4-BE49-F238E27FC236}">
                <a16:creationId xmlns:a16="http://schemas.microsoft.com/office/drawing/2014/main" id="{24EECDF4-BCBE-F0BD-28A9-811191DA0005}"/>
              </a:ext>
            </a:extLst>
          </p:cNvPr>
          <p:cNvSpPr/>
          <p:nvPr/>
        </p:nvSpPr>
        <p:spPr>
          <a:xfrm>
            <a:off x="11574364" y="6471048"/>
            <a:ext cx="617636" cy="386952"/>
          </a:xfrm>
          <a:prstGeom prst="rect">
            <a:avLst/>
          </a:prstGeom>
          <a:solidFill>
            <a:srgbClr val="F94145">
              <a:alpha val="100000"/>
            </a:srgbClr>
          </a:solidFill>
          <a:ln w="12700" cap="flat" cmpd="sng" algn="ctr">
            <a:noFill/>
            <a:prstDash val="solid"/>
            <a:miter/>
          </a:ln>
        </p:spPr>
        <p:txBody>
          <a:bodyPr anchor="ctr"/>
          <a:lstStyle/>
          <a:p>
            <a:pPr marL="0" indent="0" algn="ctr" defTabSz="914400" rtl="0" eaLnBrk="1" latinLnBrk="1" hangingPunct="1">
              <a:lnSpc>
                <a:spcPct val="100000"/>
              </a:lnSpc>
              <a:spcBef>
                <a:spcPct val="0"/>
              </a:spcBef>
              <a:spcAft>
                <a:spcPts val="0"/>
              </a:spcAft>
              <a:buNone/>
              <a:defRPr/>
            </a:pPr>
            <a:r>
              <a:rPr lang="en-US" altLang="en-US" sz="1200" b="1">
                <a:solidFill>
                  <a:srgbClr val="FFFFFF"/>
                </a:solidFill>
                <a:latin typeface="Arial"/>
                <a:ea typeface="Arial"/>
                <a:cs typeface="Arial"/>
              </a:rPr>
              <a:t>16</a:t>
            </a:r>
          </a:p>
        </p:txBody>
      </p:sp>
      <p:sp>
        <p:nvSpPr>
          <p:cNvPr id="28" name="TextBox 27"/>
          <p:cNvSpPr txBox="1"/>
          <p:nvPr/>
        </p:nvSpPr>
        <p:spPr>
          <a:xfrm>
            <a:off x="676656" y="2651760"/>
            <a:ext cx="10835640" cy="1463040"/>
          </a:xfrm>
          <a:prstGeom prst="rect">
            <a:avLst/>
          </a:prstGeom>
          <a:noFill/>
        </p:spPr>
        <p:txBody>
          <a:bodyPr wrap="square" lIns="0" tIns="0" rIns="0" bIns="0" anchor="ctr">
            <a:noAutofit/>
          </a:bodyPr>
          <a:lstStyle/>
          <a:p>
            <a:pPr algn="ctr"/>
            <a:r>
              <a:rPr lang="en-US" altLang="en-US" sz="5400" b="1" i="0" dirty="0">
                <a:solidFill>
                  <a:srgbClr val="1A1A1A"/>
                </a:solidFill>
                <a:latin typeface="Arial"/>
                <a:ea typeface="Arial"/>
                <a:cs typeface="Arial"/>
              </a:rPr>
              <a:t>Thank You</a:t>
            </a:r>
          </a:p>
          <a:p>
            <a:pPr algn="ctr"/>
            <a:endParaRPr lang="en-US" altLang="en-US" sz="5400" b="1" dirty="0">
              <a:solidFill>
                <a:srgbClr val="1A1A1A"/>
              </a:solidFill>
              <a:latin typeface="Arial"/>
              <a:ea typeface="Arial"/>
              <a:cs typeface="Arial"/>
            </a:endParaRPr>
          </a:p>
          <a:p>
            <a:pPr algn="ctr"/>
            <a:r>
              <a:rPr lang="en-US" altLang="en-US" sz="2000" b="1" dirty="0">
                <a:solidFill>
                  <a:srgbClr val="1A1A1A"/>
                </a:solidFill>
                <a:latin typeface="Arial"/>
                <a:ea typeface="Arial"/>
                <a:cs typeface="Arial"/>
              </a:rPr>
              <a:t>Contact to me: wnsgk111400@sungkyul.ac.kr</a:t>
            </a:r>
            <a:endParaRPr lang="en-US" altLang="en-US" sz="2000" b="1" i="0" dirty="0">
              <a:solidFill>
                <a:srgbClr val="1A1A1A"/>
              </a:solidFill>
              <a:latin typeface="Arial"/>
              <a:ea typeface="Arial"/>
              <a:cs typeface="Arial"/>
            </a:endParaRPr>
          </a:p>
        </p:txBody>
      </p:sp>
    </p:spTree>
    <p:extLst>
      <p:ext uri="{BB962C8B-B14F-4D97-AF65-F5344CB8AC3E}">
        <p14:creationId xmlns:p14="http://schemas.microsoft.com/office/powerpoint/2010/main" val="2479411629"/>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한컴오피스">
  <a:themeElements>
    <a:clrScheme name="한컴오피스">
      <a:dk1>
        <a:sysClr val="windowText" lastClr="000000"/>
      </a:dk1>
      <a:lt1>
        <a:sysClr val="window" lastClr="FFFFFF"/>
      </a:lt1>
      <a:dk2>
        <a:srgbClr val="3A3C84"/>
      </a:dk2>
      <a:lt2>
        <a:srgbClr val="FAF3DB"/>
      </a:lt2>
      <a:accent1>
        <a:srgbClr val="6182D6"/>
      </a:accent1>
      <a:accent2>
        <a:srgbClr val="FF843A"/>
      </a:accent2>
      <a:accent3>
        <a:srgbClr val="B2B2B2"/>
      </a:accent3>
      <a:accent4>
        <a:srgbClr val="FFD700"/>
      </a:accent4>
      <a:accent5>
        <a:srgbClr val="289B6E"/>
      </a:accent5>
      <a:accent6>
        <a:srgbClr val="9D5CBB"/>
      </a:accent6>
      <a:hlink>
        <a:srgbClr val="0000FF"/>
      </a:hlink>
      <a:folHlink>
        <a:srgbClr val="800080"/>
      </a:folHlink>
    </a:clrScheme>
    <a:fontScheme name="한컴오피스">
      <a:maj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Times New Roman"/>
        <a:font script="Jpan" typeface="MS PGothic"/>
        <a:font script="Hang" typeface="맑은 고딕"/>
        <a:font script="Hans" typeface="SimSun"/>
        <a:font script="Hant" typeface="新細明體"/>
        <a:font script="Arab" typeface="Times New Roman"/>
        <a:font script="Hebr" typeface="Times New Roman"/>
        <a:font script="Thai" typeface="Angsana New"/>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한컴오피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12700" cap="flat" cmpd="sng" algn="ctr">
          <a:solidFill>
            <a:schemeClr val="phClr">
              <a:satMod val="105000"/>
            </a:scheme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rotWithShape="0">
              <a:srgbClr val="000000">
                <a:alpha val="75000"/>
              </a:srgbClr>
            </a:outerShdw>
          </a:effectLst>
        </a:effectStyle>
        <a:effectStyle>
          <a:effectLst>
            <a:outerShdw blurRad="38100" dist="25400" dir="5400000" rotWithShape="0">
              <a:srgbClr val="000000">
                <a:alpha val="75000"/>
              </a:srgbClr>
            </a:outerShdw>
          </a:effectLst>
        </a:effectStyle>
        <a:effectStyle>
          <a:effectLst>
            <a:reflection blurRad="12700" stA="26000" endPos="28000" dist="38100" dir="5400000" sy="-100000" rotWithShape="0"/>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1186</TotalTime>
  <Words>4136</Words>
  <Application>Microsoft Office PowerPoint</Application>
  <PresentationFormat>와이드스크린</PresentationFormat>
  <Paragraphs>300</Paragraphs>
  <Slides>17</Slides>
  <Notes>17</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17</vt:i4>
      </vt:variant>
    </vt:vector>
  </HeadingPairs>
  <TitlesOfParts>
    <vt:vector size="21" baseType="lpstr">
      <vt:lpstr>맑은 고딕</vt:lpstr>
      <vt:lpstr>Arial</vt:lpstr>
      <vt:lpstr>Calibri</vt:lpstr>
      <vt:lpstr>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yonghoon</dc:creator>
  <cp:lastModifiedBy>윤준하</cp:lastModifiedBy>
  <cp:revision>1314</cp:revision>
  <dcterms:created xsi:type="dcterms:W3CDTF">2024-02-27T09:44:09Z</dcterms:created>
  <dcterms:modified xsi:type="dcterms:W3CDTF">2026-08-16T09:35:48Z</dcterms:modified>
  <cp:version/>
</cp:coreProperties>
</file>