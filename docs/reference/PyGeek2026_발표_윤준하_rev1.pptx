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53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70" r:id="rId13"/>
    <p:sldId id="266" r:id="rId14"/>
    <p:sldId id="271" r:id="rId15"/>
    <p:sldId id="267" r:id="rId16"/>
    <p:sldId id="268" r:id="rId17"/>
    <p:sldId id="272" r:id="rId18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58F3F2-34C0-7CDE-4646-8EB323D00AA8}" name="정용훈" initials="정" userId="S::dydgns2017@cau.ac.kr::5c56983a-12e8-458d-82f4-9a1aee9971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3" autoAdjust="0"/>
    <p:restoredTop sz="93475" autoAdjust="0"/>
  </p:normalViewPr>
  <p:slideViewPr>
    <p:cSldViewPr snapToGrid="0">
      <p:cViewPr varScale="1">
        <p:scale>
          <a:sx n="97" d="100"/>
          <a:sy n="97" d="100"/>
        </p:scale>
        <p:origin x="232" y="56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1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1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r">
              <a:defRPr sz="1300"/>
            </a:lvl1pPr>
          </a:lstStyle>
          <a:p>
            <a:pPr lvl="0">
              <a:defRPr/>
            </a:pPr>
            <a:fld id="{91669BC1-DBAA-445B-BADB-B576B9BEDF3D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7" rIns="99075" bIns="495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7" rIns="99075" bIns="49537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r">
              <a:defRPr sz="1300"/>
            </a:lvl1pPr>
          </a:lstStyle>
          <a:p>
            <a:pPr lvl="0">
              <a:defRPr/>
            </a:pPr>
            <a:fld id="{90FA8603-EEC9-404A-91D4-26086C075B2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14350" y="241300"/>
            <a:ext cx="4410075" cy="473075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                                        </a:t>
            </a: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r>
              <a:rPr lang="ko-KR" altLang="en-US"/>
              <a:t>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ransition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2377440" y="3127248"/>
            <a:ext cx="7434072" cy="0"/>
          </a:xfrm>
          <a:prstGeom prst="line">
            <a:avLst/>
          </a:prstGeom>
          <a:ln w="25400">
            <a:solidFill>
              <a:srgbClr val="337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1481328"/>
            <a:ext cx="1054303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A Factor Decomposition Method for Separating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Store Substitution and Embedding Placement Effects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in Vector Database Migration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383280"/>
            <a:ext cx="99943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27E7F"/>
                </a:solidFill>
                <a:latin typeface="맑은 고딕"/>
                <a:ea typeface="맑은 고딕"/>
              </a:rPr>
              <a:t>벡터 데이터베이스 이전에서 저장소 교체와 임베딩 위치 효과의 분리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315968"/>
            <a:ext cx="999439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000000"/>
                </a:solidFill>
                <a:latin typeface="맑은 고딕"/>
                <a:ea typeface="맑은 고딕"/>
              </a:rPr>
              <a:t>2026 International Conference on PyGeek</a:t>
            </a: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  <a:ea typeface="맑은 고딕"/>
              </a:rPr>
              <a:t>August 20, 2026  ·  Hongik University, Seoul</a:t>
            </a:r>
          </a:p>
          <a:p>
            <a:pPr algn="ctr">
              <a:spcBef>
                <a:spcPts val="0"/>
              </a:spcBef>
              <a:spcAft>
                <a:spcPts val="700"/>
              </a:spcAft>
            </a:pPr>
            <a:endParaRPr sz="1400" b="0">
              <a:solidFill>
                <a:srgbClr val="5A5A5A"/>
              </a:solidFill>
              <a:latin typeface="맑은 고딕"/>
              <a:ea typeface="맑은 고딕"/>
            </a:endParaRP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Junha Yoon · Ohhyeon Gwon · Junhaeng Lee · Hyeji Roh · Soowan Cho · Suhee Kim · SangSoon Lim</a:t>
            </a: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827E7F"/>
                </a:solidFill>
                <a:latin typeface="맑은 고딕"/>
                <a:ea typeface="맑은 고딕"/>
              </a:rPr>
              <a:t>Sungkyul University · Chung-Ang University · Deep Insight Lab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At a Glance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DB를 바꿨더니 품질이 변했다 — 저장소 탓인가, 임베딩 위치 탓인가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4311"/>
            <a:ext cx="10323576" cy="46141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600"/>
              </a:spcBef>
              <a:spcAft>
                <a:spcPts val="400"/>
              </a:spcAft>
            </a:pPr>
            <a:r>
              <a:rPr sz="1900" b="1" dirty="0">
                <a:solidFill>
                  <a:srgbClr val="000000"/>
                </a:solidFill>
                <a:latin typeface="맑은 고딕"/>
                <a:ea typeface="맑은 고딕"/>
              </a:rPr>
              <a:t>Quality changed after the migration. Which change caused it?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9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 dirty="0">
                <a:solidFill>
                  <a:srgbClr val="3375BE"/>
                </a:solidFill>
                <a:latin typeface="맑은 고딕"/>
                <a:ea typeface="맑은 고딕"/>
              </a:rPr>
              <a:t>Problem · </a:t>
            </a:r>
            <a:r>
              <a:rPr sz="1700" b="1" dirty="0" err="1">
                <a:solidFill>
                  <a:srgbClr val="3375BE"/>
                </a:solidFill>
                <a:latin typeface="맑은 고딕"/>
                <a:ea typeface="맑은 고딕"/>
              </a:rPr>
              <a:t>문제</a:t>
            </a:r>
            <a:endParaRPr sz="1700" b="1" dirty="0">
              <a:solidFill>
                <a:srgbClr val="3375BE"/>
              </a:solidFill>
              <a:latin typeface="맑은 고딕"/>
              <a:ea typeface="맑은 고딕"/>
            </a:endParaRP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 dirty="0">
                <a:solidFill>
                  <a:srgbClr val="000000"/>
                </a:solidFill>
                <a:latin typeface="맑은 고딕"/>
                <a:ea typeface="맑은 고딕"/>
              </a:rPr>
              <a:t>Migrating the vector layer changes the store and the embedding placement at the same time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 dirty="0">
                <a:solidFill>
                  <a:srgbClr val="000000"/>
                </a:solidFill>
                <a:latin typeface="맑은 고딕"/>
                <a:ea typeface="맑은 고딕"/>
              </a:rPr>
              <a:t>A single before-and-after comparison cannot tell which factor is responsible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 dirty="0">
                <a:solidFill>
                  <a:srgbClr val="3375BE"/>
                </a:solidFill>
                <a:latin typeface="맑은 고딕"/>
                <a:ea typeface="맑은 고딕"/>
              </a:rPr>
              <a:t>Proposal · </a:t>
            </a:r>
            <a:r>
              <a:rPr sz="1700" b="1" dirty="0" err="1">
                <a:solidFill>
                  <a:srgbClr val="3375BE"/>
                </a:solidFill>
                <a:latin typeface="맑은 고딕"/>
                <a:ea typeface="맑은 고딕"/>
              </a:rPr>
              <a:t>제안</a:t>
            </a:r>
            <a:endParaRPr sz="1700" b="1" dirty="0">
              <a:solidFill>
                <a:srgbClr val="3375BE"/>
              </a:solidFill>
              <a:latin typeface="맑은 고딕"/>
              <a:ea typeface="맑은 고딕"/>
            </a:endParaRP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 dirty="0">
                <a:solidFill>
                  <a:srgbClr val="000000"/>
                </a:solidFill>
                <a:latin typeface="맑은 고딕"/>
                <a:ea typeface="맑은 고딕"/>
              </a:rPr>
              <a:t>Insert one intermediate condition — a bridge condition — so that one comparison splits into two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 dirty="0">
                <a:solidFill>
                  <a:srgbClr val="000000"/>
                </a:solidFill>
                <a:latin typeface="맑은 고딕"/>
                <a:ea typeface="맑은 고딕"/>
              </a:rPr>
              <a:t>It needs no re-embedding, so it is inexpensive and leaves the running service untouched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 dirty="0">
                <a:solidFill>
                  <a:srgbClr val="3375BE"/>
                </a:solidFill>
                <a:latin typeface="맑은 고딕"/>
                <a:ea typeface="맑은 고딕"/>
              </a:rPr>
              <a:t>Result · </a:t>
            </a:r>
            <a:r>
              <a:rPr sz="1700" b="1" dirty="0" err="1">
                <a:solidFill>
                  <a:srgbClr val="3375BE"/>
                </a:solidFill>
                <a:latin typeface="맑은 고딕"/>
                <a:ea typeface="맑은 고딕"/>
              </a:rPr>
              <a:t>결과</a:t>
            </a:r>
            <a:endParaRPr sz="1700" b="1" dirty="0">
              <a:solidFill>
                <a:srgbClr val="3375BE"/>
              </a:solidFill>
              <a:latin typeface="맑은 고딕"/>
              <a:ea typeface="맑은 고딕"/>
            </a:endParaRP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 dirty="0">
                <a:solidFill>
                  <a:srgbClr val="000000"/>
                </a:solidFill>
                <a:latin typeface="맑은 고딕"/>
                <a:ea typeface="맑은 고딕"/>
              </a:rPr>
              <a:t>No quality change was detected for the store substitution; virtually all of the observed change came from the embedding placement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Background · The Vector Layer Changes Most Often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RAG에서 배포 후 가장 자주 바뀌는 것이 벡터 레이어다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2035637"/>
            <a:ext cx="10323576" cy="3792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Three components of a RAG system · RAG의 세 요소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Embedding model — turns queries and documents into vectors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Store — indexes and searches those vectors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Language model — generates an answer grounded in the retrieved evidence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A representative migration path · 대표적인 이전 경로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General-purpose relational database with a vector extension  →  converged database with a vector type and an inference runtime inside it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That is, the database itself performs the embedding computation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solidFill>
                  <a:srgbClr val="827E7F"/>
                </a:solidFill>
                <a:latin typeface="맑은 고딕"/>
                <a:ea typeface="맑은 고딕"/>
              </a:rPr>
              <a:t>The effect of such a migration is usually assessed by an end-to-end comparison before and after the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Problem · Two Things Change at Once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이전하면 저장소와 임베딩 위치가 동시에 바뀌어 원인을 가릴 수 없다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973229"/>
            <a:ext cx="10323576" cy="39173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Two factors folded into a single migration · 한 번에 섞이는 두 요인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Store — the engine that holds the vectors and its indexing method (approximate or exact search)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Placement — whether the embedding is computed outside or inside the database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They change together for a reason · 함께 바뀌는 데는 이유가 있다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migration motivated by governance prefers to move the embedding inside as well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database that hosts a model imposes a model size limit, so moving the placement drags the model capacity along with it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The end-to-end difference alone cannot point to the factor that caused the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Why It Matters · The Cause Gets Misdiagnosed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원인을 잘못 짚으면 처방도 어긋난다 — 저장소를 되돌려도 품질은 안 돌아온다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2012320"/>
            <a:ext cx="10323576" cy="3839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When quality drops · 품질이 떨어졌을 때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It cannot be told apart whether the store or the model is at fault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When nothing changes · 변화가 없을 때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It cannot be known whether there was truly no effect, or the two factors cancelled each other out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So the remedy misses · 그래서 처방이 어긋난다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Blaming the store and reverting it does not bring the quality back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The conclusion cannot be carried over to an environment with a different instance class or model size limit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Proposal · A Bridge Condition Separates the Factors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원본이 만든 벡터를 목표 저장소에 그대로 실어 중간 조건 B를 만든다</a:t>
            </a:r>
          </a:p>
        </p:txBody>
      </p:sp>
      <p:pic>
        <p:nvPicPr>
          <p:cNvPr id="30" name="Picture 29" descr="slide-fig-decomposition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90" y="1891251"/>
            <a:ext cx="11608592" cy="24128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3232" y="5006614"/>
            <a:ext cx="10323576" cy="1261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 dirty="0">
                <a:solidFill>
                  <a:srgbClr val="000000"/>
                </a:solidFill>
                <a:latin typeface="맑은 고딕"/>
                <a:ea typeface="맑은 고딕"/>
              </a:rPr>
              <a:t>Load the target store with the vectors the source system has already produced — that is condition B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 dirty="0">
                <a:solidFill>
                  <a:srgbClr val="000000"/>
                </a:solidFill>
                <a:latin typeface="맑은 고딕"/>
                <a:ea typeface="맑은 고딕"/>
              </a:rPr>
              <a:t>A→B differs only in the store, B→C only in the placement — one factor at a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System Architecture · What Actually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네트워크 경계가 2개에서 1개로 줄고, 외부 모델 호출이 사라진다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511547"/>
            <a:ext cx="10323576" cy="556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solidFill>
                  <a:srgbClr val="827E7F"/>
                </a:solidFill>
                <a:latin typeface="맑은 고딕"/>
                <a:ea typeface="맑은 고딕"/>
              </a:rPr>
              <a:t>The retrieval rule (vector similarity + metadata filters + source-based prioritization) and its parameters were kept identical across the three conditions.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92B479-E2B6-9FC5-CABA-DE5B541A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34" y="1271016"/>
            <a:ext cx="11489531" cy="3902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Experimental 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세 조건 A·B·C를 두고 청크 1,347개·질의 43개로 측정했다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13232" y="1808500"/>
          <a:ext cx="10323576" cy="1834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7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7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 · baseline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 · bridge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 · migrated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827E7F"/>
                          </a:solidFill>
                          <a:latin typeface="맑은 고딕"/>
                          <a:ea typeface="맑은 고딕"/>
                        </a:rPr>
                        <a:t>Store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PostgreSQL + pgvector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Oracle 26ai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Oracle 26ai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827E7F"/>
                          </a:solidFill>
                          <a:latin typeface="맑은 고딕"/>
                          <a:ea typeface="맑은 고딕"/>
                        </a:rPr>
                        <a:t>Embedding model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BGE-M3 (1024)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BGE-M3 (1024)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e5-small (384)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827E7F"/>
                          </a:solidFill>
                          <a:latin typeface="맑은 고딕"/>
                          <a:ea typeface="맑은 고딕"/>
                        </a:rPr>
                        <a:t>Placement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external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external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in-database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827E7F"/>
                          </a:solidFill>
                          <a:latin typeface="맑은 고딕"/>
                          <a:ea typeface="맑은 고딕"/>
                        </a:rPr>
                        <a:t>Vector search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HNSW approx.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exact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exact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76656" y="4170237"/>
            <a:ext cx="10323576" cy="2326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 dirty="0">
                <a:solidFill>
                  <a:srgbClr val="3375BE"/>
                </a:solidFill>
                <a:latin typeface="맑은 고딕"/>
                <a:ea typeface="맑은 고딕"/>
              </a:rPr>
              <a:t>Corpus and metrics · </a:t>
            </a:r>
            <a:r>
              <a:rPr sz="1800" b="1" dirty="0" err="1">
                <a:solidFill>
                  <a:srgbClr val="3375BE"/>
                </a:solidFill>
                <a:latin typeface="맑은 고딕"/>
                <a:ea typeface="맑은 고딕"/>
              </a:rPr>
              <a:t>대상과</a:t>
            </a:r>
            <a:r>
              <a:rPr sz="1800" b="1" dirty="0">
                <a:solidFill>
                  <a:srgbClr val="3375BE"/>
                </a:solidFill>
                <a:latin typeface="맑은 고딕"/>
                <a:ea typeface="맑은 고딕"/>
              </a:rPr>
              <a:t> </a:t>
            </a:r>
            <a:r>
              <a:rPr sz="1800" b="1" dirty="0" err="1">
                <a:solidFill>
                  <a:srgbClr val="3375BE"/>
                </a:solidFill>
                <a:latin typeface="맑은 고딕"/>
                <a:ea typeface="맑은 고딕"/>
              </a:rPr>
              <a:t>지표</a:t>
            </a:r>
            <a:endParaRPr sz="1800" b="1" dirty="0">
              <a:solidFill>
                <a:srgbClr val="3375BE"/>
              </a:solidFill>
              <a:latin typeface="맑은 고딕"/>
              <a:ea typeface="맑은 고딕"/>
            </a:endParaRP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 dirty="0">
                <a:solidFill>
                  <a:srgbClr val="000000"/>
                </a:solidFill>
                <a:latin typeface="맑은 고딕"/>
                <a:ea typeface="맑은 고딕"/>
              </a:rPr>
              <a:t>1,347 review chunks from a Korean product-review service in production · 43 fixed queries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 dirty="0">
                <a:solidFill>
                  <a:srgbClr val="000000"/>
                </a:solidFill>
                <a:latin typeface="맑은 고딕"/>
                <a:ea typeface="맑은 고딕"/>
              </a:rPr>
              <a:t>Retrieval agreement (Jaccard · Spearman · Recall@10) / evidence relevance (0–2 scale) / search latency</a:t>
            </a:r>
          </a:p>
          <a:p>
            <a:pPr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 dirty="0">
                <a:solidFill>
                  <a:srgbClr val="827E7F"/>
                </a:solidFill>
                <a:latin typeface="맑은 고딕"/>
                <a:ea typeface="맑은 고딕"/>
              </a:rPr>
              <a:t>Confidence intervals from 10,000 bootstrap resamples. The target database ran on the lowest-tier free instance.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Result ① Store Factor · No Effect Detected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저장소만 바꿨을 때는 품질 변화가 검출되지 않았다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2179472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18872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Top-10 Jaccard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0.971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[0.946, 0.992]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33672" y="2179472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18872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Relevance difference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−0.042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p = 0.523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54111" y="2179472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18872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Effect size dz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−0.098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negligible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752240"/>
            <a:ext cx="10323576" cy="1932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Loaded with identical vectors, the two stores returned exactly the same top-10 set for 37 of the 43 queries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What the baseline missed because of its approximate index amounts to about 1.6%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Wilcoxon test on the queries that remain after excluding ties leads to the same conclusion (p = 0.908)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Reading the Numbers ① Store Factor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자카드는 겹치는 정도, p값은 우연일 확률을 뜻한다</a:t>
            </a:r>
          </a:p>
        </p:txBody>
      </p:sp>
      <p:pic>
        <p:nvPicPr>
          <p:cNvPr id="30" name="Picture 29" descr="slide-fig-decomposition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00" y="2190513"/>
            <a:ext cx="11000000" cy="31589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Result ② Placement Factor · Significant, Medium-Sized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임베딩 위치를 옮기자 유의미한 중간 크기의 효과가 나타났다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2025578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18872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Top-10 Jaccard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0.175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[0.133, 0.221]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33672" y="2025578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18872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Relevance score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1.270 → 1.014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p = 0.003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54111" y="2025578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18872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Effect size dz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0.473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598346"/>
            <a:ext cx="10323576" cy="22399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Same store and same search method, yet mostly different evidence is retrieved for the same query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Since no store effect was detected from A to B, virtually all of the quality change is due to the placement factor and the model size limit that comes with it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Had only an end-to-end comparison been performed, the 20% drop in relevance would have been blamed on the store — and reverting the store would not bring the quality 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Reading the Numbers ② Placement Factor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같은 두 지표를 위치 요인에 그대로 적용해 본다</a:t>
            </a:r>
          </a:p>
        </p:txBody>
      </p:sp>
      <p:pic>
        <p:nvPicPr>
          <p:cNvPr id="30" name="Picture 29" descr="slide-fig-decomposition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00" y="2190513"/>
            <a:ext cx="11000000" cy="31589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But · Claiming “No Difference” Needs Its Own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“차이 없음”을 주장하려면 등가성 검정을 따로 해야 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983310"/>
            <a:ext cx="10323576" cy="389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A non-significant p value is not evidence of equivalence · 유의하지 않은 p값은 동등함의 증거가 아니다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We ran equivalence tests (TOST) separately over a ±0.15 point range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The result was p = 0.052 — the lower bound of the confidence interval, −0.172, falls outside the range, so the significance level was not met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So we report it this way · 그래서 이렇게 보고한다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Not “equivalence has been established”, but “no effect was detected and its magnitude is bounded to a small range”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The direction in which the interval extends is the one where the target store scores higher, so there is no basis for concluding that substituting the store degraded quality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Reading the Numbers ③ Equivalence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신뢰구간이 범위를 벗어나 등가성은 성립하지 못했다</a:t>
            </a:r>
          </a:p>
        </p:txBody>
      </p:sp>
      <p:pic>
        <p:nvPicPr>
          <p:cNvPr id="30" name="Picture 29" descr="slide-fig-decomposition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00" y="1889658"/>
            <a:ext cx="11000000" cy="37606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위치 변경은 성능의 교환이 아니라 거버넌스의 교환이다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540352"/>
            <a:ext cx="10323576" cy="47232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3375BE"/>
                </a:solidFill>
                <a:latin typeface="맑은 고딕"/>
                <a:ea typeface="맑은 고딕"/>
              </a:rPr>
              <a:t>Method · 방법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Adding a single bridge condition splits an end-to-end comparison into two single-factor comparisons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3375BE"/>
                </a:solidFill>
                <a:latin typeface="맑은 고딕"/>
                <a:ea typeface="맑은 고딕"/>
              </a:rPr>
              <a:t>What we observed in this service · 이 서비스에서 관측한 것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No effect of the store factor was detected; the entire observed change originated from the placement factor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Changing the placement is a trade in governance rather than in performance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3375BE"/>
                </a:solidFill>
                <a:latin typeface="맑은 고딕"/>
                <a:ea typeface="맑은 고딕"/>
              </a:rPr>
              <a:t>A practical decision rule · 실무 판단 기준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If governance of the stored data is the only goal → replacing the store alone is enough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If the query path must also stay inside the boundary → first confirm that the largest model that can be hosted is sufficient for that domain</a:t>
            </a:r>
          </a:p>
          <a:p>
            <a:pPr>
              <a:lnSpc>
                <a:spcPct val="128000"/>
              </a:lnSpc>
              <a:spcBef>
                <a:spcPts val="600"/>
              </a:spcBef>
              <a:spcAft>
                <a:spcPts val="400"/>
              </a:spcAft>
            </a:pPr>
            <a:r>
              <a:rPr sz="1900" b="1">
                <a:solidFill>
                  <a:srgbClr val="000000"/>
                </a:solidFill>
                <a:latin typeface="맑은 고딕"/>
                <a:ea typeface="맑은 고딕"/>
              </a:rPr>
              <a:t>The bridge condition makes that confirmation possible before the migration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Limitations and 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단일 코퍼스·LLM 채점·엔트리급 인스턴스라는 한계가 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410645"/>
            <a:ext cx="10323576" cy="40199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 dirty="0">
                <a:solidFill>
                  <a:srgbClr val="3375BE"/>
                </a:solidFill>
                <a:latin typeface="맑은 고딕"/>
                <a:ea typeface="맑은 고딕"/>
              </a:rPr>
              <a:t>Limitations · </a:t>
            </a:r>
            <a:r>
              <a:rPr sz="1800" b="1" dirty="0" err="1">
                <a:solidFill>
                  <a:srgbClr val="3375BE"/>
                </a:solidFill>
                <a:latin typeface="맑은 고딕"/>
                <a:ea typeface="맑은 고딕"/>
              </a:rPr>
              <a:t>한계</a:t>
            </a:r>
            <a:endParaRPr sz="1800" b="1" dirty="0">
              <a:solidFill>
                <a:srgbClr val="3375BE"/>
              </a:solidFill>
              <a:latin typeface="맑은 고딕"/>
              <a:ea typeface="맑은 고딕"/>
            </a:endParaRP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 dirty="0">
                <a:solidFill>
                  <a:srgbClr val="000000"/>
                </a:solidFill>
                <a:latin typeface="맑은 고딕"/>
                <a:ea typeface="맑은 고딕"/>
              </a:rPr>
              <a:t>A single Korean corpus of 1,347 chunks from one product domain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 dirty="0">
                <a:solidFill>
                  <a:srgbClr val="000000"/>
                </a:solidFill>
                <a:latin typeface="맑은 고딕"/>
                <a:ea typeface="맑은 고딕"/>
              </a:rPr>
              <a:t>Human assessors were not involved in the relevance scoring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 dirty="0">
                <a:solidFill>
                  <a:srgbClr val="000000"/>
                </a:solidFill>
                <a:latin typeface="맑은 고딕"/>
                <a:ea typeface="맑은 고딕"/>
              </a:rPr>
              <a:t>Measurements were taken on an entry-level instance — the latency figures cannot be generalized to higher-tier hardware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 dirty="0">
                <a:solidFill>
                  <a:srgbClr val="000000"/>
                </a:solidFill>
                <a:latin typeface="맑은 고딕"/>
                <a:ea typeface="맑은 고딕"/>
              </a:rPr>
              <a:t>Placement and model size are coupled by construction, and the store result does not establish equivalence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 dirty="0">
                <a:solidFill>
                  <a:srgbClr val="3375BE"/>
                </a:solidFill>
                <a:latin typeface="맑은 고딕"/>
                <a:ea typeface="맑은 고딕"/>
              </a:rPr>
              <a:t>Future work · </a:t>
            </a:r>
            <a:r>
              <a:rPr sz="1800" b="1" dirty="0" err="1">
                <a:solidFill>
                  <a:srgbClr val="3375BE"/>
                </a:solidFill>
                <a:latin typeface="맑은 고딕"/>
                <a:ea typeface="맑은 고딕"/>
              </a:rPr>
              <a:t>향후</a:t>
            </a:r>
            <a:r>
              <a:rPr sz="1800" b="1" dirty="0">
                <a:solidFill>
                  <a:srgbClr val="3375BE"/>
                </a:solidFill>
                <a:latin typeface="맑은 고딕"/>
                <a:ea typeface="맑은 고딕"/>
              </a:rPr>
              <a:t> </a:t>
            </a:r>
            <a:r>
              <a:rPr sz="1800" b="1" dirty="0" err="1">
                <a:solidFill>
                  <a:srgbClr val="3375BE"/>
                </a:solidFill>
                <a:latin typeface="맑은 고딕"/>
                <a:ea typeface="맑은 고딕"/>
              </a:rPr>
              <a:t>과제</a:t>
            </a:r>
            <a:endParaRPr sz="1800" b="1" dirty="0">
              <a:solidFill>
                <a:srgbClr val="3375BE"/>
              </a:solidFill>
              <a:latin typeface="맑은 고딕"/>
              <a:ea typeface="맑은 고딕"/>
            </a:endParaRP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 dirty="0">
                <a:solidFill>
                  <a:srgbClr val="000000"/>
                </a:solidFill>
                <a:latin typeface="맑은 고딕"/>
                <a:ea typeface="맑은 고딕"/>
              </a:rPr>
              <a:t>A fourth condition that runs the smaller model outside the database would separate placement from model size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4A119-C188-F9F6-057A-A0184315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2A312D2-83DF-C026-4DCB-53BE682C96F4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7081F2-769C-B56C-55B8-544EF808F75A}"/>
              </a:ext>
            </a:extLst>
          </p:cNvPr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4FC25EB-05B2-E061-0FF8-6A0D881E3CD3}"/>
              </a:ext>
            </a:extLst>
          </p:cNvPr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4EECDF4-BCBE-F0BD-28A9-811191DA0005}"/>
              </a:ext>
            </a:extLst>
          </p:cNvPr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90C253-5DDB-4D0A-5177-4671798DA162}"/>
              </a:ext>
            </a:extLst>
          </p:cNvPr>
          <p:cNvSpPr txBox="1"/>
          <p:nvPr/>
        </p:nvSpPr>
        <p:spPr>
          <a:xfrm>
            <a:off x="676656" y="341114"/>
            <a:ext cx="1032357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0000"/>
                </a:solidFill>
                <a:latin typeface="맑은 고딕"/>
                <a:ea typeface="맑은 고딕"/>
              </a:rPr>
              <a:t>Q&amp;A</a:t>
            </a:r>
            <a:endParaRPr sz="2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54438C-1DA2-D151-197C-328BCFC5D6D6}"/>
              </a:ext>
            </a:extLst>
          </p:cNvPr>
          <p:cNvSpPr txBox="1"/>
          <p:nvPr/>
        </p:nvSpPr>
        <p:spPr>
          <a:xfrm>
            <a:off x="-293649" y="2201651"/>
            <a:ext cx="12779297" cy="4801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ko-KR" sz="6000" dirty="0" err="1"/>
              <a:t>Thank</a:t>
            </a:r>
            <a:r>
              <a:rPr lang="ko-KR" altLang="ko-KR" sz="6000" dirty="0"/>
              <a:t> </a:t>
            </a:r>
            <a:r>
              <a:rPr lang="ko-KR" altLang="ko-KR" sz="6000" dirty="0" err="1"/>
              <a:t>you</a:t>
            </a:r>
            <a:r>
              <a:rPr lang="ko-KR" altLang="ko-KR" sz="6000" dirty="0"/>
              <a:t> </a:t>
            </a:r>
            <a:r>
              <a:rPr lang="ko-KR" altLang="ko-KR" sz="6000" dirty="0" err="1"/>
              <a:t>for</a:t>
            </a:r>
            <a:r>
              <a:rPr lang="ko-KR" altLang="ko-KR" sz="6000" dirty="0"/>
              <a:t> </a:t>
            </a:r>
            <a:r>
              <a:rPr lang="ko-KR" altLang="ko-KR" sz="6000" dirty="0" err="1"/>
              <a:t>listening</a:t>
            </a:r>
            <a:r>
              <a:rPr lang="ko-KR" altLang="ko-KR" sz="6000" dirty="0"/>
              <a:t> </a:t>
            </a:r>
            <a:r>
              <a:rPr lang="ko-KR" altLang="ko-KR" sz="6000" dirty="0" err="1"/>
              <a:t>to</a:t>
            </a:r>
            <a:r>
              <a:rPr lang="ko-KR" altLang="ko-KR" sz="6000" dirty="0"/>
              <a:t> </a:t>
            </a:r>
            <a:r>
              <a:rPr lang="ko-KR" altLang="ko-KR" sz="6000" dirty="0" err="1"/>
              <a:t>the</a:t>
            </a:r>
            <a:r>
              <a:rPr lang="ko-KR" altLang="ko-KR" sz="6000" dirty="0"/>
              <a:t> </a:t>
            </a:r>
            <a:r>
              <a:rPr lang="ko-KR" altLang="ko-KR" sz="6000" dirty="0" err="1"/>
              <a:t>presentation</a:t>
            </a:r>
            <a:r>
              <a:rPr lang="ko-KR" altLang="ko-KR" sz="6000" dirty="0"/>
              <a:t>.</a:t>
            </a:r>
          </a:p>
          <a:p>
            <a:br>
              <a:rPr lang="ko-KR" altLang="ko-KR" sz="9600" dirty="0"/>
            </a:br>
            <a:endParaRPr sz="960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79411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1424</Words>
  <Application>Microsoft Macintosh PowerPoint</Application>
  <PresentationFormat>와이드스크린</PresentationFormat>
  <Paragraphs>174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yonghoon</dc:creator>
  <cp:lastModifiedBy>윤준하</cp:lastModifiedBy>
  <cp:revision>1285</cp:revision>
  <dcterms:created xsi:type="dcterms:W3CDTF">2024-02-27T09:44:09Z</dcterms:created>
  <dcterms:modified xsi:type="dcterms:W3CDTF">2026-08-12T04:52:31Z</dcterms:modified>
  <cp:version/>
</cp:coreProperties>
</file>