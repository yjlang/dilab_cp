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753" r:id="rId1"/>
  </p:sldMasterIdLst>
  <p:notesMasterIdLst>
    <p:notesMasterId r:id="rId19"/>
  </p:notesMasterIdLst>
  <p:handoutMasterIdLst>
    <p:handoutMasterId r:id="rId20"/>
  </p:handoutMasterIdLst>
  <p:sldIdLst>
    <p:sldId id="256" r:id="rId2"/>
    <p:sldId id="257" r:id="rId3"/>
    <p:sldId id="258" r:id="rId4"/>
    <p:sldId id="259" r:id="rId5"/>
    <p:sldId id="260" r:id="rId6"/>
    <p:sldId id="261" r:id="rId7"/>
    <p:sldId id="262" r:id="rId8"/>
    <p:sldId id="274" r:id="rId9"/>
    <p:sldId id="263" r:id="rId10"/>
    <p:sldId id="264" r:id="rId11"/>
    <p:sldId id="269" r:id="rId12"/>
    <p:sldId id="265" r:id="rId13"/>
    <p:sldId id="270" r:id="rId14"/>
    <p:sldId id="266" r:id="rId15"/>
    <p:sldId id="267" r:id="rId16"/>
    <p:sldId id="273" r:id="rId17"/>
    <p:sldId id="272" r:id="rId18"/>
  </p:sldIdLst>
  <p:sldSz cx="12192000" cy="6858000"/>
  <p:notesSz cx="7104063" cy="1023461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p15:clr>
            <a:srgbClr val="A4A3A4"/>
          </p15:clr>
        </p15:guide>
        <p15:guide id="2" pos="3839">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58F3F2-34C0-7CDE-4646-8EB323D00AA8}" name="정용훈" initials="정" userId="S::dydgns2017@cau.ac.kr::5c56983a-12e8-458d-82f4-9a1aee9971f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ACF4677E-8BD2-47ae-8A1F-98590045965D">
      <hp:hncThemeShow xmlns:hp="http://schemas.haansoft.com/office/presentation/8.0" xmlns:dsp="http://schemas.microsoft.com/office/drawing/2008/diagram" xmlns:dgm="http://schemas.openxmlformats.org/drawingml/2006/diagram" xmlns:c="http://schemas.openxmlformats.org/drawingml/2006/chart" xmlns="" themeShowType="1" themeSkinType="1" themeTransitionType="1" useThemeTransition="1" byMouseClick="1" attrType="1" dur="200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TxStyle/>
      <a:tcStyle>
        <a:tcBdr/>
        <a:fill>
          <a:solidFill>
            <a:schemeClr val="accent3">
              <a:tint val="40000"/>
            </a:schemeClr>
          </a:solidFill>
        </a:fill>
      </a:tcStyle>
    </a:band1H>
    <a:band2H>
      <a:tcTxStyle/>
      <a:tcStyle>
        <a:tcBdr/>
      </a:tcStyle>
    </a:band2H>
    <a:band1V>
      <a:tcTxStyle/>
      <a:tcStyle>
        <a:tcBdr/>
        <a:fill>
          <a:solidFill>
            <a:schemeClr val="accent3">
              <a:tint val="40000"/>
            </a:schemeClr>
          </a:solidFill>
        </a:fill>
      </a:tcStyle>
    </a:band1V>
    <a:band2V>
      <a:tcTxStyle/>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TxStyle/>
      <a:tcStyle>
        <a:tcBdr/>
        <a:fill>
          <a:solidFill>
            <a:schemeClr val="accent2">
              <a:tint val="40000"/>
            </a:schemeClr>
          </a:solidFill>
        </a:fill>
      </a:tcStyle>
    </a:band1H>
    <a:band2H>
      <a:tcTxStyle/>
      <a:tcStyle>
        <a:tcBdr/>
      </a:tcStyle>
    </a:band2H>
    <a:band1V>
      <a:tcTxStyle/>
      <a:tcStyle>
        <a:tcBdr/>
        <a:fill>
          <a:solidFill>
            <a:schemeClr val="accent2">
              <a:tint val="40000"/>
            </a:schemeClr>
          </a:solidFill>
        </a:fill>
      </a:tcStyle>
    </a:band1V>
    <a:band2V>
      <a:tcTxStyle/>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TxStyle/>
      <a:tcStyle>
        <a:tcBdr/>
        <a:fill>
          <a:solidFill>
            <a:schemeClr val="dk1">
              <a:tint val="40000"/>
            </a:schemeClr>
          </a:solidFill>
        </a:fill>
      </a:tcStyle>
    </a:band1H>
    <a:band2H>
      <a:tcTxStyle/>
      <a:tcStyle>
        <a:tcBdr/>
      </a:tcStyle>
    </a:band2H>
    <a:band1V>
      <a:tcTxStyle/>
      <a:tcStyle>
        <a:tcBdr/>
        <a:fill>
          <a:solidFill>
            <a:schemeClr val="dk1">
              <a:tint val="40000"/>
            </a:schemeClr>
          </a:solidFill>
        </a:fill>
      </a:tcStyle>
    </a:band1V>
    <a:band2V>
      <a:tcTxStyle/>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09" autoAdjust="0"/>
    <p:restoredTop sz="93484" autoAdjust="0"/>
  </p:normalViewPr>
  <p:slideViewPr>
    <p:cSldViewPr snapToGrid="0">
      <p:cViewPr varScale="1">
        <p:scale>
          <a:sx n="114" d="100"/>
          <a:sy n="114" d="100"/>
        </p:scale>
        <p:origin x="960" y="184"/>
      </p:cViewPr>
      <p:guideLst>
        <p:guide orient="horz" pos="2159"/>
        <p:guide pos="3839"/>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078427" cy="511730"/>
          </a:xfrm>
          <a:prstGeom prst="rect">
            <a:avLst/>
          </a:prstGeom>
        </p:spPr>
        <p:txBody>
          <a:bodyPr vert="horz" lIns="91440" tIns="45720" rIns="91440" bIns="45720"/>
          <a:lstStyle>
            <a:lvl1pPr algn="l">
              <a:defRPr sz="1200"/>
            </a:lvl1pPr>
          </a:lstStyle>
          <a:p>
            <a:pPr lvl="0">
              <a:defRPr/>
            </a:pPr>
            <a:endParaRPr lang="ko-KR" altLang="en-US"/>
          </a:p>
        </p:txBody>
      </p:sp>
      <p:sp>
        <p:nvSpPr>
          <p:cNvPr id="3" name="날짜 개체 틀 2"/>
          <p:cNvSpPr>
            <a:spLocks noGrp="1"/>
          </p:cNvSpPr>
          <p:nvPr>
            <p:ph type="dt" sz="quarter" idx="1"/>
          </p:nvPr>
        </p:nvSpPr>
        <p:spPr>
          <a:xfrm>
            <a:off x="4023991" y="0"/>
            <a:ext cx="3078427" cy="511730"/>
          </a:xfrm>
          <a:prstGeom prst="rect">
            <a:avLst/>
          </a:prstGeom>
        </p:spPr>
        <p:txBody>
          <a:bodyPr vert="horz" lIns="91440" tIns="45720" rIns="91440" bIns="45720"/>
          <a:lstStyle>
            <a:lvl1pPr algn="r">
              <a:defRPr sz="1200"/>
            </a:lvl1pPr>
          </a:lstStyle>
          <a:p>
            <a:pPr lvl="0">
              <a:defRPr/>
            </a:pPr>
            <a:fld id="{D8D7A7C4-C82A-4D21-9AB0-F0C5A1D3EF09}" type="datetime1">
              <a:rPr lang="ko-KR" altLang="en-US"/>
              <a:pPr lvl="0">
                <a:defRPr/>
              </a:pPr>
              <a:t>2026. 8. 14.</a:t>
            </a:fld>
            <a:endParaRPr lang="ko-KR" altLang="en-US"/>
          </a:p>
        </p:txBody>
      </p:sp>
      <p:sp>
        <p:nvSpPr>
          <p:cNvPr id="4" name="바닥글 개체 틀 3"/>
          <p:cNvSpPr>
            <a:spLocks noGrp="1"/>
          </p:cNvSpPr>
          <p:nvPr>
            <p:ph type="ftr" sz="quarter" idx="2"/>
          </p:nvPr>
        </p:nvSpPr>
        <p:spPr>
          <a:xfrm>
            <a:off x="0" y="9721106"/>
            <a:ext cx="3078427" cy="511730"/>
          </a:xfrm>
          <a:prstGeom prst="rect">
            <a:avLst/>
          </a:prstGeom>
        </p:spPr>
        <p:txBody>
          <a:bodyPr vert="horz" lIns="91440" tIns="45720" rIns="91440" bIns="45720" anchor="b"/>
          <a:lstStyle>
            <a:lvl1pPr algn="l">
              <a:defRPr sz="1200"/>
            </a:lvl1pPr>
          </a:lstStyle>
          <a:p>
            <a:pPr lvl="0">
              <a:defRPr/>
            </a:pPr>
            <a:endParaRPr lang="ko-KR" altLang="en-US"/>
          </a:p>
        </p:txBody>
      </p:sp>
      <p:sp>
        <p:nvSpPr>
          <p:cNvPr id="5" name="슬라이드 번호 개체 틀 4"/>
          <p:cNvSpPr>
            <a:spLocks noGrp="1"/>
          </p:cNvSpPr>
          <p:nvPr>
            <p:ph type="sldNum" sz="quarter" idx="3"/>
          </p:nvPr>
        </p:nvSpPr>
        <p:spPr>
          <a:xfrm>
            <a:off x="4023991" y="9721106"/>
            <a:ext cx="3078427" cy="511730"/>
          </a:xfrm>
          <a:prstGeom prst="rect">
            <a:avLst/>
          </a:prstGeom>
        </p:spPr>
        <p:txBody>
          <a:bodyPr vert="horz" lIns="91440" tIns="45720" rIns="91440" bIns="45720" anchor="b"/>
          <a:lstStyle>
            <a:lvl1pPr algn="r">
              <a:defRPr sz="1200"/>
            </a:lvl1pPr>
          </a:lstStyle>
          <a:p>
            <a:pPr lvl="0">
              <a:defRPr/>
            </a:pPr>
            <a:fld id="{F450E784-2449-4FFD-AA69-3F5CFAA75BCB}" type="slidenum">
              <a:rPr lang="ko-KR" altLang="en-US"/>
              <a:pPr lvl="0">
                <a:defRPr/>
              </a:pPr>
              <a:t>‹#›</a:t>
            </a:fld>
            <a:endParaRPr lang="ko-KR"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078427" cy="513508"/>
          </a:xfrm>
          <a:prstGeom prst="rect">
            <a:avLst/>
          </a:prstGeom>
        </p:spPr>
        <p:txBody>
          <a:bodyPr vert="horz" lIns="99075" tIns="49537" rIns="99075" bIns="49537"/>
          <a:lstStyle>
            <a:lvl1pPr algn="l">
              <a:defRPr sz="1300"/>
            </a:lvl1pPr>
          </a:lstStyle>
          <a:p>
            <a:pPr lvl="0">
              <a:defRPr/>
            </a:pPr>
            <a:endParaRPr lang="ko-KR" altLang="en-US"/>
          </a:p>
        </p:txBody>
      </p:sp>
      <p:sp>
        <p:nvSpPr>
          <p:cNvPr id="3" name="날짜 개체 틀 2"/>
          <p:cNvSpPr>
            <a:spLocks noGrp="1"/>
          </p:cNvSpPr>
          <p:nvPr>
            <p:ph type="dt" idx="1"/>
          </p:nvPr>
        </p:nvSpPr>
        <p:spPr>
          <a:xfrm>
            <a:off x="4023992" y="0"/>
            <a:ext cx="3078427" cy="513508"/>
          </a:xfrm>
          <a:prstGeom prst="rect">
            <a:avLst/>
          </a:prstGeom>
        </p:spPr>
        <p:txBody>
          <a:bodyPr vert="horz" lIns="99075" tIns="49537" rIns="99075" bIns="49537"/>
          <a:lstStyle>
            <a:lvl1pPr algn="r">
              <a:defRPr sz="1300"/>
            </a:lvl1pPr>
          </a:lstStyle>
          <a:p>
            <a:pPr lvl="0">
              <a:defRPr/>
            </a:pPr>
            <a:fld id="{91669BC1-DBAA-445B-BADB-B576B9BEDF3D}" type="datetime1">
              <a:rPr lang="ko-KR" altLang="en-US"/>
              <a:pPr lvl="0">
                <a:defRPr/>
              </a:pPr>
              <a:t>2026. 8. 14.</a:t>
            </a:fld>
            <a:endParaRPr lang="ko-KR" altLang="en-US"/>
          </a:p>
        </p:txBody>
      </p:sp>
      <p:sp>
        <p:nvSpPr>
          <p:cNvPr id="4" name="슬라이드 이미지 개체 틀 3"/>
          <p:cNvSpPr>
            <a:spLocks noGrp="1" noRot="1" noChangeAspect="1" noTextEdit="1"/>
          </p:cNvSpPr>
          <p:nvPr>
            <p:ph type="sldImg" idx="2"/>
          </p:nvPr>
        </p:nvSpPr>
        <p:spPr>
          <a:xfrm>
            <a:off x="482600" y="1279525"/>
            <a:ext cx="6140450" cy="3454400"/>
          </a:xfrm>
          <a:prstGeom prst="rect">
            <a:avLst/>
          </a:prstGeom>
          <a:noFill/>
          <a:ln w="12700">
            <a:solidFill>
              <a:prstClr val="black"/>
            </a:solidFill>
          </a:ln>
        </p:spPr>
        <p:txBody>
          <a:bodyPr vert="horz" lIns="99075" tIns="49537" rIns="99075" bIns="49537" anchor="ctr"/>
          <a:lstStyle/>
          <a:p>
            <a:pPr lvl="0">
              <a:defRPr/>
            </a:pPr>
            <a:endParaRPr lang="ko-KR" altLang="en-US"/>
          </a:p>
        </p:txBody>
      </p:sp>
      <p:sp>
        <p:nvSpPr>
          <p:cNvPr id="5" name="슬라이드 노트 개체 틀 4"/>
          <p:cNvSpPr>
            <a:spLocks noGrp="1"/>
          </p:cNvSpPr>
          <p:nvPr>
            <p:ph type="body" sz="quarter" idx="3"/>
          </p:nvPr>
        </p:nvSpPr>
        <p:spPr>
          <a:xfrm>
            <a:off x="710407" y="4925407"/>
            <a:ext cx="5683250" cy="4029879"/>
          </a:xfrm>
          <a:prstGeom prst="rect">
            <a:avLst/>
          </a:prstGeom>
        </p:spPr>
        <p:txBody>
          <a:bodyPr vert="horz" lIns="99075" tIns="49537" rIns="99075" bIns="49537"/>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6" name="바닥글 개체 틀 5"/>
          <p:cNvSpPr>
            <a:spLocks noGrp="1"/>
          </p:cNvSpPr>
          <p:nvPr>
            <p:ph type="ftr" sz="quarter" idx="4"/>
          </p:nvPr>
        </p:nvSpPr>
        <p:spPr>
          <a:xfrm>
            <a:off x="0" y="9721107"/>
            <a:ext cx="3078427" cy="513507"/>
          </a:xfrm>
          <a:prstGeom prst="rect">
            <a:avLst/>
          </a:prstGeom>
        </p:spPr>
        <p:txBody>
          <a:bodyPr vert="horz" lIns="99075" tIns="49537" rIns="99075" bIns="49537" anchor="b"/>
          <a:lstStyle>
            <a:lvl1pPr algn="l">
              <a:defRPr sz="1300"/>
            </a:lvl1pPr>
          </a:lstStyle>
          <a:p>
            <a:pPr lvl="0">
              <a:defRPr/>
            </a:pPr>
            <a:endParaRPr lang="ko-KR" altLang="en-US"/>
          </a:p>
        </p:txBody>
      </p:sp>
      <p:sp>
        <p:nvSpPr>
          <p:cNvPr id="7" name="슬라이드 번호 개체 틀 6"/>
          <p:cNvSpPr>
            <a:spLocks noGrp="1"/>
          </p:cNvSpPr>
          <p:nvPr>
            <p:ph type="sldNum" sz="quarter" idx="5"/>
          </p:nvPr>
        </p:nvSpPr>
        <p:spPr>
          <a:xfrm>
            <a:off x="4023992" y="9721107"/>
            <a:ext cx="3078427" cy="513507"/>
          </a:xfrm>
          <a:prstGeom prst="rect">
            <a:avLst/>
          </a:prstGeom>
        </p:spPr>
        <p:txBody>
          <a:bodyPr vert="horz" lIns="99075" tIns="49537" rIns="99075" bIns="49537" anchor="b"/>
          <a:lstStyle>
            <a:lvl1pPr algn="r">
              <a:defRPr sz="1300"/>
            </a:lvl1pPr>
          </a:lstStyle>
          <a:p>
            <a:pPr lvl="0">
              <a:defRPr/>
            </a:pPr>
            <a:fld id="{90FA8603-EEC9-404A-91D4-26086C075B20}"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슬라이드"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pPr lvl="0">
              <a:defRPr/>
            </a:pPr>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defRPr/>
            </a:pPr>
            <a:r>
              <a:rPr lang="ko-KR" altLang="en-US"/>
              <a:t>클릭하여 마스터 부제목 스타일 편집</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2026. 8. 14.</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제목 및 내용"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내용 개체 틀 2"/>
          <p:cNvSpPr>
            <a:spLocks noGrp="1"/>
          </p:cNvSpPr>
          <p:nvPr>
            <p:ph idx="1"/>
          </p:nvPr>
        </p:nvSpPr>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2026. 8. 14.</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구역 머리글"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pPr lvl="0">
              <a:defRPr/>
            </a:pPr>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ko-KR" altLang="en-US"/>
              <a:t>마스터 텍스트 스타일 편집</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2026. 8. 14.</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콘텐츠 2개"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5" name="날짜 개체 틀 4"/>
          <p:cNvSpPr>
            <a:spLocks noGrp="1"/>
          </p:cNvSpPr>
          <p:nvPr>
            <p:ph type="dt" sz="half" idx="10"/>
          </p:nvPr>
        </p:nvSpPr>
        <p:spPr/>
        <p:txBody>
          <a:bodyPr/>
          <a:lstStyle/>
          <a:p>
            <a:pPr lvl="0">
              <a:defRPr/>
            </a:pPr>
            <a:fld id="{EA2485B4-4CD5-433A-9C5E-1F9D9E18D170}" type="datetime1">
              <a:rPr lang="ko-KR" altLang="en-US"/>
              <a:pPr lvl="0">
                <a:defRPr/>
              </a:pPr>
              <a:t>2026. 8. 14.</a:t>
            </a:fld>
            <a:endParaRPr lang="ko-KR" altLang="en-US"/>
          </a:p>
        </p:txBody>
      </p:sp>
      <p:sp>
        <p:nvSpPr>
          <p:cNvPr id="6" name="바닥글 개체 틀 5"/>
          <p:cNvSpPr>
            <a:spLocks noGrp="1"/>
          </p:cNvSpPr>
          <p:nvPr>
            <p:ph type="ftr" sz="quarter" idx="11"/>
          </p:nvPr>
        </p:nvSpPr>
        <p:spPr/>
        <p:txBody>
          <a:bodyPr/>
          <a:lstStyle/>
          <a:p>
            <a:pPr lvl="0">
              <a:defRPr/>
            </a:pPr>
            <a:endParaRPr lang="ko-KR" altLang="en-US"/>
          </a:p>
        </p:txBody>
      </p:sp>
      <p:sp>
        <p:nvSpPr>
          <p:cNvPr id="7" name="슬라이드 번호 개체 틀 6"/>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비교"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pPr lvl="0">
              <a:defRPr/>
            </a:pPr>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7" name="날짜 개체 틀 6"/>
          <p:cNvSpPr>
            <a:spLocks noGrp="1"/>
          </p:cNvSpPr>
          <p:nvPr>
            <p:ph type="dt" sz="half" idx="10"/>
          </p:nvPr>
        </p:nvSpPr>
        <p:spPr/>
        <p:txBody>
          <a:bodyPr/>
          <a:lstStyle/>
          <a:p>
            <a:pPr lvl="0">
              <a:defRPr/>
            </a:pPr>
            <a:fld id="{EA2485B4-4CD5-433A-9C5E-1F9D9E18D170}" type="datetime1">
              <a:rPr lang="ko-KR" altLang="en-US"/>
              <a:pPr lvl="0">
                <a:defRPr/>
              </a:pPr>
              <a:t>2026. 8. 14.</a:t>
            </a:fld>
            <a:endParaRPr lang="ko-KR" altLang="en-US"/>
          </a:p>
        </p:txBody>
      </p:sp>
      <p:sp>
        <p:nvSpPr>
          <p:cNvPr id="8" name="바닥글 개체 틀 7"/>
          <p:cNvSpPr>
            <a:spLocks noGrp="1"/>
          </p:cNvSpPr>
          <p:nvPr>
            <p:ph type="ftr" sz="quarter" idx="11"/>
          </p:nvPr>
        </p:nvSpPr>
        <p:spPr/>
        <p:txBody>
          <a:bodyPr/>
          <a:lstStyle/>
          <a:p>
            <a:pPr lvl="0">
              <a:defRPr/>
            </a:pPr>
            <a:endParaRPr lang="ko-KR" altLang="en-US"/>
          </a:p>
        </p:txBody>
      </p:sp>
      <p:sp>
        <p:nvSpPr>
          <p:cNvPr id="9" name="슬라이드 번호 개체 틀 8"/>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제목만"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날짜 개체 틀 2"/>
          <p:cNvSpPr>
            <a:spLocks noGrp="1"/>
          </p:cNvSpPr>
          <p:nvPr>
            <p:ph type="dt" sz="half" idx="10"/>
          </p:nvPr>
        </p:nvSpPr>
        <p:spPr/>
        <p:txBody>
          <a:bodyPr/>
          <a:lstStyle/>
          <a:p>
            <a:pPr lvl="0">
              <a:defRPr/>
            </a:pPr>
            <a:fld id="{EA2485B4-4CD5-433A-9C5E-1F9D9E18D170}" type="datetime1">
              <a:rPr lang="ko-KR" altLang="en-US"/>
              <a:pPr lvl="0">
                <a:defRPr/>
              </a:pPr>
              <a:t>2026. 8. 14.</a:t>
            </a:fld>
            <a:endParaRPr lang="ko-KR" altLang="en-US"/>
          </a:p>
        </p:txBody>
      </p:sp>
      <p:sp>
        <p:nvSpPr>
          <p:cNvPr id="4" name="바닥글 개체 틀 3"/>
          <p:cNvSpPr>
            <a:spLocks noGrp="1"/>
          </p:cNvSpPr>
          <p:nvPr>
            <p:ph type="ftr" sz="quarter" idx="11"/>
          </p:nvPr>
        </p:nvSpPr>
        <p:spPr/>
        <p:txBody>
          <a:bodyPr/>
          <a:lstStyle/>
          <a:p>
            <a:pPr lvl="0">
              <a:defRPr/>
            </a:pPr>
            <a:endParaRPr lang="ko-KR" altLang="en-US"/>
          </a:p>
        </p:txBody>
      </p:sp>
      <p:sp>
        <p:nvSpPr>
          <p:cNvPr id="5" name="슬라이드 번호 개체 틀 4"/>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빈 화면"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pPr lvl="0">
              <a:defRPr/>
            </a:pPr>
            <a:fld id="{EA2485B4-4CD5-433A-9C5E-1F9D9E18D170}" type="datetime1">
              <a:rPr lang="ko-KR" altLang="en-US"/>
              <a:pPr lvl="0">
                <a:defRPr/>
              </a:pPr>
              <a:t>2026. 8. 14.</a:t>
            </a:fld>
            <a:endParaRPr lang="ko-KR" altLang="en-US"/>
          </a:p>
        </p:txBody>
      </p:sp>
      <p:sp>
        <p:nvSpPr>
          <p:cNvPr id="3" name="바닥글 개체 틀 2"/>
          <p:cNvSpPr>
            <a:spLocks noGrp="1"/>
          </p:cNvSpPr>
          <p:nvPr>
            <p:ph type="ftr" sz="quarter" idx="11"/>
          </p:nvPr>
        </p:nvSpPr>
        <p:spPr/>
        <p:txBody>
          <a:bodyPr/>
          <a:lstStyle/>
          <a:p>
            <a:pPr lvl="0">
              <a:defRPr/>
            </a:pPr>
            <a:endParaRPr lang="ko-KR" altLang="en-US"/>
          </a:p>
        </p:txBody>
      </p:sp>
      <p:sp>
        <p:nvSpPr>
          <p:cNvPr id="4" name="슬라이드 번호 개체 틀 3"/>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캡션 있는 콘텐츠"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pPr lvl="0">
              <a:defRPr/>
            </a:pPr>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ko-KR" altLang="en-US"/>
              <a:t>마스터 텍스트 스타일 편집</a:t>
            </a:r>
          </a:p>
        </p:txBody>
      </p:sp>
      <p:sp>
        <p:nvSpPr>
          <p:cNvPr id="5" name="날짜 개체 틀 4"/>
          <p:cNvSpPr>
            <a:spLocks noGrp="1"/>
          </p:cNvSpPr>
          <p:nvPr>
            <p:ph type="dt" sz="half" idx="10"/>
          </p:nvPr>
        </p:nvSpPr>
        <p:spPr/>
        <p:txBody>
          <a:bodyPr/>
          <a:lstStyle/>
          <a:p>
            <a:pPr lvl="0">
              <a:defRPr/>
            </a:pPr>
            <a:fld id="{EA2485B4-4CD5-433A-9C5E-1F9D9E18D170}" type="datetime1">
              <a:rPr lang="ko-KR" altLang="en-US"/>
              <a:pPr lvl="0">
                <a:defRPr/>
              </a:pPr>
              <a:t>2026. 8. 14.</a:t>
            </a:fld>
            <a:endParaRPr lang="ko-KR" altLang="en-US"/>
          </a:p>
        </p:txBody>
      </p:sp>
      <p:sp>
        <p:nvSpPr>
          <p:cNvPr id="6" name="바닥글 개체 틀 5"/>
          <p:cNvSpPr>
            <a:spLocks noGrp="1"/>
          </p:cNvSpPr>
          <p:nvPr>
            <p:ph type="ftr" sz="quarter" idx="11"/>
          </p:nvPr>
        </p:nvSpPr>
        <p:spPr/>
        <p:txBody>
          <a:bodyPr/>
          <a:lstStyle/>
          <a:p>
            <a:pPr lvl="0">
              <a:defRPr/>
            </a:pPr>
            <a:endParaRPr lang="ko-KR" altLang="en-US"/>
          </a:p>
        </p:txBody>
      </p:sp>
      <p:sp>
        <p:nvSpPr>
          <p:cNvPr id="7" name="슬라이드 번호 개체 틀 6"/>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제목 및 세로 텍스트"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2026. 8. 14.</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세로 제목 및 텍스트"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pPr lvl="0">
              <a:defRPr/>
            </a:pPr>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2026. 8. 14.</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제목 슬라이드" userDrawn="1">
  <p:cSld name="1_제목 슬라이드">
    <p:spTree>
      <p:nvGrpSpPr>
        <p:cNvPr id="1" name=""/>
        <p:cNvGrpSpPr/>
        <p:nvPr/>
      </p:nvGrpSpPr>
      <p:grpSpPr>
        <a:xfrm>
          <a:off x="0" y="0"/>
          <a:ext cx="0" cy="0"/>
          <a:chOff x="0" y="0"/>
          <a:chExt cx="0" cy="0"/>
        </a:xfrm>
      </p:grpSpPr>
      <p:sp>
        <p:nvSpPr>
          <p:cNvPr id="9" name="제목 1"/>
          <p:cNvSpPr>
            <a:spLocks noGrp="1"/>
          </p:cNvSpPr>
          <p:nvPr>
            <p:ph type="title"/>
          </p:nvPr>
        </p:nvSpPr>
        <p:spPr>
          <a:xfrm>
            <a:off x="514350" y="241300"/>
            <a:ext cx="4410075" cy="473075"/>
          </a:xfrm>
          <a:prstGeom prst="rect">
            <a:avLst/>
          </a:prstGeom>
        </p:spPr>
        <p:txBody>
          <a:bodyPr/>
          <a:lstStyle>
            <a:lvl1pPr>
              <a:defRPr sz="2800" b="1"/>
            </a:lvl1pPr>
          </a:lstStyle>
          <a:p>
            <a:pPr lvl="0">
              <a:defRPr/>
            </a:pPr>
            <a:r>
              <a:rPr lang="ko-KR" altLang="en-US"/>
              <a:t>마스터 제목 스타일 편집</a:t>
            </a: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캡션 있는 그림"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pPr lvl="0">
              <a:defRPr/>
            </a:pPr>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defRPr/>
            </a:pPr>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ko-KR" altLang="en-US"/>
              <a:t>마스터 텍스트 스타일 편집</a:t>
            </a:r>
          </a:p>
        </p:txBody>
      </p:sp>
      <p:sp>
        <p:nvSpPr>
          <p:cNvPr id="5" name="날짜 개체 틀 4"/>
          <p:cNvSpPr>
            <a:spLocks noGrp="1"/>
          </p:cNvSpPr>
          <p:nvPr>
            <p:ph type="dt" sz="half" idx="10"/>
          </p:nvPr>
        </p:nvSpPr>
        <p:spPr/>
        <p:txBody>
          <a:bodyPr/>
          <a:lstStyle/>
          <a:p>
            <a:pPr lvl="0">
              <a:defRPr/>
            </a:pPr>
            <a:fld id="{EA2485B4-4CD5-433A-9C5E-1F9D9E18D170}" type="datetime1">
              <a:rPr lang="ko-KR" altLang="en-US"/>
              <a:pPr lvl="0">
                <a:defRPr/>
              </a:pPr>
              <a:t>2026. 8. 14.</a:t>
            </a:fld>
            <a:endParaRPr lang="ko-KR" altLang="en-US"/>
          </a:p>
        </p:txBody>
      </p:sp>
      <p:sp>
        <p:nvSpPr>
          <p:cNvPr id="6" name="바닥글 개체 틀 5"/>
          <p:cNvSpPr>
            <a:spLocks noGrp="1"/>
          </p:cNvSpPr>
          <p:nvPr>
            <p:ph type="ftr" sz="quarter" idx="11"/>
          </p:nvPr>
        </p:nvSpPr>
        <p:spPr/>
        <p:txBody>
          <a:bodyPr/>
          <a:lstStyle/>
          <a:p>
            <a:pPr lvl="0">
              <a:defRPr/>
            </a:pPr>
            <a:endParaRPr lang="ko-KR" altLang="en-US"/>
          </a:p>
        </p:txBody>
      </p:sp>
      <p:sp>
        <p:nvSpPr>
          <p:cNvPr id="7" name="슬라이드 번호 개체 틀 6"/>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Office 테마">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pPr lvl="0">
              <a:defRPr/>
            </a:pPr>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anchor="ctr"/>
          <a:lstStyle>
            <a:lvl1pPr algn="l">
              <a:defRPr sz="1200">
                <a:solidFill>
                  <a:schemeClr val="tx1">
                    <a:tint val="75000"/>
                  </a:schemeClr>
                </a:solidFill>
              </a:defRPr>
            </a:lvl1pPr>
          </a:lstStyle>
          <a:p>
            <a:pPr lvl="0">
              <a:defRPr/>
            </a:pPr>
            <a:fld id="{EA2485B4-4CD5-433A-9C5E-1F9D9E18D170}" type="datetime1">
              <a:rPr lang="ko-KR" altLang="en-US"/>
              <a:pPr lvl="0">
                <a:defRPr/>
              </a:pPr>
              <a:t>2026. 8. 14.</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anchor="ctr"/>
          <a:lstStyle>
            <a:lvl1pPr algn="ctr">
              <a:defRPr sz="1200">
                <a:solidFill>
                  <a:schemeClr val="tx1">
                    <a:tint val="75000"/>
                  </a:schemeClr>
                </a:solidFill>
              </a:defRPr>
            </a:lvl1pPr>
          </a:lstStyle>
          <a:p>
            <a:pPr lvl="0">
              <a:defRPr/>
            </a:pPr>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anchor="ctr"/>
          <a:lstStyle>
            <a:lvl1pPr algn="ctr">
              <a:defRPr sz="1200">
                <a:solidFill>
                  <a:schemeClr val="tx1">
                    <a:tint val="75000"/>
                  </a:schemeClr>
                </a:solidFill>
              </a:defRPr>
            </a:lvl1pPr>
          </a:lstStyle>
          <a:p>
            <a:pPr lvl="0">
              <a:defRPr/>
            </a:pPr>
            <a:r>
              <a:rPr lang="ko-KR" altLang="en-US"/>
              <a:t>                                        </a:t>
            </a:r>
            <a:fld id="{01C71F60-5500-4FC4-A037-67ABFCE0E1C4}" type="slidenum">
              <a:rPr lang="ko-KR" altLang="en-US"/>
              <a:pPr lvl="0">
                <a:defRPr/>
              </a:pPr>
              <a:t>‹#›</a:t>
            </a:fld>
            <a:r>
              <a:rPr lang="ko-KR" altLang="en-US"/>
              <a:t>     </a:t>
            </a:r>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ransition/>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dirty="0"/>
          </a:p>
        </p:txBody>
      </p:sp>
      <p:sp>
        <p:nvSpPr>
          <p:cNvPr id="24" name="직사각형 23"/>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dirty="0">
              <a:solidFill>
                <a:srgbClr val="FFFFFF"/>
              </a:solidFill>
              <a:latin typeface="맑은 고딕"/>
              <a:ea typeface="맑은 고딕"/>
              <a:cs typeface="맑은 고딕"/>
            </a:endParaRPr>
          </a:p>
        </p:txBody>
      </p:sp>
      <p:sp>
        <p:nvSpPr>
          <p:cNvPr id="25" name="직사각형 24"/>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dirty="0">
              <a:solidFill>
                <a:srgbClr val="FFFFFF"/>
              </a:solidFill>
              <a:latin typeface="맑은 고딕"/>
              <a:ea typeface="맑은 고딕"/>
              <a:cs typeface="맑은 고딕"/>
            </a:endParaRPr>
          </a:p>
        </p:txBody>
      </p:sp>
      <p:cxnSp>
        <p:nvCxnSpPr>
          <p:cNvPr id="30" name="직선 연결선 29"/>
          <p:cNvCxnSpPr/>
          <p:nvPr/>
        </p:nvCxnSpPr>
        <p:spPr>
          <a:xfrm>
            <a:off x="2377440" y="3255264"/>
            <a:ext cx="7434072" cy="0"/>
          </a:xfrm>
          <a:prstGeom prst="line">
            <a:avLst/>
          </a:prstGeom>
          <a:ln w="25400">
            <a:solidFill>
              <a:srgbClr val="3375BE"/>
            </a:solidFil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822960" y="1389888"/>
            <a:ext cx="10543032" cy="1783080"/>
          </a:xfrm>
          <a:prstGeom prst="rect">
            <a:avLst/>
          </a:prstGeom>
          <a:noFill/>
        </p:spPr>
        <p:txBody>
          <a:bodyPr wrap="square" lIns="0" tIns="0" rIns="0" bIns="0" anchor="ctr">
            <a:noAutofit/>
          </a:bodyPr>
          <a:lstStyle/>
          <a:p>
            <a:pPr algn="ctr">
              <a:lnSpc>
                <a:spcPct val="122000"/>
              </a:lnSpc>
            </a:pPr>
            <a:r>
              <a:rPr lang="en-US" altLang="en-US" sz="2700" b="1" i="0">
                <a:solidFill>
                  <a:srgbClr val="1A1A1A"/>
                </a:solidFill>
                <a:latin typeface="Arial"/>
                <a:ea typeface="Arial"/>
                <a:cs typeface="Arial"/>
              </a:rPr>
              <a:t>A Factor Decomposition Method for Separating</a:t>
            </a:r>
          </a:p>
          <a:p>
            <a:pPr algn="ctr">
              <a:lnSpc>
                <a:spcPct val="122000"/>
              </a:lnSpc>
            </a:pPr>
            <a:r>
              <a:rPr lang="en-US" altLang="en-US" sz="2700" b="1" i="0">
                <a:solidFill>
                  <a:srgbClr val="1A1A1A"/>
                </a:solidFill>
                <a:latin typeface="Arial"/>
                <a:ea typeface="Arial"/>
                <a:cs typeface="Arial"/>
              </a:rPr>
              <a:t>Store Substitution and Embedding Placement Effects</a:t>
            </a:r>
          </a:p>
          <a:p>
            <a:pPr algn="ctr">
              <a:lnSpc>
                <a:spcPct val="122000"/>
              </a:lnSpc>
            </a:pPr>
            <a:r>
              <a:rPr lang="en-US" altLang="en-US" sz="2700" b="1" i="0">
                <a:solidFill>
                  <a:srgbClr val="1A1A1A"/>
                </a:solidFill>
                <a:latin typeface="Arial"/>
                <a:ea typeface="Arial"/>
                <a:cs typeface="Arial"/>
              </a:rPr>
              <a:t>in Vector Database Migration</a:t>
            </a:r>
          </a:p>
        </p:txBody>
      </p:sp>
      <p:sp>
        <p:nvSpPr>
          <p:cNvPr id="32" name="TextBox 31"/>
          <p:cNvSpPr txBox="1"/>
          <p:nvPr/>
        </p:nvSpPr>
        <p:spPr>
          <a:xfrm>
            <a:off x="721256" y="3846307"/>
            <a:ext cx="10746439" cy="2033699"/>
          </a:xfrm>
          <a:prstGeom prst="rect">
            <a:avLst/>
          </a:prstGeom>
          <a:noFill/>
        </p:spPr>
        <p:txBody>
          <a:bodyPr wrap="square" lIns="0" tIns="0" rIns="0" bIns="0" anchor="t">
            <a:noAutofit/>
          </a:bodyPr>
          <a:lstStyle/>
          <a:p>
            <a:pPr algn="ctr">
              <a:spcBef>
                <a:spcPts val="2600"/>
              </a:spcBef>
            </a:pPr>
            <a:r>
              <a:rPr lang="en-US" altLang="en-US" sz="1600" b="1" dirty="0" err="1">
                <a:solidFill>
                  <a:srgbClr val="1A1A1A"/>
                </a:solidFill>
                <a:latin typeface="Arial"/>
                <a:ea typeface="Arial"/>
                <a:cs typeface="Arial"/>
              </a:rPr>
              <a:t>Junha</a:t>
            </a:r>
            <a:r>
              <a:rPr lang="en-US" altLang="en-US" sz="1600" b="1" dirty="0">
                <a:solidFill>
                  <a:srgbClr val="1A1A1A"/>
                </a:solidFill>
                <a:latin typeface="Arial"/>
                <a:ea typeface="Arial"/>
                <a:cs typeface="Arial"/>
              </a:rPr>
              <a:t> Yoon · </a:t>
            </a:r>
            <a:r>
              <a:rPr lang="en-US" altLang="en-US" sz="1600" b="1" dirty="0" err="1">
                <a:solidFill>
                  <a:srgbClr val="1A1A1A"/>
                </a:solidFill>
                <a:latin typeface="Arial"/>
                <a:ea typeface="Arial"/>
                <a:cs typeface="Arial"/>
              </a:rPr>
              <a:t>Ohhyeon</a:t>
            </a:r>
            <a:r>
              <a:rPr lang="en-US" altLang="en-US" sz="1600" b="1" dirty="0">
                <a:solidFill>
                  <a:srgbClr val="1A1A1A"/>
                </a:solidFill>
                <a:latin typeface="Arial"/>
                <a:ea typeface="Arial"/>
                <a:cs typeface="Arial"/>
              </a:rPr>
              <a:t> Gwon · </a:t>
            </a:r>
            <a:r>
              <a:rPr lang="en-US" altLang="en-US" sz="1600" b="1" dirty="0" err="1">
                <a:solidFill>
                  <a:srgbClr val="1A1A1A"/>
                </a:solidFill>
                <a:latin typeface="Arial"/>
                <a:ea typeface="Arial"/>
                <a:cs typeface="Arial"/>
              </a:rPr>
              <a:t>Junhaeng</a:t>
            </a:r>
            <a:r>
              <a:rPr lang="en-US" altLang="en-US" sz="1600" b="1" dirty="0">
                <a:solidFill>
                  <a:srgbClr val="1A1A1A"/>
                </a:solidFill>
                <a:latin typeface="Arial"/>
                <a:ea typeface="Arial"/>
                <a:cs typeface="Arial"/>
              </a:rPr>
              <a:t> Lee · </a:t>
            </a:r>
            <a:r>
              <a:rPr lang="en-US" altLang="en-US" sz="1600" b="1" dirty="0" err="1">
                <a:solidFill>
                  <a:srgbClr val="1A1A1A"/>
                </a:solidFill>
                <a:latin typeface="Arial"/>
                <a:ea typeface="Arial"/>
                <a:cs typeface="Arial"/>
              </a:rPr>
              <a:t>Hyeji</a:t>
            </a:r>
            <a:r>
              <a:rPr lang="en-US" altLang="en-US" sz="1600" b="1" dirty="0">
                <a:solidFill>
                  <a:srgbClr val="1A1A1A"/>
                </a:solidFill>
                <a:latin typeface="Arial"/>
                <a:ea typeface="Arial"/>
                <a:cs typeface="Arial"/>
              </a:rPr>
              <a:t> Roh · </a:t>
            </a:r>
            <a:r>
              <a:rPr lang="en-US" altLang="en-US" sz="1600" b="1" dirty="0" err="1">
                <a:solidFill>
                  <a:srgbClr val="1A1A1A"/>
                </a:solidFill>
                <a:latin typeface="Arial"/>
                <a:ea typeface="Arial"/>
                <a:cs typeface="Arial"/>
              </a:rPr>
              <a:t>Soowan</a:t>
            </a:r>
            <a:r>
              <a:rPr lang="en-US" altLang="en-US" sz="1600" b="1" dirty="0">
                <a:solidFill>
                  <a:srgbClr val="1A1A1A"/>
                </a:solidFill>
                <a:latin typeface="Arial"/>
                <a:ea typeface="Arial"/>
                <a:cs typeface="Arial"/>
              </a:rPr>
              <a:t> Cho · </a:t>
            </a:r>
            <a:r>
              <a:rPr lang="en-US" altLang="en-US" sz="1600" b="1" dirty="0" err="1">
                <a:solidFill>
                  <a:srgbClr val="1A1A1A"/>
                </a:solidFill>
                <a:latin typeface="Arial"/>
                <a:ea typeface="Arial"/>
                <a:cs typeface="Arial"/>
              </a:rPr>
              <a:t>Suhee</a:t>
            </a:r>
            <a:r>
              <a:rPr lang="en-US" altLang="en-US" sz="1600" b="1" dirty="0">
                <a:solidFill>
                  <a:srgbClr val="1A1A1A"/>
                </a:solidFill>
                <a:latin typeface="Arial"/>
                <a:ea typeface="Arial"/>
                <a:cs typeface="Arial"/>
              </a:rPr>
              <a:t> Kim · </a:t>
            </a:r>
            <a:r>
              <a:rPr lang="en-US" altLang="en-US" sz="1600" b="1" dirty="0" err="1">
                <a:solidFill>
                  <a:srgbClr val="1A1A1A"/>
                </a:solidFill>
                <a:latin typeface="Arial"/>
                <a:ea typeface="Arial"/>
                <a:cs typeface="Arial"/>
              </a:rPr>
              <a:t>SangSoon</a:t>
            </a:r>
            <a:r>
              <a:rPr lang="en-US" altLang="en-US" sz="1600" b="1" dirty="0">
                <a:solidFill>
                  <a:srgbClr val="1A1A1A"/>
                </a:solidFill>
                <a:latin typeface="Arial"/>
                <a:ea typeface="Arial"/>
                <a:cs typeface="Arial"/>
              </a:rPr>
              <a:t> Lim</a:t>
            </a:r>
          </a:p>
          <a:p>
            <a:pPr algn="ctr">
              <a:spcBef>
                <a:spcPts val="500"/>
              </a:spcBef>
            </a:pPr>
            <a:r>
              <a:rPr lang="en-US" altLang="en-US" sz="1400" dirty="0" err="1">
                <a:solidFill>
                  <a:srgbClr val="6D6D6D"/>
                </a:solidFill>
                <a:latin typeface="Arial"/>
                <a:ea typeface="Arial"/>
                <a:cs typeface="Arial"/>
              </a:rPr>
              <a:t>Sungkyul</a:t>
            </a:r>
            <a:r>
              <a:rPr lang="en-US" altLang="en-US" sz="1400" dirty="0">
                <a:solidFill>
                  <a:srgbClr val="6D6D6D"/>
                </a:solidFill>
                <a:latin typeface="Arial"/>
                <a:ea typeface="Arial"/>
                <a:cs typeface="Arial"/>
              </a:rPr>
              <a:t> University · Chung-Ang University · Deep Insight Lab</a:t>
            </a:r>
            <a:endParaRPr lang="en-US" altLang="en-US" sz="1500" b="1" i="0" dirty="0">
              <a:solidFill>
                <a:srgbClr val="1A1A1A"/>
              </a:solidFill>
              <a:latin typeface="Arial"/>
              <a:ea typeface="Arial"/>
              <a:cs typeface="Arial"/>
            </a:endParaRPr>
          </a:p>
          <a:p>
            <a:pPr algn="ctr"/>
            <a:endParaRPr lang="en-US" altLang="en-US" sz="1500" b="1" dirty="0">
              <a:solidFill>
                <a:srgbClr val="1A1A1A"/>
              </a:solidFill>
              <a:latin typeface="Arial"/>
              <a:ea typeface="Arial"/>
              <a:cs typeface="Arial"/>
            </a:endParaRPr>
          </a:p>
          <a:p>
            <a:pPr algn="ctr"/>
            <a:endParaRPr lang="en-US" altLang="en-US" sz="1500" b="1" dirty="0">
              <a:solidFill>
                <a:srgbClr val="1A1A1A"/>
              </a:solidFill>
              <a:latin typeface="Arial"/>
              <a:ea typeface="Arial"/>
              <a:cs typeface="Arial"/>
            </a:endParaRPr>
          </a:p>
          <a:p>
            <a:pPr algn="ctr"/>
            <a:r>
              <a:rPr lang="en-US" altLang="en-US" sz="1500" b="1" i="0" dirty="0">
                <a:solidFill>
                  <a:srgbClr val="1A1A1A"/>
                </a:solidFill>
                <a:latin typeface="Arial"/>
                <a:ea typeface="Arial"/>
                <a:cs typeface="Arial"/>
              </a:rPr>
              <a:t>2026 International Conference on </a:t>
            </a:r>
            <a:r>
              <a:rPr lang="en-US" altLang="en-US" sz="1500" b="1" i="0" dirty="0" err="1">
                <a:solidFill>
                  <a:srgbClr val="1A1A1A"/>
                </a:solidFill>
                <a:latin typeface="Arial"/>
                <a:ea typeface="Arial"/>
                <a:cs typeface="Arial"/>
              </a:rPr>
              <a:t>PyGeek</a:t>
            </a:r>
            <a:endParaRPr lang="en-US" altLang="en-US" sz="1500" b="1" i="0" dirty="0">
              <a:solidFill>
                <a:srgbClr val="1A1A1A"/>
              </a:solidFill>
              <a:latin typeface="Arial"/>
              <a:ea typeface="Arial"/>
              <a:cs typeface="Arial"/>
            </a:endParaRPr>
          </a:p>
          <a:p>
            <a:pPr algn="ctr">
              <a:spcBef>
                <a:spcPts val="400"/>
              </a:spcBef>
            </a:pPr>
            <a:r>
              <a:rPr lang="en-US" altLang="en-US" sz="1400" b="0" i="0" dirty="0">
                <a:solidFill>
                  <a:srgbClr val="6D6D6D"/>
                </a:solidFill>
                <a:latin typeface="Arial"/>
                <a:ea typeface="Arial"/>
                <a:cs typeface="Arial"/>
              </a:rPr>
              <a:t>Hongik University</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dirty="0">
                <a:solidFill>
                  <a:srgbClr val="1A1A1A"/>
                </a:solidFill>
                <a:latin typeface="Arial"/>
                <a:ea typeface="Arial"/>
                <a:cs typeface="Arial"/>
              </a:rPr>
              <a:t>Contents</a:t>
            </a:r>
          </a:p>
        </p:txBody>
      </p:sp>
      <p:sp>
        <p:nvSpPr>
          <p:cNvPr id="29" name="TextBox 28"/>
          <p:cNvSpPr txBox="1"/>
          <p:nvPr/>
        </p:nvSpPr>
        <p:spPr>
          <a:xfrm>
            <a:off x="676656" y="949524"/>
            <a:ext cx="685800" cy="566928"/>
          </a:xfrm>
          <a:prstGeom prst="rect">
            <a:avLst/>
          </a:prstGeom>
          <a:noFill/>
        </p:spPr>
        <p:txBody>
          <a:bodyPr wrap="square" lIns="0" tIns="0" rIns="0" bIns="0" anchor="ctr">
            <a:noAutofit/>
          </a:bodyPr>
          <a:lstStyle/>
          <a:p>
            <a:pPr algn="l"/>
            <a:r>
              <a:rPr lang="en-US" altLang="en-US" sz="2000" b="1" i="0" dirty="0">
                <a:solidFill>
                  <a:srgbClr val="3375BE"/>
                </a:solidFill>
                <a:latin typeface="Arial"/>
                <a:ea typeface="Arial"/>
                <a:cs typeface="Arial"/>
              </a:rPr>
              <a:t>1</a:t>
            </a:r>
          </a:p>
        </p:txBody>
      </p:sp>
      <p:sp>
        <p:nvSpPr>
          <p:cNvPr id="30" name="TextBox 29"/>
          <p:cNvSpPr txBox="1"/>
          <p:nvPr/>
        </p:nvSpPr>
        <p:spPr>
          <a:xfrm>
            <a:off x="1154383" y="949524"/>
            <a:ext cx="7772400" cy="566928"/>
          </a:xfrm>
          <a:prstGeom prst="rect">
            <a:avLst/>
          </a:prstGeom>
          <a:noFill/>
        </p:spPr>
        <p:txBody>
          <a:bodyPr wrap="square" lIns="0" tIns="0" rIns="0" bIns="0" anchor="ctr">
            <a:noAutofit/>
          </a:bodyPr>
          <a:lstStyle/>
          <a:p>
            <a:pPr algn="l"/>
            <a:r>
              <a:rPr lang="en-US" altLang="en-US" sz="2000" b="1" i="0" dirty="0">
                <a:solidFill>
                  <a:srgbClr val="1A1A1A"/>
                </a:solidFill>
                <a:latin typeface="Arial"/>
                <a:ea typeface="Arial"/>
                <a:cs typeface="Arial"/>
              </a:rPr>
              <a:t>Introduction</a:t>
            </a:r>
          </a:p>
        </p:txBody>
      </p:sp>
      <p:sp>
        <p:nvSpPr>
          <p:cNvPr id="32" name="TextBox 31"/>
          <p:cNvSpPr txBox="1"/>
          <p:nvPr/>
        </p:nvSpPr>
        <p:spPr>
          <a:xfrm>
            <a:off x="676656" y="1608618"/>
            <a:ext cx="685800" cy="566928"/>
          </a:xfrm>
          <a:prstGeom prst="rect">
            <a:avLst/>
          </a:prstGeom>
          <a:noFill/>
        </p:spPr>
        <p:txBody>
          <a:bodyPr wrap="square" lIns="0" tIns="0" rIns="0" bIns="0" anchor="ctr">
            <a:noAutofit/>
          </a:bodyPr>
          <a:lstStyle/>
          <a:p>
            <a:pPr algn="l"/>
            <a:r>
              <a:rPr lang="en-US" altLang="en-US" sz="2000" b="1" i="0" dirty="0">
                <a:solidFill>
                  <a:srgbClr val="3375BE"/>
                </a:solidFill>
                <a:latin typeface="Arial"/>
                <a:ea typeface="Arial"/>
                <a:cs typeface="Arial"/>
              </a:rPr>
              <a:t>2</a:t>
            </a:r>
          </a:p>
        </p:txBody>
      </p:sp>
      <p:sp>
        <p:nvSpPr>
          <p:cNvPr id="33" name="TextBox 32"/>
          <p:cNvSpPr txBox="1"/>
          <p:nvPr/>
        </p:nvSpPr>
        <p:spPr>
          <a:xfrm>
            <a:off x="1154383" y="1608618"/>
            <a:ext cx="7772400" cy="566928"/>
          </a:xfrm>
          <a:prstGeom prst="rect">
            <a:avLst/>
          </a:prstGeom>
          <a:noFill/>
        </p:spPr>
        <p:txBody>
          <a:bodyPr wrap="square" lIns="0" tIns="0" rIns="0" bIns="0" anchor="ctr">
            <a:noAutofit/>
          </a:bodyPr>
          <a:lstStyle/>
          <a:p>
            <a:pPr algn="l"/>
            <a:r>
              <a:rPr lang="en-US" altLang="en-US" sz="2000" b="1" i="0" dirty="0">
                <a:solidFill>
                  <a:srgbClr val="1A1A1A"/>
                </a:solidFill>
                <a:latin typeface="Arial"/>
                <a:ea typeface="Arial"/>
                <a:cs typeface="Arial"/>
              </a:rPr>
              <a:t>Proposed Method</a:t>
            </a:r>
          </a:p>
        </p:txBody>
      </p:sp>
      <p:sp>
        <p:nvSpPr>
          <p:cNvPr id="35" name="TextBox 34"/>
          <p:cNvSpPr txBox="1"/>
          <p:nvPr/>
        </p:nvSpPr>
        <p:spPr>
          <a:xfrm>
            <a:off x="676656" y="2267712"/>
            <a:ext cx="685800" cy="566928"/>
          </a:xfrm>
          <a:prstGeom prst="rect">
            <a:avLst/>
          </a:prstGeom>
          <a:noFill/>
        </p:spPr>
        <p:txBody>
          <a:bodyPr wrap="square" lIns="0" tIns="0" rIns="0" bIns="0" anchor="ctr">
            <a:noAutofit/>
          </a:bodyPr>
          <a:lstStyle/>
          <a:p>
            <a:pPr algn="l"/>
            <a:r>
              <a:rPr lang="en-US" altLang="en-US" sz="2000" b="1" i="0">
                <a:solidFill>
                  <a:srgbClr val="3375BE"/>
                </a:solidFill>
                <a:latin typeface="Arial"/>
                <a:ea typeface="Arial"/>
                <a:cs typeface="Arial"/>
              </a:rPr>
              <a:t>3</a:t>
            </a:r>
          </a:p>
        </p:txBody>
      </p:sp>
      <p:sp>
        <p:nvSpPr>
          <p:cNvPr id="36" name="TextBox 35"/>
          <p:cNvSpPr txBox="1"/>
          <p:nvPr/>
        </p:nvSpPr>
        <p:spPr>
          <a:xfrm>
            <a:off x="1154383" y="2267712"/>
            <a:ext cx="7772400" cy="566928"/>
          </a:xfrm>
          <a:prstGeom prst="rect">
            <a:avLst/>
          </a:prstGeom>
          <a:noFill/>
        </p:spPr>
        <p:txBody>
          <a:bodyPr wrap="square" lIns="0" tIns="0" rIns="0" bIns="0" anchor="ctr">
            <a:noAutofit/>
          </a:bodyPr>
          <a:lstStyle/>
          <a:p>
            <a:pPr algn="l"/>
            <a:r>
              <a:rPr lang="en-US" altLang="en-US" sz="2000" b="1" i="0">
                <a:solidFill>
                  <a:srgbClr val="1A1A1A"/>
                </a:solidFill>
                <a:latin typeface="Arial"/>
                <a:ea typeface="Arial"/>
                <a:cs typeface="Arial"/>
              </a:rPr>
              <a:t>Performance Evaluation</a:t>
            </a:r>
          </a:p>
        </p:txBody>
      </p:sp>
      <p:sp>
        <p:nvSpPr>
          <p:cNvPr id="38" name="TextBox 37"/>
          <p:cNvSpPr txBox="1"/>
          <p:nvPr/>
        </p:nvSpPr>
        <p:spPr>
          <a:xfrm>
            <a:off x="676656" y="2926806"/>
            <a:ext cx="685800" cy="566928"/>
          </a:xfrm>
          <a:prstGeom prst="rect">
            <a:avLst/>
          </a:prstGeom>
          <a:noFill/>
        </p:spPr>
        <p:txBody>
          <a:bodyPr wrap="square" lIns="0" tIns="0" rIns="0" bIns="0" anchor="ctr">
            <a:noAutofit/>
          </a:bodyPr>
          <a:lstStyle/>
          <a:p>
            <a:pPr algn="l"/>
            <a:r>
              <a:rPr lang="en-US" altLang="en-US" sz="2000" b="1" i="0">
                <a:solidFill>
                  <a:srgbClr val="3375BE"/>
                </a:solidFill>
                <a:latin typeface="Arial"/>
                <a:ea typeface="Arial"/>
                <a:cs typeface="Arial"/>
              </a:rPr>
              <a:t>4</a:t>
            </a:r>
          </a:p>
        </p:txBody>
      </p:sp>
      <p:sp>
        <p:nvSpPr>
          <p:cNvPr id="39" name="TextBox 38"/>
          <p:cNvSpPr txBox="1"/>
          <p:nvPr/>
        </p:nvSpPr>
        <p:spPr>
          <a:xfrm>
            <a:off x="1154383" y="2926806"/>
            <a:ext cx="7772400" cy="566928"/>
          </a:xfrm>
          <a:prstGeom prst="rect">
            <a:avLst/>
          </a:prstGeom>
          <a:noFill/>
        </p:spPr>
        <p:txBody>
          <a:bodyPr wrap="square" lIns="0" tIns="0" rIns="0" bIns="0" anchor="ctr">
            <a:noAutofit/>
          </a:bodyPr>
          <a:lstStyle/>
          <a:p>
            <a:pPr algn="l"/>
            <a:r>
              <a:rPr lang="en-US" altLang="en-US" sz="2000" b="1" i="0">
                <a:solidFill>
                  <a:srgbClr val="1A1A1A"/>
                </a:solidFill>
                <a:latin typeface="Arial"/>
                <a:ea typeface="Arial"/>
                <a:cs typeface="Arial"/>
              </a:rPr>
              <a:t>Experiment Result</a:t>
            </a:r>
          </a:p>
        </p:txBody>
      </p:sp>
      <p:sp>
        <p:nvSpPr>
          <p:cNvPr id="41" name="TextBox 40"/>
          <p:cNvSpPr txBox="1"/>
          <p:nvPr/>
        </p:nvSpPr>
        <p:spPr>
          <a:xfrm>
            <a:off x="676656" y="3585900"/>
            <a:ext cx="685800" cy="566928"/>
          </a:xfrm>
          <a:prstGeom prst="rect">
            <a:avLst/>
          </a:prstGeom>
          <a:noFill/>
        </p:spPr>
        <p:txBody>
          <a:bodyPr wrap="square" lIns="0" tIns="0" rIns="0" bIns="0" anchor="ctr">
            <a:noAutofit/>
          </a:bodyPr>
          <a:lstStyle/>
          <a:p>
            <a:pPr algn="l"/>
            <a:r>
              <a:rPr lang="en-US" altLang="en-US" sz="2000" b="1" i="0">
                <a:solidFill>
                  <a:srgbClr val="3375BE"/>
                </a:solidFill>
                <a:latin typeface="Arial"/>
                <a:ea typeface="Arial"/>
                <a:cs typeface="Arial"/>
              </a:rPr>
              <a:t>5</a:t>
            </a:r>
          </a:p>
        </p:txBody>
      </p:sp>
      <p:sp>
        <p:nvSpPr>
          <p:cNvPr id="42" name="TextBox 41"/>
          <p:cNvSpPr txBox="1"/>
          <p:nvPr/>
        </p:nvSpPr>
        <p:spPr>
          <a:xfrm>
            <a:off x="1154383" y="3585900"/>
            <a:ext cx="7772400" cy="566928"/>
          </a:xfrm>
          <a:prstGeom prst="rect">
            <a:avLst/>
          </a:prstGeom>
          <a:noFill/>
        </p:spPr>
        <p:txBody>
          <a:bodyPr wrap="square" lIns="0" tIns="0" rIns="0" bIns="0" anchor="ctr">
            <a:noAutofit/>
          </a:bodyPr>
          <a:lstStyle/>
          <a:p>
            <a:pPr algn="l"/>
            <a:r>
              <a:rPr lang="en-US" altLang="en-US" sz="2000" b="1" i="0">
                <a:solidFill>
                  <a:srgbClr val="1A1A1A"/>
                </a:solidFill>
                <a:latin typeface="Arial"/>
                <a:ea typeface="Arial"/>
                <a:cs typeface="Arial"/>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2</a:t>
            </a:r>
          </a:p>
        </p:txBody>
      </p:sp>
      <p:sp>
        <p:nvSpPr>
          <p:cNvPr id="28" name="TextBox 27"/>
          <p:cNvSpPr txBox="1"/>
          <p:nvPr/>
        </p:nvSpPr>
        <p:spPr>
          <a:xfrm>
            <a:off x="713232" y="22088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Introduction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The vector layer is the part that gets replaced after deployment</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RAG system combines an embedding model, a store, and a language model</a:t>
            </a:r>
          </a:p>
          <a:p>
            <a:pPr marL="256032" indent="-256032" algn="l">
              <a:lnSpc>
                <a:spcPct val="125000"/>
              </a:lnSpc>
              <a:spcBef>
                <a:spcPts val="900"/>
              </a:spcBef>
            </a:pPr>
            <a:r>
              <a:rPr lang="en-US" altLang="en-US" sz="1600" b="0" i="0">
                <a:solidFill>
                  <a:srgbClr val="1A1A1A"/>
                </a:solidFill>
                <a:latin typeface="Arial"/>
                <a:ea typeface="Arial"/>
                <a:cs typeface="Arial"/>
              </a:rPr>
              <a:t>·   A common migration moves it to a converged database that embeds internally</a:t>
            </a:r>
          </a:p>
        </p:txBody>
      </p:sp>
      <p:pic>
        <p:nvPicPr>
          <p:cNvPr id="31" name="Picture 30" descr="slide2-fig-intro-rag.png"/>
          <p:cNvPicPr>
            <a:picLocks noChangeAspect="1"/>
          </p:cNvPicPr>
          <p:nvPr/>
        </p:nvPicPr>
        <p:blipFill>
          <a:blip r:embed="rId2"/>
          <a:stretch>
            <a:fillRect/>
          </a:stretch>
        </p:blipFill>
        <p:spPr>
          <a:xfrm>
            <a:off x="792480" y="2896730"/>
            <a:ext cx="10607040" cy="237329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3</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Introduction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One migration changes two things at the same time</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The store and the embedding placement move together, not one at a time</a:t>
            </a:r>
          </a:p>
          <a:p>
            <a:pPr marL="256032" indent="-256032" algn="l">
              <a:lnSpc>
                <a:spcPct val="125000"/>
              </a:lnSpc>
              <a:spcBef>
                <a:spcPts val="900"/>
              </a:spcBef>
            </a:pPr>
            <a:r>
              <a:rPr lang="en-US" altLang="en-US" sz="1600" b="0" i="0">
                <a:solidFill>
                  <a:srgbClr val="1A1A1A"/>
                </a:solidFill>
                <a:latin typeface="Arial"/>
                <a:ea typeface="Arial"/>
                <a:cs typeface="Arial"/>
              </a:rPr>
              <a:t>·   A governance-driven migration pulls the model inside, and the model size limit follows</a:t>
            </a:r>
          </a:p>
          <a:p>
            <a:pPr marL="256032" indent="-256032" algn="l">
              <a:lnSpc>
                <a:spcPct val="125000"/>
              </a:lnSpc>
              <a:spcBef>
                <a:spcPts val="900"/>
              </a:spcBef>
            </a:pPr>
            <a:r>
              <a:rPr lang="en-US" altLang="en-US" sz="1600" b="0" i="0">
                <a:solidFill>
                  <a:srgbClr val="1A1A1A"/>
                </a:solidFill>
                <a:latin typeface="Arial"/>
                <a:ea typeface="Arial"/>
                <a:cs typeface="Arial"/>
              </a:rPr>
              <a:t>·   A single before-and-after comparison cannot attribute the change to either factor</a:t>
            </a:r>
          </a:p>
        </p:txBody>
      </p:sp>
      <p:pic>
        <p:nvPicPr>
          <p:cNvPr id="31" name="Picture 30" descr="slide2-fig-intro-problem.png"/>
          <p:cNvPicPr>
            <a:picLocks noChangeAspect="1"/>
          </p:cNvPicPr>
          <p:nvPr/>
        </p:nvPicPr>
        <p:blipFill>
          <a:blip r:embed="rId2"/>
          <a:stretch>
            <a:fillRect/>
          </a:stretch>
        </p:blipFill>
        <p:spPr>
          <a:xfrm>
            <a:off x="792480" y="3096103"/>
            <a:ext cx="10607040" cy="22620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4</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Introduction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dirty="0">
                <a:solidFill>
                  <a:srgbClr val="3375BE"/>
                </a:solidFill>
                <a:latin typeface="Arial"/>
                <a:ea typeface="Arial"/>
                <a:cs typeface="Arial"/>
              </a:rPr>
              <a:t>Misattributing the cause leads to the wrong remedy</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decline cannot be assigned to the store or to the model</a:t>
            </a:r>
          </a:p>
          <a:p>
            <a:pPr marL="256032" indent="-256032" algn="l">
              <a:lnSpc>
                <a:spcPct val="125000"/>
              </a:lnSpc>
              <a:spcBef>
                <a:spcPts val="900"/>
              </a:spcBef>
            </a:pPr>
            <a:r>
              <a:rPr lang="en-US" altLang="en-US" sz="1600" b="0" i="0">
                <a:solidFill>
                  <a:srgbClr val="1A1A1A"/>
                </a:solidFill>
                <a:latin typeface="Arial"/>
                <a:ea typeface="Arial"/>
                <a:cs typeface="Arial"/>
              </a:rPr>
              <a:t>·   No observed change may mean no effect, or two effects cancelling each other out</a:t>
            </a:r>
          </a:p>
        </p:txBody>
      </p:sp>
      <p:pic>
        <p:nvPicPr>
          <p:cNvPr id="31" name="Picture 30" descr="slide2-fig-intro-misdiagnosis.png"/>
          <p:cNvPicPr>
            <a:picLocks noChangeAspect="1"/>
          </p:cNvPicPr>
          <p:nvPr/>
        </p:nvPicPr>
        <p:blipFill>
          <a:blip r:embed="rId2"/>
          <a:stretch>
            <a:fillRect/>
          </a:stretch>
        </p:blipFill>
        <p:spPr>
          <a:xfrm>
            <a:off x="792480" y="2626489"/>
            <a:ext cx="10607040" cy="28416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5</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Proposed Method</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A bridge condition splits one comparison into two</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Load the target store with the vectors the source system has already produced</a:t>
            </a:r>
          </a:p>
          <a:p>
            <a:pPr marL="256032" indent="-256032" algn="l">
              <a:lnSpc>
                <a:spcPct val="125000"/>
              </a:lnSpc>
              <a:spcBef>
                <a:spcPts val="900"/>
              </a:spcBef>
            </a:pPr>
            <a:r>
              <a:rPr lang="en-US" altLang="en-US" sz="1600" b="0" i="0">
                <a:solidFill>
                  <a:srgbClr val="1A1A1A"/>
                </a:solidFill>
                <a:latin typeface="Arial"/>
                <a:ea typeface="Arial"/>
                <a:cs typeface="Arial"/>
              </a:rPr>
              <a:t>·   A to B differs only in the store, B to C only in the placement</a:t>
            </a:r>
          </a:p>
          <a:p>
            <a:pPr marL="256032" indent="-256032" algn="l">
              <a:lnSpc>
                <a:spcPct val="125000"/>
              </a:lnSpc>
              <a:spcBef>
                <a:spcPts val="900"/>
              </a:spcBef>
            </a:pPr>
            <a:r>
              <a:rPr lang="en-US" altLang="en-US" sz="1600" b="0" i="0">
                <a:solidFill>
                  <a:srgbClr val="1A1A1A"/>
                </a:solidFill>
                <a:latin typeface="Arial"/>
                <a:ea typeface="Arial"/>
                <a:cs typeface="Arial"/>
              </a:rPr>
              <a:t>·   No re-embedding is required, so the running service is left untouched</a:t>
            </a:r>
          </a:p>
        </p:txBody>
      </p:sp>
      <p:pic>
        <p:nvPicPr>
          <p:cNvPr id="31" name="Picture 30" descr="image.png"/>
          <p:cNvPicPr>
            <a:picLocks noChangeAspect="1"/>
          </p:cNvPicPr>
          <p:nvPr/>
        </p:nvPicPr>
        <p:blipFill>
          <a:blip r:embed="rId2"/>
          <a:stretch>
            <a:fillRect/>
          </a:stretch>
        </p:blipFill>
        <p:spPr>
          <a:xfrm>
            <a:off x="195353" y="3015228"/>
            <a:ext cx="11801293" cy="24528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6</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Proposed Method</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Network boundaries drop from two to one and the external model call disappears</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a:solidFill>
                  <a:srgbClr val="1A1A1A"/>
                </a:solidFill>
                <a:latin typeface="Arial"/>
                <a:ea typeface="Arial"/>
                <a:cs typeface="Arial"/>
              </a:rPr>
              <a:t>·   The baseline crosses two network boundaries to reach an external embedding service</a:t>
            </a:r>
          </a:p>
          <a:p>
            <a:pPr marL="256032" indent="-256032" algn="l">
              <a:lnSpc>
                <a:spcPct val="125000"/>
              </a:lnSpc>
              <a:spcBef>
                <a:spcPts val="900"/>
              </a:spcBef>
            </a:pPr>
            <a:r>
              <a:rPr lang="en-US" altLang="en-US" sz="1600" b="0">
                <a:solidFill>
                  <a:srgbClr val="1A1A1A"/>
                </a:solidFill>
                <a:latin typeface="Arial"/>
                <a:ea typeface="Arial"/>
                <a:cs typeface="Arial"/>
              </a:rPr>
              <a:t>·   After migration, embedding and search both run inside the database boundary</a:t>
            </a:r>
          </a:p>
          <a:p>
            <a:pPr marL="256032" indent="-256032" algn="l">
              <a:lnSpc>
                <a:spcPct val="125000"/>
              </a:lnSpc>
              <a:spcBef>
                <a:spcPts val="900"/>
              </a:spcBef>
            </a:pPr>
            <a:r>
              <a:rPr lang="en-US" altLang="en-US" sz="1600" b="0">
                <a:solidFill>
                  <a:srgbClr val="1A1A1A"/>
                </a:solidFill>
                <a:latin typeface="Arial"/>
                <a:ea typeface="Arial"/>
                <a:cs typeface="Arial"/>
              </a:rPr>
              <a:t>·   The retrieval rule and its parameters were held identical across the three conditions</a:t>
            </a:r>
          </a:p>
        </p:txBody>
      </p:sp>
      <p:pic>
        <p:nvPicPr>
          <p:cNvPr id="31" name="Picture 30" descr="_arch-nodot.png"/>
          <p:cNvPicPr>
            <a:picLocks noChangeAspect="1"/>
          </p:cNvPicPr>
          <p:nvPr/>
        </p:nvPicPr>
        <p:blipFill>
          <a:blip r:embed="rId2"/>
          <a:stretch>
            <a:fillRect/>
          </a:stretch>
        </p:blipFill>
        <p:spPr>
          <a:xfrm>
            <a:off x="1025998" y="2852928"/>
            <a:ext cx="10139698" cy="33467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7</a:t>
            </a:r>
          </a:p>
        </p:txBody>
      </p:sp>
      <p:sp>
        <p:nvSpPr>
          <p:cNvPr id="28" name="TextBox 27"/>
          <p:cNvSpPr txBox="1"/>
          <p:nvPr/>
        </p:nvSpPr>
        <p:spPr>
          <a:xfrm>
            <a:off x="713232" y="224942"/>
            <a:ext cx="10323576" cy="548640"/>
          </a:xfrm>
          <a:prstGeom prst="rect">
            <a:avLst/>
          </a:prstGeom>
          <a:noFill/>
        </p:spPr>
        <p:txBody>
          <a:bodyPr wrap="square" lIns="0" tIns="0" rIns="0" bIns="0" anchor="t">
            <a:noAutofit/>
          </a:bodyPr>
          <a:lstStyle/>
          <a:p>
            <a:r>
              <a:rPr lang="en-US" altLang="en-US" sz="2400" b="1">
                <a:solidFill>
                  <a:srgbClr val="1A1A1A"/>
                </a:solidFill>
                <a:latin typeface="Arial"/>
                <a:ea typeface="Arial"/>
                <a:cs typeface="Arial"/>
              </a:rPr>
              <a:t>Performance Evaluation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r>
              <a:rPr lang="en-US" altLang="en-US" sz="1700" b="1" dirty="0">
                <a:solidFill>
                  <a:srgbClr val="3375BE"/>
                </a:solidFill>
                <a:latin typeface="Arial"/>
                <a:ea typeface="Arial"/>
                <a:cs typeface="Arial"/>
              </a:rPr>
              <a:t>Testbed — DILAB, a product-review analysis service in production</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nSpc>
                <a:spcPct val="125000"/>
              </a:lnSpc>
            </a:pPr>
            <a:r>
              <a:rPr lang="en-US" altLang="en-US" sz="1600" b="0" dirty="0">
                <a:solidFill>
                  <a:srgbClr val="1A1A1A"/>
                </a:solidFill>
                <a:latin typeface="Arial"/>
                <a:ea typeface="Arial"/>
                <a:cs typeface="Arial"/>
              </a:rPr>
              <a:t>·   Consumer and expert reviews are embedded into a vector store and served as evidence-cited reports</a:t>
            </a:r>
          </a:p>
          <a:p>
            <a:pPr marL="256032" indent="-256032">
              <a:lnSpc>
                <a:spcPct val="125000"/>
              </a:lnSpc>
              <a:spcBef>
                <a:spcPts val="900"/>
              </a:spcBef>
            </a:pPr>
            <a:r>
              <a:rPr lang="en-US" altLang="en-US" sz="1600" b="0" dirty="0">
                <a:solidFill>
                  <a:srgbClr val="1A1A1A"/>
                </a:solidFill>
                <a:latin typeface="Arial"/>
                <a:ea typeface="Arial"/>
                <a:cs typeface="Arial"/>
              </a:rPr>
              <a:t>·   The 1,347-chunk corpus and 43 queries in our experiments come from this service</a:t>
            </a:r>
          </a:p>
        </p:txBody>
      </p:sp>
      <p:pic>
        <p:nvPicPr>
          <p:cNvPr id="31" name="Picture 30" descr="fig1-architecture.png"/>
          <p:cNvPicPr>
            <a:picLocks noChangeAspect="1"/>
          </p:cNvPicPr>
          <p:nvPr/>
        </p:nvPicPr>
        <p:blipFill>
          <a:blip r:embed="rId2"/>
          <a:stretch>
            <a:fillRect/>
          </a:stretch>
        </p:blipFill>
        <p:spPr>
          <a:xfrm>
            <a:off x="225811" y="2395728"/>
            <a:ext cx="6521639" cy="3670372"/>
          </a:xfrm>
          <a:prstGeom prst="rect">
            <a:avLst/>
          </a:prstGeom>
        </p:spPr>
      </p:pic>
      <p:pic>
        <p:nvPicPr>
          <p:cNvPr id="32" name="Picture 31" descr="fig2-product.png"/>
          <p:cNvPicPr>
            <a:picLocks noChangeAspect="1"/>
          </p:cNvPicPr>
          <p:nvPr/>
        </p:nvPicPr>
        <p:blipFill>
          <a:blip r:embed="rId3"/>
          <a:stretch>
            <a:fillRect/>
          </a:stretch>
        </p:blipFill>
        <p:spPr>
          <a:xfrm>
            <a:off x="7021770" y="2257770"/>
            <a:ext cx="4502459" cy="3808330"/>
          </a:xfrm>
          <a:prstGeom prst="rect">
            <a:avLst/>
          </a:prstGeom>
        </p:spPr>
      </p:pic>
      <p:sp>
        <p:nvSpPr>
          <p:cNvPr id="33" name="TextBox 32"/>
          <p:cNvSpPr txBox="1"/>
          <p:nvPr/>
        </p:nvSpPr>
        <p:spPr>
          <a:xfrm>
            <a:off x="400999" y="6139252"/>
            <a:ext cx="6034218" cy="256032"/>
          </a:xfrm>
          <a:prstGeom prst="rect">
            <a:avLst/>
          </a:prstGeom>
          <a:noFill/>
        </p:spPr>
        <p:txBody>
          <a:bodyPr wrap="square" lIns="0" tIns="0" rIns="0" bIns="0" anchor="t">
            <a:noAutofit/>
          </a:bodyPr>
          <a:lstStyle/>
          <a:p>
            <a:pPr algn="ctr"/>
            <a:r>
              <a:rPr lang="en-US" altLang="en-US" sz="1100" b="0">
                <a:solidFill>
                  <a:srgbClr val="6D6D6D"/>
                </a:solidFill>
                <a:latin typeface="Arial"/>
                <a:ea typeface="Arial"/>
                <a:cs typeface="Arial"/>
              </a:rPr>
              <a:t>System architecture &amp; analysis pipeline</a:t>
            </a:r>
          </a:p>
        </p:txBody>
      </p:sp>
      <p:sp>
        <p:nvSpPr>
          <p:cNvPr id="34" name="TextBox 33"/>
          <p:cNvSpPr txBox="1"/>
          <p:nvPr/>
        </p:nvSpPr>
        <p:spPr>
          <a:xfrm>
            <a:off x="7400910" y="6139252"/>
            <a:ext cx="4015037" cy="256032"/>
          </a:xfrm>
          <a:prstGeom prst="rect">
            <a:avLst/>
          </a:prstGeom>
          <a:noFill/>
        </p:spPr>
        <p:txBody>
          <a:bodyPr wrap="square" lIns="0" tIns="0" rIns="0" bIns="0" anchor="t">
            <a:noAutofit/>
          </a:bodyPr>
          <a:lstStyle/>
          <a:p>
            <a:pPr algn="ctr"/>
            <a:r>
              <a:rPr lang="en-US" altLang="en-US" sz="1100" b="0">
                <a:solidFill>
                  <a:srgbClr val="6D6D6D"/>
                </a:solidFill>
                <a:latin typeface="Arial"/>
                <a:ea typeface="Arial"/>
                <a:cs typeface="Arial"/>
              </a:rPr>
              <a:t>Product report dashboard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8</a:t>
            </a:r>
          </a:p>
        </p:txBody>
      </p:sp>
      <p:sp>
        <p:nvSpPr>
          <p:cNvPr id="28" name="TextBox 27"/>
          <p:cNvSpPr txBox="1"/>
          <p:nvPr/>
        </p:nvSpPr>
        <p:spPr>
          <a:xfrm>
            <a:off x="713232" y="225148"/>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Performance Evaluation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Three conditions measured over 1,347 chunks and 43 fixed queries</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Retrieval agreement, evidence relevance on a 0 to 2 scale, and search latency</a:t>
            </a:r>
          </a:p>
          <a:p>
            <a:pPr marL="256032" indent="-256032" algn="l">
              <a:lnSpc>
                <a:spcPct val="125000"/>
              </a:lnSpc>
              <a:spcBef>
                <a:spcPts val="900"/>
              </a:spcBef>
            </a:pPr>
            <a:r>
              <a:rPr lang="en-US" altLang="en-US" sz="1600" b="0" i="0">
                <a:solidFill>
                  <a:srgbClr val="1A1A1A"/>
                </a:solidFill>
                <a:latin typeface="Arial"/>
                <a:ea typeface="Arial"/>
                <a:cs typeface="Arial"/>
              </a:rPr>
              <a:t>·   Confidence intervals from 10,000 bootstrap resamples on an entry-level instance</a:t>
            </a:r>
          </a:p>
        </p:txBody>
      </p:sp>
      <p:pic>
        <p:nvPicPr>
          <p:cNvPr id="31" name="Picture 30" descr="slide2-fig-setup-matrix.png"/>
          <p:cNvPicPr>
            <a:picLocks noChangeAspect="1"/>
          </p:cNvPicPr>
          <p:nvPr/>
        </p:nvPicPr>
        <p:blipFill>
          <a:blip r:embed="rId2"/>
          <a:stretch>
            <a:fillRect/>
          </a:stretch>
        </p:blipFill>
        <p:spPr>
          <a:xfrm>
            <a:off x="702469" y="2578244"/>
            <a:ext cx="10787062" cy="26038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9</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Store factor — no quality change was detected</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An identical top-10 set was returned for 37 of the 43 queries</a:t>
            </a:r>
          </a:p>
          <a:p>
            <a:pPr marL="256032" indent="-256032" algn="l">
              <a:lnSpc>
                <a:spcPct val="125000"/>
              </a:lnSpc>
              <a:spcBef>
                <a:spcPts val="900"/>
              </a:spcBef>
            </a:pPr>
            <a:r>
              <a:rPr lang="en-US" altLang="en-US" sz="1600" b="0" i="0">
                <a:solidFill>
                  <a:srgbClr val="1A1A1A"/>
                </a:solidFill>
                <a:latin typeface="Arial"/>
                <a:ea typeface="Arial"/>
                <a:cs typeface="Arial"/>
              </a:rPr>
              <a:t>·   What the approximate index missed amounts to about 1.6 percent</a:t>
            </a:r>
          </a:p>
          <a:p>
            <a:pPr marL="256032" indent="-256032" algn="l">
              <a:lnSpc>
                <a:spcPct val="125000"/>
              </a:lnSpc>
              <a:spcBef>
                <a:spcPts val="900"/>
              </a:spcBef>
            </a:pPr>
            <a:r>
              <a:rPr lang="en-US" altLang="en-US" sz="1600" b="0" i="0">
                <a:solidFill>
                  <a:srgbClr val="1A1A1A"/>
                </a:solidFill>
                <a:latin typeface="Arial"/>
                <a:ea typeface="Arial"/>
                <a:cs typeface="Arial"/>
              </a:rPr>
              <a:t>·   A Wilcoxon test on the queries remaining after ties agrees (p = 0.908)</a:t>
            </a:r>
          </a:p>
        </p:txBody>
      </p:sp>
      <p:pic>
        <p:nvPicPr>
          <p:cNvPr id="31" name="Picture 30" descr="slide2-fig-result-store.png"/>
          <p:cNvPicPr>
            <a:picLocks noChangeAspect="1"/>
          </p:cNvPicPr>
          <p:nvPr/>
        </p:nvPicPr>
        <p:blipFill>
          <a:blip r:embed="rId2"/>
          <a:stretch>
            <a:fillRect/>
          </a:stretch>
        </p:blipFill>
        <p:spPr>
          <a:xfrm>
            <a:off x="792480" y="2927695"/>
            <a:ext cx="10607040" cy="19049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10</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How the two metrics are read</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a:solidFill>
                  <a:srgbClr val="1A1A1A"/>
                </a:solidFill>
                <a:latin typeface="Arial"/>
                <a:ea typeface="Arial"/>
                <a:cs typeface="Arial"/>
              </a:rPr>
              <a:t>·   Jaccard measures how much the two top-10 sets overlap, on a 0 to 1 scale</a:t>
            </a:r>
          </a:p>
          <a:p>
            <a:pPr marL="256032" indent="-256032" algn="l">
              <a:lnSpc>
                <a:spcPct val="125000"/>
              </a:lnSpc>
              <a:spcBef>
                <a:spcPts val="900"/>
              </a:spcBef>
            </a:pPr>
            <a:r>
              <a:rPr lang="en-US" altLang="en-US" sz="1600" b="0">
                <a:solidFill>
                  <a:srgbClr val="1A1A1A"/>
                </a:solidFill>
                <a:latin typeface="Arial"/>
                <a:ea typeface="Arial"/>
                <a:cs typeface="Arial"/>
              </a:rPr>
              <a:t>·   The p value is how well chance alone explains the observed difference</a:t>
            </a:r>
          </a:p>
          <a:p>
            <a:pPr marL="256032" indent="-256032" algn="l">
              <a:lnSpc>
                <a:spcPct val="125000"/>
              </a:lnSpc>
              <a:spcBef>
                <a:spcPts val="900"/>
              </a:spcBef>
            </a:pPr>
            <a:r>
              <a:rPr lang="en-US" altLang="en-US" sz="1600" b="0">
                <a:solidFill>
                  <a:srgbClr val="1A1A1A"/>
                </a:solidFill>
                <a:latin typeface="Arial"/>
                <a:ea typeface="Arial"/>
                <a:cs typeface="Arial"/>
              </a:rPr>
              <a:t>·   Here both conditions returned the same list and the difference sits mid-distribution</a:t>
            </a:r>
          </a:p>
        </p:txBody>
      </p:sp>
      <p:pic>
        <p:nvPicPr>
          <p:cNvPr id="31" name="Picture 30" descr="image.png"/>
          <p:cNvPicPr>
            <a:picLocks noChangeAspect="1"/>
          </p:cNvPicPr>
          <p:nvPr/>
        </p:nvPicPr>
        <p:blipFill>
          <a:blip r:embed="rId2"/>
          <a:stretch>
            <a:fillRect/>
          </a:stretch>
        </p:blipFill>
        <p:spPr>
          <a:xfrm>
            <a:off x="620081" y="3054576"/>
            <a:ext cx="10951532" cy="31450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11</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Placement factor — a significant, medium-sized effect</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The same store and the same search method returned mostly different evidence</a:t>
            </a:r>
          </a:p>
          <a:p>
            <a:pPr marL="256032" indent="-256032" algn="l">
              <a:lnSpc>
                <a:spcPct val="125000"/>
              </a:lnSpc>
              <a:spcBef>
                <a:spcPts val="900"/>
              </a:spcBef>
            </a:pPr>
            <a:r>
              <a:rPr lang="en-US" altLang="en-US" sz="1600" b="0" i="0">
                <a:solidFill>
                  <a:srgbClr val="1A1A1A"/>
                </a:solidFill>
                <a:latin typeface="Arial"/>
                <a:ea typeface="Arial"/>
                <a:cs typeface="Arial"/>
              </a:rPr>
              <a:t>·   Since no store effect was detected, the change is attributable to the placement factor</a:t>
            </a:r>
          </a:p>
          <a:p>
            <a:pPr marL="256032" indent="-256032" algn="l">
              <a:lnSpc>
                <a:spcPct val="125000"/>
              </a:lnSpc>
              <a:spcBef>
                <a:spcPts val="900"/>
              </a:spcBef>
            </a:pPr>
            <a:r>
              <a:rPr lang="en-US" altLang="en-US" sz="1600" b="0" i="0">
                <a:solidFill>
                  <a:srgbClr val="1A1A1A"/>
                </a:solidFill>
                <a:latin typeface="Arial"/>
                <a:ea typeface="Arial"/>
                <a:cs typeface="Arial"/>
              </a:rPr>
              <a:t>·   An end-to-end comparison alone would have blamed the store instead</a:t>
            </a:r>
          </a:p>
        </p:txBody>
      </p:sp>
      <p:pic>
        <p:nvPicPr>
          <p:cNvPr id="31" name="Picture 30" descr="slide2-fig-result-placement.png"/>
          <p:cNvPicPr>
            <a:picLocks noChangeAspect="1"/>
          </p:cNvPicPr>
          <p:nvPr/>
        </p:nvPicPr>
        <p:blipFill>
          <a:blip r:embed="rId2"/>
          <a:stretch>
            <a:fillRect/>
          </a:stretch>
        </p:blipFill>
        <p:spPr>
          <a:xfrm>
            <a:off x="792480" y="3004084"/>
            <a:ext cx="10607040" cy="1904963"/>
          </a:xfrm>
          <a:prstGeom prst="rect">
            <a:avLst/>
          </a:prstGeom>
        </p:spPr>
      </p:pic>
      <p:sp>
        <p:nvSpPr>
          <p:cNvPr id="3" name="TextBox 2">
            <a:extLst>
              <a:ext uri="{FF2B5EF4-FFF2-40B4-BE49-F238E27FC236}">
                <a16:creationId xmlns:a16="http://schemas.microsoft.com/office/drawing/2014/main" id="{F9524619-6348-A811-5AE3-E78292BAC5E2}"/>
              </a:ext>
            </a:extLst>
          </p:cNvPr>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12</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The same two metrics applied to the placement factor</a:t>
            </a:r>
          </a:p>
        </p:txBody>
      </p:sp>
      <p:sp>
        <p:nvSpPr>
          <p:cNvPr id="3" name="TextBox 2">
            <a:extLst>
              <a:ext uri="{FF2B5EF4-FFF2-40B4-BE49-F238E27FC236}">
                <a16:creationId xmlns:a16="http://schemas.microsoft.com/office/drawing/2014/main" id="{554CB5AE-D9F6-4DFD-D240-D6E14936C345}"/>
              </a:ext>
            </a:extLst>
          </p:cNvPr>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a:solidFill>
                  <a:srgbClr val="1A1A1A"/>
                </a:solidFill>
                <a:latin typeface="Arial"/>
                <a:ea typeface="Arial"/>
                <a:cs typeface="Arial"/>
              </a:rPr>
              <a:t>·   Jaccard falls from 0.971 to 0.175 and the p value from 0.523 to 0.003</a:t>
            </a:r>
          </a:p>
          <a:p>
            <a:pPr marL="256032" indent="-256032" algn="l">
              <a:lnSpc>
                <a:spcPct val="125000"/>
              </a:lnSpc>
              <a:spcBef>
                <a:spcPts val="900"/>
              </a:spcBef>
            </a:pPr>
            <a:r>
              <a:rPr lang="en-US" altLang="en-US" sz="1600" b="0">
                <a:solidFill>
                  <a:srgbClr val="1A1A1A"/>
                </a:solidFill>
                <a:latin typeface="Arial"/>
                <a:ea typeface="Arial"/>
                <a:cs typeface="Arial"/>
              </a:rPr>
              <a:t>·   Only 3 items are shared between the two top-10 lists</a:t>
            </a:r>
          </a:p>
          <a:p>
            <a:pPr marL="256032" indent="-256032" algn="l">
              <a:lnSpc>
                <a:spcPct val="125000"/>
              </a:lnSpc>
              <a:spcBef>
                <a:spcPts val="900"/>
              </a:spcBef>
            </a:pPr>
            <a:r>
              <a:rPr lang="en-US" altLang="en-US" sz="1600" b="0">
                <a:solidFill>
                  <a:srgbClr val="1A1A1A"/>
                </a:solidFill>
                <a:latin typeface="Arial"/>
                <a:ea typeface="Arial"/>
                <a:cs typeface="Arial"/>
              </a:rPr>
              <a:t>·   The observed difference now sits far out in the tail of the chance distribution</a:t>
            </a:r>
          </a:p>
        </p:txBody>
      </p:sp>
      <p:pic>
        <p:nvPicPr>
          <p:cNvPr id="31" name="Picture 30" descr="image.png"/>
          <p:cNvPicPr>
            <a:picLocks noChangeAspect="1"/>
          </p:cNvPicPr>
          <p:nvPr/>
        </p:nvPicPr>
        <p:blipFill>
          <a:blip r:embed="rId2"/>
          <a:stretch>
            <a:fillRect/>
          </a:stretch>
        </p:blipFill>
        <p:spPr>
          <a:xfrm>
            <a:off x="528060" y="3001723"/>
            <a:ext cx="11135574" cy="319790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13</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Claiming no difference requires an equivalence test of its own</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non-significant p value is not evidence of equivalence</a:t>
            </a:r>
          </a:p>
          <a:p>
            <a:pPr marL="256032" indent="-256032" algn="l">
              <a:lnSpc>
                <a:spcPct val="125000"/>
              </a:lnSpc>
              <a:spcBef>
                <a:spcPts val="900"/>
              </a:spcBef>
            </a:pPr>
            <a:r>
              <a:rPr lang="en-US" altLang="en-US" sz="1600" b="0" i="0">
                <a:solidFill>
                  <a:srgbClr val="1A1A1A"/>
                </a:solidFill>
                <a:latin typeface="Arial"/>
                <a:ea typeface="Arial"/>
                <a:cs typeface="Arial"/>
              </a:rPr>
              <a:t>·   TOST over a plus or minus 0.15 range gave p = 0.052, so the level was not met</a:t>
            </a:r>
          </a:p>
          <a:p>
            <a:pPr marL="256032" indent="-256032" algn="l">
              <a:lnSpc>
                <a:spcPct val="125000"/>
              </a:lnSpc>
              <a:spcBef>
                <a:spcPts val="900"/>
              </a:spcBef>
            </a:pPr>
            <a:r>
              <a:rPr lang="en-US" altLang="en-US" sz="1600" b="0" i="0">
                <a:solidFill>
                  <a:srgbClr val="1A1A1A"/>
                </a:solidFill>
                <a:latin typeface="Arial"/>
                <a:ea typeface="Arial"/>
                <a:cs typeface="Arial"/>
              </a:rPr>
              <a:t>·   We report no effect detected with a bounded magnitude, not equivalence established</a:t>
            </a:r>
          </a:p>
        </p:txBody>
      </p:sp>
      <p:pic>
        <p:nvPicPr>
          <p:cNvPr id="31" name="Picture 30" descr="_equivalence.png"/>
          <p:cNvPicPr>
            <a:picLocks noChangeAspect="1"/>
          </p:cNvPicPr>
          <p:nvPr/>
        </p:nvPicPr>
        <p:blipFill>
          <a:blip r:embed="rId2"/>
          <a:stretch>
            <a:fillRect/>
          </a:stretch>
        </p:blipFill>
        <p:spPr>
          <a:xfrm>
            <a:off x="792327" y="2573293"/>
            <a:ext cx="10607040" cy="3626338"/>
          </a:xfrm>
          <a:prstGeom prst="rect">
            <a:avLst/>
          </a:prstGeom>
        </p:spPr>
      </p:pic>
      <p:sp>
        <p:nvSpPr>
          <p:cNvPr id="3" name="TextBox 2">
            <a:extLst>
              <a:ext uri="{FF2B5EF4-FFF2-40B4-BE49-F238E27FC236}">
                <a16:creationId xmlns:a16="http://schemas.microsoft.com/office/drawing/2014/main" id="{841E306E-7C77-2124-28C9-52549C60D1A0}"/>
              </a:ext>
            </a:extLst>
          </p:cNvPr>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14</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Conclusion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Moving the placement is a trade in governance rather than in performance</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nSpc>
                <a:spcPct val="125000"/>
              </a:lnSpc>
            </a:pPr>
            <a:r>
              <a:rPr lang="en-US" altLang="en-US" sz="1600" b="0">
                <a:solidFill>
                  <a:srgbClr val="1A1A1A"/>
                </a:solidFill>
                <a:latin typeface="Arial"/>
                <a:ea typeface="Arial"/>
                <a:cs typeface="Arial"/>
              </a:rPr>
              <a:t>·   A single bridge condition splits an end-to-end comparison into two single-factor comparisons</a:t>
            </a:r>
          </a:p>
          <a:p>
            <a:pPr marL="256032" indent="-256032">
              <a:lnSpc>
                <a:spcPct val="125000"/>
              </a:lnSpc>
              <a:spcBef>
                <a:spcPts val="900"/>
              </a:spcBef>
            </a:pPr>
            <a:r>
              <a:rPr lang="en-US" altLang="en-US" sz="1600" b="0">
                <a:solidFill>
                  <a:srgbClr val="1A1A1A"/>
                </a:solidFill>
                <a:latin typeface="Arial"/>
                <a:ea typeface="Arial"/>
                <a:cs typeface="Arial"/>
              </a:rPr>
              <a:t>·   No store effect was detected; the entire observed change came from the placement</a:t>
            </a:r>
          </a:p>
        </p:txBody>
      </p:sp>
      <p:sp>
        <p:nvSpPr>
          <p:cNvPr id="31" name="TextBox 30"/>
          <p:cNvSpPr txBox="1"/>
          <p:nvPr/>
        </p:nvSpPr>
        <p:spPr>
          <a:xfrm>
            <a:off x="713232" y="2596896"/>
            <a:ext cx="10323576" cy="365760"/>
          </a:xfrm>
          <a:prstGeom prst="rect">
            <a:avLst/>
          </a:prstGeom>
          <a:noFill/>
        </p:spPr>
        <p:txBody>
          <a:bodyPr wrap="square" lIns="0" tIns="0" rIns="0" bIns="0" anchor="t">
            <a:noAutofit/>
          </a:bodyPr>
          <a:lstStyle/>
          <a:p>
            <a:r>
              <a:rPr lang="en-US" altLang="en-US" sz="1700" b="1">
                <a:solidFill>
                  <a:srgbClr val="3375BE"/>
                </a:solidFill>
                <a:latin typeface="Arial"/>
                <a:ea typeface="Arial"/>
                <a:cs typeface="Arial"/>
              </a:rPr>
              <a:t>A practical decision rule</a:t>
            </a:r>
          </a:p>
        </p:txBody>
      </p:sp>
      <p:sp>
        <p:nvSpPr>
          <p:cNvPr id="32" name="TextBox 31"/>
          <p:cNvSpPr txBox="1"/>
          <p:nvPr/>
        </p:nvSpPr>
        <p:spPr>
          <a:xfrm>
            <a:off x="713232" y="3054096"/>
            <a:ext cx="10323576" cy="1005840"/>
          </a:xfrm>
          <a:prstGeom prst="rect">
            <a:avLst/>
          </a:prstGeom>
          <a:noFill/>
        </p:spPr>
        <p:txBody>
          <a:bodyPr wrap="square" lIns="0" tIns="0" rIns="0" bIns="0" anchor="t">
            <a:noAutofit/>
          </a:bodyPr>
          <a:lstStyle/>
          <a:p>
            <a:pPr marL="256032" indent="-256032">
              <a:lnSpc>
                <a:spcPct val="125000"/>
              </a:lnSpc>
            </a:pPr>
            <a:r>
              <a:rPr lang="en-US" altLang="en-US" sz="1600" b="0" dirty="0">
                <a:solidFill>
                  <a:srgbClr val="1A1A1A"/>
                </a:solidFill>
                <a:latin typeface="Arial"/>
                <a:ea typeface="Arial"/>
                <a:cs typeface="Arial"/>
              </a:rPr>
              <a:t>·   If governance of the stored data is the only goal, replacing the store alone is enough</a:t>
            </a:r>
          </a:p>
          <a:p>
            <a:pPr marL="256032" indent="-256032">
              <a:lnSpc>
                <a:spcPct val="125000"/>
              </a:lnSpc>
              <a:spcBef>
                <a:spcPts val="900"/>
              </a:spcBef>
            </a:pPr>
            <a:r>
              <a:rPr lang="en-US" altLang="en-US" sz="1600" b="0" dirty="0">
                <a:solidFill>
                  <a:srgbClr val="1A1A1A"/>
                </a:solidFill>
                <a:latin typeface="Arial"/>
                <a:ea typeface="Arial"/>
                <a:cs typeface="Arial"/>
              </a:rPr>
              <a:t>·   If the query path must stay inside, confirm the model size limit before migrating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15</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r>
              <a:rPr lang="en-US" altLang="en-US" sz="2400" b="1" dirty="0">
                <a:solidFill>
                  <a:srgbClr val="1A1A1A"/>
                </a:solidFill>
                <a:latin typeface="Arial"/>
                <a:ea typeface="Arial"/>
                <a:cs typeface="Arial"/>
              </a:rPr>
              <a:t>References</a:t>
            </a:r>
          </a:p>
        </p:txBody>
      </p:sp>
      <p:sp>
        <p:nvSpPr>
          <p:cNvPr id="29" name="TextBox 28"/>
          <p:cNvSpPr txBox="1"/>
          <p:nvPr/>
        </p:nvSpPr>
        <p:spPr>
          <a:xfrm>
            <a:off x="713232" y="1051560"/>
            <a:ext cx="10323576" cy="5148072"/>
          </a:xfrm>
          <a:prstGeom prst="rect">
            <a:avLst/>
          </a:prstGeom>
          <a:noFill/>
        </p:spPr>
        <p:txBody>
          <a:bodyPr wrap="square" lIns="0" tIns="0" rIns="0" bIns="0" anchor="t">
            <a:noAutofit/>
          </a:bodyPr>
          <a:lstStyle/>
          <a:p>
            <a:pPr marL="384048" indent="-384048">
              <a:lnSpc>
                <a:spcPct val="118000"/>
              </a:lnSpc>
            </a:pPr>
            <a:r>
              <a:rPr lang="en-US" altLang="en-US" sz="1400" b="0">
                <a:solidFill>
                  <a:srgbClr val="1A1A1A"/>
                </a:solidFill>
                <a:latin typeface="Arial"/>
                <a:ea typeface="Arial"/>
                <a:cs typeface="Arial"/>
              </a:rPr>
              <a:t>[1] P. Lewis et al., “Retrieval-augmented generation for knowledge-intensive NLP tasks,” Advances in Neural Information Processing Systems, vol. 33, pp. 9459–9474, 2020.</a:t>
            </a:r>
          </a:p>
          <a:p>
            <a:pPr marL="384048" indent="-384048">
              <a:lnSpc>
                <a:spcPct val="118000"/>
              </a:lnSpc>
              <a:spcBef>
                <a:spcPts val="900"/>
              </a:spcBef>
            </a:pPr>
            <a:r>
              <a:rPr lang="en-US" altLang="en-US" sz="1400" b="0">
                <a:solidFill>
                  <a:srgbClr val="1A1A1A"/>
                </a:solidFill>
                <a:latin typeface="Arial"/>
                <a:ea typeface="Arial"/>
                <a:cs typeface="Arial"/>
              </a:rPr>
              <a:t>[2] Y. Gao et al., “Retrieval-augmented generation for large language models: A survey,” arXiv preprint arXiv:2312.10997, 2023.</a:t>
            </a:r>
          </a:p>
          <a:p>
            <a:pPr marL="384048" indent="-384048">
              <a:lnSpc>
                <a:spcPct val="118000"/>
              </a:lnSpc>
              <a:spcBef>
                <a:spcPts val="900"/>
              </a:spcBef>
            </a:pPr>
            <a:r>
              <a:rPr lang="en-US" altLang="en-US" sz="1400" b="0">
                <a:solidFill>
                  <a:srgbClr val="1A1A1A"/>
                </a:solidFill>
                <a:latin typeface="Arial"/>
                <a:ea typeface="Arial"/>
                <a:cs typeface="Arial"/>
              </a:rPr>
              <a:t>[3] Oracle, “Oracle AI Vector Search User’s Guide,” Oracle AI Database 26ai documentation, 2026.</a:t>
            </a:r>
          </a:p>
          <a:p>
            <a:pPr marL="384048" indent="-384048">
              <a:lnSpc>
                <a:spcPct val="118000"/>
              </a:lnSpc>
              <a:spcBef>
                <a:spcPts val="900"/>
              </a:spcBef>
            </a:pPr>
            <a:r>
              <a:rPr lang="en-US" altLang="en-US" sz="1400" b="0">
                <a:solidFill>
                  <a:srgbClr val="1A1A1A"/>
                </a:solidFill>
                <a:latin typeface="Arial"/>
                <a:ea typeface="Arial"/>
                <a:cs typeface="Arial"/>
              </a:rPr>
              <a:t>[4] L. Wang, N. Yang, X. Huang, L. Yang, R. Majumder, and F. Wei, “Multilingual E5 text embeddings: A technical report,” arXiv preprint arXiv:2402.05672, 2024.</a:t>
            </a:r>
          </a:p>
          <a:p>
            <a:pPr marL="384048" indent="-384048">
              <a:lnSpc>
                <a:spcPct val="118000"/>
              </a:lnSpc>
              <a:spcBef>
                <a:spcPts val="900"/>
              </a:spcBef>
            </a:pPr>
            <a:r>
              <a:rPr lang="en-US" altLang="en-US" sz="1400" b="0">
                <a:solidFill>
                  <a:srgbClr val="1A1A1A"/>
                </a:solidFill>
                <a:latin typeface="Arial"/>
                <a:ea typeface="Arial"/>
                <a:cs typeface="Arial"/>
              </a:rPr>
              <a:t>[5] pgvector, “pgvector: Open-source vector similarity search for Postgres,” GitHub repository, 2026.</a:t>
            </a:r>
          </a:p>
          <a:p>
            <a:pPr marL="384048" indent="-384048">
              <a:lnSpc>
                <a:spcPct val="118000"/>
              </a:lnSpc>
              <a:spcBef>
                <a:spcPts val="900"/>
              </a:spcBef>
            </a:pPr>
            <a:r>
              <a:rPr lang="en-US" altLang="en-US" sz="1400" b="0">
                <a:solidFill>
                  <a:srgbClr val="1A1A1A"/>
                </a:solidFill>
                <a:latin typeface="Arial"/>
                <a:ea typeface="Arial"/>
                <a:cs typeface="Arial"/>
              </a:rPr>
              <a:t>[6] J. Chen, S. Xiao, P. Zhang, K. Luo, D. Lian, and Z. Liu, “M3-Embedding: Multi-linguality, multi-functionality, multi-granularity text embeddings through self-knowledge distillation,” Findings of the Association for Computational Linguistics: ACL 2024, pp. 2318–2335, 2024.</a:t>
            </a:r>
          </a:p>
          <a:p>
            <a:pPr marL="384048" indent="-384048">
              <a:lnSpc>
                <a:spcPct val="118000"/>
              </a:lnSpc>
              <a:spcBef>
                <a:spcPts val="900"/>
              </a:spcBef>
            </a:pPr>
            <a:r>
              <a:rPr lang="en-US" altLang="en-US" sz="1400" b="0">
                <a:solidFill>
                  <a:srgbClr val="1A1A1A"/>
                </a:solidFill>
                <a:latin typeface="Arial"/>
                <a:ea typeface="Arial"/>
                <a:cs typeface="Arial"/>
              </a:rPr>
              <a:t>[7] Y. A. Malkov and D. A. Yashunin, “Efficient and robust approximate nearest neighbor search using hierarchical navigable small world graphs,” IEEE Transactions on Pattern Analysis and Machine Intelligence, vol. 42, no. 4, pp. 824–836, 2020.</a:t>
            </a:r>
          </a:p>
          <a:p>
            <a:pPr marL="384048" indent="-384048">
              <a:lnSpc>
                <a:spcPct val="118000"/>
              </a:lnSpc>
              <a:spcBef>
                <a:spcPts val="900"/>
              </a:spcBef>
            </a:pPr>
            <a:r>
              <a:rPr lang="en-US" altLang="en-US" sz="1400" b="0">
                <a:solidFill>
                  <a:srgbClr val="1A1A1A"/>
                </a:solidFill>
                <a:latin typeface="Arial"/>
                <a:ea typeface="Arial"/>
                <a:cs typeface="Arial"/>
              </a:rPr>
              <a:t>[8] L. Zheng et al., “Judging LLM-as-a-judge with MT-Bench and Chatbot Arena,” Advances in Neural Information Processing Systems, vol. 36, Datasets and Benchmarks Track, 2023.</a:t>
            </a:r>
          </a:p>
          <a:p>
            <a:pPr marL="384048" indent="-384048">
              <a:lnSpc>
                <a:spcPct val="118000"/>
              </a:lnSpc>
              <a:spcBef>
                <a:spcPts val="900"/>
              </a:spcBef>
            </a:pPr>
            <a:r>
              <a:rPr lang="en-US" altLang="en-US" sz="1400" b="0">
                <a:solidFill>
                  <a:srgbClr val="1A1A1A"/>
                </a:solidFill>
                <a:latin typeface="Arial"/>
                <a:ea typeface="Arial"/>
                <a:cs typeface="Arial"/>
              </a:rPr>
              <a:t>[9] D. Lakens, “Equivalence tests: A practical primer for t tests, correlations, and meta-analyses,” Social Psychological and Personality Science, vol. 8, no. 4, pp. 355–362, 2017.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A119-C188-F9F6-057A-A01843152677}"/>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82A312D2-83DF-C026-4DCB-53BE682C96F4}"/>
              </a:ext>
            </a:extLst>
          </p:cNvPr>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6" name="직사각형 25">
            <a:extLst>
              <a:ext uri="{FF2B5EF4-FFF2-40B4-BE49-F238E27FC236}">
                <a16:creationId xmlns:a16="http://schemas.microsoft.com/office/drawing/2014/main" id="{44FC25EB-05B2-E061-0FF8-6A0D881E3CD3}"/>
              </a:ext>
            </a:extLst>
          </p:cNvPr>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a:extLst>
              <a:ext uri="{FF2B5EF4-FFF2-40B4-BE49-F238E27FC236}">
                <a16:creationId xmlns:a16="http://schemas.microsoft.com/office/drawing/2014/main" id="{24EECDF4-BCBE-F0BD-28A9-811191DA0005}"/>
              </a:ext>
            </a:extLst>
          </p:cNvPr>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16</a:t>
            </a:r>
          </a:p>
        </p:txBody>
      </p:sp>
      <p:sp>
        <p:nvSpPr>
          <p:cNvPr id="28" name="TextBox 27"/>
          <p:cNvSpPr txBox="1"/>
          <p:nvPr/>
        </p:nvSpPr>
        <p:spPr>
          <a:xfrm>
            <a:off x="676656" y="2651760"/>
            <a:ext cx="10835640" cy="1463040"/>
          </a:xfrm>
          <a:prstGeom prst="rect">
            <a:avLst/>
          </a:prstGeom>
          <a:noFill/>
        </p:spPr>
        <p:txBody>
          <a:bodyPr wrap="square" lIns="0" tIns="0" rIns="0" bIns="0" anchor="ctr">
            <a:noAutofit/>
          </a:bodyPr>
          <a:lstStyle/>
          <a:p>
            <a:pPr algn="ctr"/>
            <a:r>
              <a:rPr lang="en-US" altLang="en-US" sz="5400" b="1" i="0" dirty="0">
                <a:solidFill>
                  <a:srgbClr val="1A1A1A"/>
                </a:solidFill>
                <a:latin typeface="Arial"/>
                <a:ea typeface="Arial"/>
                <a:cs typeface="Arial"/>
              </a:rPr>
              <a:t>Thank You</a:t>
            </a:r>
          </a:p>
          <a:p>
            <a:pPr algn="ctr"/>
            <a:endParaRPr lang="en-US" altLang="en-US" sz="5400" b="1" dirty="0">
              <a:solidFill>
                <a:srgbClr val="1A1A1A"/>
              </a:solidFill>
              <a:latin typeface="Arial"/>
              <a:ea typeface="Arial"/>
              <a:cs typeface="Arial"/>
            </a:endParaRPr>
          </a:p>
          <a:p>
            <a:pPr algn="ctr"/>
            <a:r>
              <a:rPr lang="en-US" altLang="en-US" sz="2000" b="1" dirty="0">
                <a:solidFill>
                  <a:srgbClr val="1A1A1A"/>
                </a:solidFill>
                <a:latin typeface="Arial"/>
                <a:ea typeface="Arial"/>
                <a:cs typeface="Arial"/>
              </a:rPr>
              <a:t>Contact to me: wnsgk111400@sungkyul.ac.kr</a:t>
            </a:r>
            <a:endParaRPr lang="en-US" altLang="en-US" sz="2000" b="1" i="0" dirty="0">
              <a:solidFill>
                <a:srgbClr val="1A1A1A"/>
              </a:solidFill>
              <a:latin typeface="Arial"/>
              <a:ea typeface="Arial"/>
              <a:cs typeface="Arial"/>
            </a:endParaRPr>
          </a:p>
        </p:txBody>
      </p:sp>
    </p:spTree>
    <p:extLst>
      <p:ext uri="{BB962C8B-B14F-4D97-AF65-F5344CB8AC3E}">
        <p14:creationId xmlns:p14="http://schemas.microsoft.com/office/powerpoint/2010/main" val="2479411629"/>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Times New Roman"/>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Times New Roman"/>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922</TotalTime>
  <Words>1103</Words>
  <Application>Microsoft Macintosh PowerPoint</Application>
  <PresentationFormat>와이드스크린</PresentationFormat>
  <Paragraphs>114</Paragraphs>
  <Slides>17</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17</vt:i4>
      </vt:variant>
    </vt:vector>
  </HeadingPairs>
  <TitlesOfParts>
    <vt:vector size="21" baseType="lpstr">
      <vt:lpstr>맑은 고딕</vt:lpstr>
      <vt:lpstr>Arial</vt:lpstr>
      <vt:lpstr>Calibri</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yonghoon</dc:creator>
  <cp:lastModifiedBy>윤준하</cp:lastModifiedBy>
  <cp:revision>1303</cp:revision>
  <dcterms:created xsi:type="dcterms:W3CDTF">2024-02-27T09:44:09Z</dcterms:created>
  <dcterms:modified xsi:type="dcterms:W3CDTF">2026-08-14T06:56:18Z</dcterms:modified>
  <cp:version/>
</cp:coreProperties>
</file>