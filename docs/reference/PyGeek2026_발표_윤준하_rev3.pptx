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67" r:id="rId15"/>
    <p:sldId id="268" r:id="rId16"/>
    <p:sldId id="272" r:id="rId17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523" autoAdjust="0"/>
  </p:normalViewPr>
  <p:slideViewPr>
    <p:cSldViewPr snapToGrid="0">
      <p:cViewPr varScale="1">
        <p:scale>
          <a:sx n="138" d="100"/>
          <a:sy n="138" d="100"/>
        </p:scale>
        <p:origin x="208" y="32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255264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389888"/>
            <a:ext cx="10543032" cy="1783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 Factor Decomposition Method for Separating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Store Substitution and Embedding Placement Effects</a:t>
            </a:r>
          </a:p>
          <a:p>
            <a:pPr algn="ctr">
              <a:lnSpc>
                <a:spcPct val="122000"/>
              </a:lnSpc>
            </a:pPr>
            <a:r>
              <a:rPr lang="en-US" altLang="en-US" sz="27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639312"/>
            <a:ext cx="9994392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en-US" sz="15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2026 International Conference on PyGeek</a:t>
            </a:r>
          </a:p>
          <a:p>
            <a:pPr algn="ctr">
              <a:spcBef>
                <a:spcPts val="400"/>
              </a:spcBef>
            </a:pPr>
            <a:r>
              <a:rPr lang="en-US" altLang="en-US" sz="1400" b="0" i="0">
                <a:solidFill>
                  <a:srgbClr val="6D6D6D"/>
                </a:solidFill>
                <a:latin typeface="Arial"/>
                <a:ea typeface="Arial"/>
                <a:cs typeface="Arial"/>
              </a:rPr>
              <a:t>August 20, 2026   ·   Hongik University, Seoul</a:t>
            </a:r>
          </a:p>
          <a:p>
            <a:pPr algn="ctr">
              <a:spcBef>
                <a:spcPts val="2600"/>
              </a:spcBef>
            </a:pPr>
            <a:r>
              <a:rPr lang="en-US" altLang="en-US" sz="1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Junha Yoon · Ohhyeon Gwon · Junhaeng Lee · Hyeji Roh · Soowan Cho · Suhee Kim · SangSoon Lim</a:t>
            </a:r>
          </a:p>
          <a:p>
            <a:pPr algn="ctr">
              <a:spcBef>
                <a:spcPts val="500"/>
              </a:spcBef>
            </a:pPr>
            <a:r>
              <a:rPr lang="en-US" altLang="en-US" sz="1200" b="0" i="0">
                <a:solidFill>
                  <a:srgbClr val="6D6D6D"/>
                </a:solidFill>
                <a:latin typeface="Arial"/>
                <a:ea typeface="Arial"/>
                <a:cs typeface="Arial"/>
              </a:rPr>
              <a:t>Sungkyul University · Chung-Ang University · Deep Insight Lab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1572768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3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1572768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2249424"/>
            <a:ext cx="859536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08760" y="2432304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3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2432304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108960"/>
            <a:ext cx="859536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08760" y="3291840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3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29184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3968496"/>
            <a:ext cx="859536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08760" y="4151376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3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151376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Experiment Result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4828032"/>
            <a:ext cx="859536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08760" y="5010912"/>
            <a:ext cx="685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30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2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1.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vector layer is the part that gets replaced after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RAG system combines an embedding model, a store, and a language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common migration moves it to a converged database that embeds internally</a:t>
            </a:r>
          </a:p>
        </p:txBody>
      </p:sp>
      <p:pic>
        <p:nvPicPr>
          <p:cNvPr id="31" name="Picture 30" descr="slide2-fig-intro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896730"/>
            <a:ext cx="10607040" cy="2373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1.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One migration changes two things at the same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store and the embedding placement move together, not one at a time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governance-driven migration pulls the model inside, and the model size limit follows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before-and-after comparison cannot attribute the change to either factor</a:t>
            </a:r>
          </a:p>
        </p:txBody>
      </p:sp>
      <p:pic>
        <p:nvPicPr>
          <p:cNvPr id="31" name="Picture 30" descr="slide2-fig-intro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466120"/>
            <a:ext cx="10607040" cy="2132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1.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Misattributing the cause leads to the wrong remedy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decline cannot be assigned to the store or to the model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observed change may mean no effect, or two effects cancelling each other out</a:t>
            </a:r>
          </a:p>
        </p:txBody>
      </p:sp>
      <p:pic>
        <p:nvPicPr>
          <p:cNvPr id="31" name="Picture 30" descr="slide2-fig-intro-mis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012576"/>
            <a:ext cx="10607040" cy="2841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2. 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A bridge condition splits one comparison into two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Load the target store with the vectors the source system has already produced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to B differs only in the store, B to C only in the placement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re-embedding is required, so the running service is left untouched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513938"/>
            <a:ext cx="10607040" cy="2204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2. Proposed Method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Network boundaries drop from two to one and the external model call disappears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retrieval rule and its parameters were held identical across the three conditions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448987"/>
            <a:ext cx="10607040" cy="36030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3. Performance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Three conditions measured over 1,347 chunks and 43 fixed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Retrieval agreement, evidence relevance on a 0 to 2 scale, and search latency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Confidence intervals from 10,000 bootstrap resamples on an entry-level instance</a:t>
            </a:r>
          </a:p>
        </p:txBody>
      </p:sp>
      <p:pic>
        <p:nvPicPr>
          <p:cNvPr id="31" name="Picture 30" descr="slide2-fig-setup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204022"/>
            <a:ext cx="10607040" cy="24587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4. 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Store factor — no quality change was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identical top-10 set was returned for 37 of the 43 queries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What the approximate index missed amounts to about 1.6 percent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Wilcoxon test on the queries remaining after ties agrees (p = 0.908)</a:t>
            </a:r>
          </a:p>
        </p:txBody>
      </p:sp>
      <p:pic>
        <p:nvPicPr>
          <p:cNvPr id="31" name="Picture 30" descr="slide2-fig-result-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663786"/>
            <a:ext cx="10607040" cy="1904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4. 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How the two metrics are 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is how much the two result sets overlap; the p value is how well chance explains it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727446"/>
            <a:ext cx="10607040" cy="30461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4. 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Placement factor — a significant, medium-sized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same store and the same search method returned mostly different evidence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Since no store effect was detected, the change is attributable to the placement factor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An end-to-end comparison alone would have blamed the store instead</a:t>
            </a:r>
          </a:p>
        </p:txBody>
      </p:sp>
      <p:pic>
        <p:nvPicPr>
          <p:cNvPr id="31" name="Picture 30" descr="slide2-fig-result-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3663786"/>
            <a:ext cx="10607040" cy="1904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4. 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The same two metrics applied to the placement 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Jaccard falls from 0.971 to 0.175 and the p value from 0.523 to 0.003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2727446"/>
            <a:ext cx="10607040" cy="30461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4. Experiment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Claiming no difference requires an equivalence test of its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non-significant p value is not evidence of equivalence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TOST over a plus or minus 0.15 range gave p = 0.052, so the level was not met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We report no effect detected with a bounded magnitude, not equivalence established</a:t>
            </a:r>
          </a:p>
        </p:txBody>
      </p:sp>
      <p:pic>
        <p:nvPicPr>
          <p:cNvPr id="31" name="Picture 30" descr="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573293"/>
            <a:ext cx="10607040" cy="36263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5.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Moving the placement is a trade in governance rather than in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bridge condition splits an end-to-end comparison into two single-factor comparisons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No store effect was detected; the entire observed change originated from the 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59689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A practical decision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054096"/>
            <a:ext cx="1032357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governance of the stored data is the only goal, replacing the store alone is enough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If the query path must stay inside the boundary, confirm the model size limit first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bridge condition makes that confirmation possible before the migration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2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5.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905256"/>
            <a:ext cx="1032357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9888"/>
            <a:ext cx="10323576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A single Korean corpus of 1,347 chunks drawn from one product domain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Human assessors were not involved in the relevance scoring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Measurements were taken on an entry-level instance, so latency does not generalize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Placement and model size are coupled by construction</a:t>
            </a:r>
          </a:p>
          <a:p>
            <a:pPr marL="256032" indent="-256032" algn="l">
              <a:lnSpc>
                <a:spcPct val="125000"/>
              </a:lnSpc>
              <a:spcBef>
                <a:spcPts val="900"/>
              </a:spcBef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The store result does not establish equivalence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694176"/>
            <a:ext cx="103235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altLang="en-US" sz="1700" b="1" i="0">
                <a:solidFill>
                  <a:srgbClr val="3375BE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151376"/>
            <a:ext cx="10323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6032" indent="-256032" algn="l">
              <a:lnSpc>
                <a:spcPct val="125000"/>
              </a:lnSpc>
            </a:pPr>
            <a:r>
              <a:rPr lang="en-US" altLang="en-US" sz="16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·   Running the smaller model outside the database would separate the two factors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A119-C188-F9F6-057A-A0184315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312D2-83DF-C026-4DCB-53BE682C96F4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FC25EB-05B2-E061-0FF8-6A0D881E3CD3}"/>
              </a:ext>
            </a:extLst>
          </p:cNvPr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4EECDF4-BCBE-F0BD-28A9-811191DA0005}"/>
              </a:ext>
            </a:extLst>
          </p:cNvPr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651760"/>
            <a:ext cx="108356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en-US" sz="54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941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744</Words>
  <Application>Microsoft Macintosh PowerPoint</Application>
  <PresentationFormat>와이드스크린</PresentationFormat>
  <Paragraphs>97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윤준하</cp:lastModifiedBy>
  <cp:revision>1290</cp:revision>
  <dcterms:created xsi:type="dcterms:W3CDTF">2024-02-27T09:44:09Z</dcterms:created>
  <dcterms:modified xsi:type="dcterms:W3CDTF">2026-08-12T05:32:16Z</dcterms:modified>
  <cp:version/>
</cp:coreProperties>
</file>