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67" r:id="rId15"/>
    <p:sldId id="268" r:id="rId16"/>
    <p:sldId id="273" r:id="rId17"/>
    <p:sldId id="272" r:id="rId18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93546" autoAdjust="0"/>
  </p:normalViewPr>
  <p:slideViewPr>
    <p:cSldViewPr snapToGrid="0">
      <p:cViewPr varScale="1">
        <p:scale>
          <a:sx n="114" d="100"/>
          <a:sy n="114" d="100"/>
        </p:scale>
        <p:origin x="856" y="17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255264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389888"/>
            <a:ext cx="10543032" cy="1783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 Factor Decomposition Method for Separating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Store Substitution and Embedding Placement Effects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256" y="3846307"/>
            <a:ext cx="10746439" cy="20336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2600"/>
              </a:spcBef>
            </a:pP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Junha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Yoon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Ohhyeon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Gwon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Junhaeng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Lee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Hyeji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Roh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Soowan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Cho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Suhee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Kim · </a:t>
            </a:r>
            <a:r>
              <a:rPr lang="en-US" altLang="en-US" sz="1600" b="1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SangSoon</a:t>
            </a:r>
            <a:r>
              <a:rPr lang="en-US" altLang="en-US" sz="16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Lim</a:t>
            </a:r>
          </a:p>
          <a:p>
            <a:pPr algn="ctr">
              <a:spcBef>
                <a:spcPts val="500"/>
              </a:spcBef>
            </a:pPr>
            <a:r>
              <a:rPr lang="en-US" altLang="en-US" sz="1400" dirty="0" err="1">
                <a:solidFill>
                  <a:srgbClr val="6D6D6D"/>
                </a:solidFill>
                <a:latin typeface="Arial"/>
                <a:ea typeface="Arial"/>
                <a:cs typeface="Arial"/>
              </a:rPr>
              <a:t>Sungkyul</a:t>
            </a:r>
            <a:r>
              <a:rPr lang="en-US" altLang="en-US" sz="1400" dirty="0">
                <a:solidFill>
                  <a:srgbClr val="6D6D6D"/>
                </a:solidFill>
                <a:latin typeface="Arial"/>
                <a:ea typeface="Arial"/>
                <a:cs typeface="Arial"/>
              </a:rPr>
              <a:t> University · Chung-Ang University · Deep Insight Lab</a:t>
            </a:r>
            <a:endParaRPr lang="en-US" altLang="en-US" sz="1500" b="1" i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altLang="en-US" sz="1500" b="1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altLang="en-US" sz="1500" b="1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lang="en-US" altLang="en-US" sz="15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2026 International Conference on </a:t>
            </a:r>
            <a:r>
              <a:rPr lang="en-US" altLang="en-US" sz="1500" b="1" i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PyGeek</a:t>
            </a:r>
            <a:endParaRPr lang="en-US" altLang="en-US" sz="1500" b="1" i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400"/>
              </a:spcBef>
            </a:pPr>
            <a:r>
              <a:rPr lang="en-US" altLang="en-US" sz="1400" b="0" i="0" dirty="0">
                <a:solidFill>
                  <a:srgbClr val="6D6D6D"/>
                </a:solidFill>
                <a:latin typeface="Arial"/>
                <a:ea typeface="Arial"/>
                <a:cs typeface="Arial"/>
              </a:rPr>
              <a:t>Hongik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949524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4383" y="949524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1608618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4383" y="1608618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2267712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83" y="2267712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926806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383" y="2926806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85900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83" y="358590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088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vector layer is the part that gets replaced after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RAG system combines an embedding model, a store, and a language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common migration moves it to a converged database that embeds internally</a:t>
            </a:r>
          </a:p>
        </p:txBody>
      </p:sp>
      <p:pic>
        <p:nvPicPr>
          <p:cNvPr id="31" name="Picture 30" descr="slide2-fig-intro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896730"/>
            <a:ext cx="10607040" cy="2373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One migration changes two things at the same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store and the embedding placement move together, not one at a time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governance-driven migration pulls the model inside, and the model size limit follows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before-and-after comparison cannot attribute the change to either factor</a:t>
            </a:r>
          </a:p>
        </p:txBody>
      </p:sp>
      <p:pic>
        <p:nvPicPr>
          <p:cNvPr id="31" name="Picture 30" descr="slide2-fig-intro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96103"/>
            <a:ext cx="10607040" cy="2262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 dirty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Misattributing the cause leads to the wrong remedy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decline cannot be assigned to the store or to the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observed change may mean no effect, or two effects cancelling each other out</a:t>
            </a:r>
          </a:p>
        </p:txBody>
      </p:sp>
      <p:pic>
        <p:nvPicPr>
          <p:cNvPr id="31" name="Picture 30" descr="slide2-fig-intro-mis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626489"/>
            <a:ext cx="10607040" cy="2841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A bridge condition splits one comparison into two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Load the target store with the vectors the source system has already produced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to B differs only in the store, B to C only in the placement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re-embedding is required, so the running service is left untouched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53" y="3015228"/>
            <a:ext cx="11801293" cy="2452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Network boundaries drop from two to one and the external model call disappears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baseline crosses two network boundaries to reach an external embedding service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After migration, embedding and search both run inside the database boundary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retrieval rule and its parameters were held identical across the three conditions</a:t>
            </a:r>
          </a:p>
        </p:txBody>
      </p:sp>
      <p:pic>
        <p:nvPicPr>
          <p:cNvPr id="31" name="Picture 30" descr="_arch-no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98" y="2852928"/>
            <a:ext cx="10139698" cy="3346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5148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Three conditions measured over 1,347 chunks and 43 fixed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Retrieval agreement, evidence relevance on a 0 to 2 scale, and search latency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Confidence intervals from 10,000 bootstrap resamples on an entry-level instance</a:t>
            </a:r>
          </a:p>
        </p:txBody>
      </p:sp>
      <p:pic>
        <p:nvPicPr>
          <p:cNvPr id="31" name="Picture 30" descr="slide2-fig-setup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9" y="2578244"/>
            <a:ext cx="10787062" cy="2603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Store factor — no quality change was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identical top-10 set was returned for 37 of the 43 queries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What the approximate index missed amounts to about 1.6 percent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Wilcoxon test on the queries remaining after ties agrees (p = 0.908)</a:t>
            </a:r>
          </a:p>
        </p:txBody>
      </p:sp>
      <p:pic>
        <p:nvPicPr>
          <p:cNvPr id="31" name="Picture 30" descr="slide2-fig-result-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927695"/>
            <a:ext cx="10607040" cy="1904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How the two metrics are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measures how much the two top-10 sets overlap, on a 0 to 1 scale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p value is how well chance alone explains the observed difference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Here both conditions returned the same list and the difference sits mid-distribution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81" y="3054576"/>
            <a:ext cx="10951532" cy="3145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Placement factor — a significant, medium-sized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same store and the same search method returned mostly different evidence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Since no store effect was detected, the change is attributable to the placement factor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end-to-end comparison alone would have blamed the store instead</a:t>
            </a:r>
          </a:p>
        </p:txBody>
      </p:sp>
      <p:pic>
        <p:nvPicPr>
          <p:cNvPr id="31" name="Picture 30" descr="slide2-fig-result-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04084"/>
            <a:ext cx="10607040" cy="1904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524619-6348-A811-5AE3-E78292BAC5E2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same two metrics applied to the placement factor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CB5AE-D9F6-4DFD-D240-D6E14936C345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falls from 0.971 to 0.175 and the p value from 0.523 to 0.003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Only 3 items are shared between the two top-10 lists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observed difference now sits far out in the tail of the chance distribution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0" y="3001723"/>
            <a:ext cx="11135574" cy="31979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Claiming no difference requires an equivalence test of its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non-significant p value is not evidence of equivalence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TOST over a plus or minus 0.15 range gave p = 0.052, so the level was not met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We report no effect detected with a bounded magnitude, not equivalence established</a:t>
            </a:r>
          </a:p>
        </p:txBody>
      </p:sp>
      <p:pic>
        <p:nvPicPr>
          <p:cNvPr id="31" name="Picture 30" descr="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573293"/>
            <a:ext cx="10607040" cy="3626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1E306E-7C77-2124-28C9-52549C60D1A0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Moving the placement is a trade in governance rather than in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bridge condition splits an end-to-end comparison into two single-factor comparisons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store effect was detected; the entire observed change originated from the 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59689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altLang="en-US" sz="1700" b="1">
                <a:solidFill>
                  <a:srgbClr val="3375BE"/>
                </a:solidFill>
                <a:latin typeface="Arial"/>
                <a:ea typeface="Arial"/>
                <a:cs typeface="Arial"/>
              </a:rPr>
              <a:t>A practical decision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054096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governance of the stored data is the only goal, replacing the store alone is enough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the query path must stay inside, confirm the model size limit before migrating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24EB7-456A-916E-C445-A860DFF3440E}"/>
              </a:ext>
            </a:extLst>
          </p:cNvPr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400" b="1" i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Korean corpus of 1,347 chunks from one domain, scored with no human assessors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Measurements were taken on an entry-level instance, so latency does not generalize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Placement and model size are coupled, and the store result does not establish equivalence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96265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altLang="en-US" sz="1700" b="1">
                <a:solidFill>
                  <a:srgbClr val="3375BE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419856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Running the smaller model outside the database would separate the two factors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24847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altLang="en-US" sz="2400" b="1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" y="1112789"/>
            <a:ext cx="10776299" cy="42454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84048" indent="-384048">
              <a:lnSpc>
                <a:spcPct val="116000"/>
              </a:lnSpc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[1] P. Lewis et al., “Retrieval-augmented generation for knowledge-intensive NLP tasks,” Advances in Neural Information Processing Systems, vol. 33, pp. 9459–9474, 2020.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[2] Y. Gao et al., “Retrieval-augmented generation for large language models: A survey,”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arXiv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preprint arXiv:2312.10997, 2023.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[3] Oracle, “Oracle AI Vector Search User’s Guide,” Oracle AI Database 26ai documentation, 2026.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[4] L. Wang, N. Yang, X. Huang, L. Yang, R. Majumder, and F. Wei, “Multilingual E5 text embeddings: A technical report,”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arXiv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preprint arXiv:2402.05672, 2024.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[5]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pgvector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pgvector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Open-source vector similarity search for Postgres,” GitHub repository, 2026.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[6] J. Chen, S. Xiao, P. Zhang, K. Luo, D. Lian, and Z. Liu, “M3-Embedding: Multi-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linguality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multi-functionality, multi-granularity text embeddings through self-knowledge distillation,” Findings of the Association for Computational Linguistics: ACL 2024, pp. 2318–2335, 2024.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[7] Y. A. Malkov and D. A.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Yashunin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“Efficient and robust approximate nearest neighbor search using hierarchical navigable small world graphs,” IEEE Transactions on Pattern Analysis and Machine Intelligence, vol. 42, no. 4, pp. 824–836, 2020.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[8] L. Zheng et al., “Judging LLM-as-a-judge with MT-Bench and Chatbot Arena,” Advances in Neural Information Processing Systems, vol. 36, Datasets and Benchmarks Track, 2023.</a:t>
            </a:r>
          </a:p>
          <a:p>
            <a:pPr marL="384048" indent="-384048">
              <a:lnSpc>
                <a:spcPct val="116000"/>
              </a:lnSpc>
              <a:spcBef>
                <a:spcPts val="800"/>
              </a:spcBef>
            </a:pP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[9] D. </a:t>
            </a:r>
            <a:r>
              <a:rPr lang="en-US" altLang="en-US" sz="12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Lakens</a:t>
            </a:r>
            <a:r>
              <a:rPr lang="en-US" altLang="en-US" sz="12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, “Equivalence tests: A practical primer for t tests, correlations, and meta-analyses,” Social Psychological and Personality Science, vol. 8, no. 4, pp. 355–362, 2017.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A119-C188-F9F6-057A-A0184315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312D2-83DF-C026-4DCB-53BE682C96F4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FC25EB-05B2-E061-0FF8-6A0D881E3CD3}"/>
              </a:ext>
            </a:extLst>
          </p:cNvPr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EECDF4-BCBE-F0BD-28A9-811191DA0005}"/>
              </a:ext>
            </a:extLst>
          </p:cNvPr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651760"/>
            <a:ext cx="108356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en-US" sz="5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941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1109</Words>
  <Application>Microsoft Macintosh PowerPoint</Application>
  <PresentationFormat>와이드스크린</PresentationFormat>
  <Paragraphs>113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윤준하</cp:lastModifiedBy>
  <cp:revision>1299</cp:revision>
  <dcterms:created xsi:type="dcterms:W3CDTF">2024-02-27T09:44:09Z</dcterms:created>
  <dcterms:modified xsi:type="dcterms:W3CDTF">2026-08-12T06:19:05Z</dcterms:modified>
  <cp:version/>
</cp:coreProperties>
</file>