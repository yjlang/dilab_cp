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53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4"/>
    <p:sldId id="258" r:id="rId3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58F3F2-34C0-7CDE-4646-8EB323D00AA8}" name="정용훈" initials="정" userId="S::dydgns2017@cau.ac.kr::5c56983a-12e8-458d-82f4-9a1aee997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7" autoAdjust="0"/>
    <p:restoredTop sz="93439" autoAdjust="0"/>
  </p:normalViewPr>
  <p:slideViewPr>
    <p:cSldViewPr snapToGrid="0">
      <p:cViewPr varScale="1">
        <p:scale>
          <a:sx n="103" d="100"/>
          <a:sy n="103" d="100"/>
        </p:scale>
        <p:origin x="858" y="10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91669BC1-DBAA-445B-BADB-B576B9BEDF3D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90FA8603-EEC9-404A-91D4-26086C075B2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defRPr/>
            </a:pP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6DFA3ED-E1FC-4944-A4FB-57A390A0789E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14350" y="241300"/>
            <a:ext cx="4410075" cy="473075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                                        </a:t>
            </a: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r>
              <a:rPr lang="ko-KR" altLang="en-US"/>
              <a:t>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2377440" y="3127248"/>
            <a:ext cx="7434072" cy="0"/>
          </a:xfrm>
          <a:prstGeom prst="line">
            <a:avLst/>
          </a:prstGeom>
          <a:ln w="25400">
            <a:solidFill>
              <a:srgbClr val="337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1481328"/>
            <a:ext cx="10543032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A Factor Decomposition Method for Separating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Store Substitution and Embedding Placement Effects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in Vector Database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383280"/>
            <a:ext cx="99943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27E7F"/>
                </a:solidFill>
                <a:latin typeface="맑은 고딕"/>
                <a:ea typeface="맑은 고딕"/>
              </a:rPr>
              <a:t>벡터 데이터베이스 이전에서 저장소 교체와 임베딩 위치 효과의 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315968"/>
            <a:ext cx="99943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</a:rPr>
              <a:t>2026 International Conference on PyGeek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  <a:ea typeface="맑은 고딕"/>
              </a:rPr>
              <a:t>August 20, 2026  ·  Hongik University, Seoul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800" b="0">
                <a:solidFill>
                  <a:srgbClr val="5A5A5A"/>
                </a:solidFill>
                <a:latin typeface="맑은 고딕"/>
                <a:ea typeface="맑은 고딕"/>
              </a:rPr>
              <a:t/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Junha Yoon · Ohhyeon Gwon · Junhaeng Lee · Hyeji Roh · Soowan Cho · Suhee Kim · SangSoon Lim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827E7F"/>
                </a:solidFill>
                <a:latin typeface="맑은 고딕"/>
                <a:ea typeface="맑은 고딕"/>
              </a:rPr>
              <a:t>Sungkyul University · Chung-Ang University · Deep Insight Lab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At a Glance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464823"/>
            <a:ext cx="10323576" cy="4614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맑은 고딕"/>
                <a:ea typeface="맑은 고딕"/>
              </a:rPr>
              <a:t>Quality changed after the migration. Which change caused it?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Problem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Migrating the vector layer changes the store and the embedding placement at the same time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A single before-and-after comparison cannot tell which factor is responsible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Proposal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Insert one intermediate condition — a bridge condition — so that one comparison splits into two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It needs no re-embedding, so it is inexpensive and leaves the running service untouched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Result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No quality change was detected for the store substitution; virtually all of the observed change came from the embedding placement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Background · The Vector Layer Changes Most Often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875617"/>
            <a:ext cx="10323576" cy="37925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Three components of a RAG system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Embedding model — turns queries and documents into vectors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Store — indexes and searches those vectors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Language model — generates an answer grounded in the retrieved evidence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A representative migration path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General-purpose relational database with a vector extension  →  converged database with a vector type and an inference runtime inside it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That is, the database itself performs the embedding computation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The effect of such a migration is usually assessed by an end-to-end comparison before and after the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Problem · Two Things Change at Once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813209"/>
            <a:ext cx="10323576" cy="39173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Two factors folded into a single migration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Store — the engine that holds the vectors and its indexing method (approximate or exact search)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Placement — whether the embedding is computed outside or inside the database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They change together for a reason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migration motivated by governance prefers to move the embedding inside as well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database that hosts a model imposes a model size limit, so moving the placement drags the model capacity along with it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The end-to-end difference alone cannot point to the factor that caused the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Why It Matters · The Cause Gets Misdiagnosed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852300"/>
            <a:ext cx="10323576" cy="3839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When quality drops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It cannot be told apart whether the store or the model is at fault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When nothing changes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It cannot be known whether there was truly no effect, or the two factors cancelled each other out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So the remedy misses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Blaming the store and reverting it does not bring the quality back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conclusion cannot be carried over to an environment with a different instance class or model size limit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Proposal · A Bridge Condition Separates the Factors</a:t>
            </a:r>
          </a:p>
        </p:txBody>
      </p:sp>
      <p:pic>
        <p:nvPicPr>
          <p:cNvPr id="29" name="Picture 28" descr="slide-fig-decomposition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58455"/>
            <a:ext cx="10323576" cy="214574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3232" y="4323655"/>
            <a:ext cx="10323576" cy="1261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Load the target store with the vectors the source system has already produced — that is condition B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A→B differs only in the store, B→C only in the placement — one factor at a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System Architecture · What Actually Changes</a:t>
            </a:r>
          </a:p>
        </p:txBody>
      </p:sp>
      <p:pic>
        <p:nvPicPr>
          <p:cNvPr id="29" name="Picture 28" descr="slide-fig-arch-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35860"/>
            <a:ext cx="10323576" cy="34962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3232" y="5351527"/>
            <a:ext cx="10323576" cy="5564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The retrieval rule (vector similarity + metadata filters + source-based prioritization) and its parameters were kept identical across the three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Experimental Setup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13232" y="1648480"/>
          <a:ext cx="1032357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877312"/>
                <a:gridCol w="2877312"/>
                <a:gridCol w="28773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· baseline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 · bridge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 · migrated</a:t>
                      </a:r>
                    </a:p>
                  </a:txBody>
                  <a:tcPr marL="91440" marR="91440" marT="36576" marB="36576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Store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PostgreSQL + pgvector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Oracle 26ai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Oracle 26ai</a:t>
                      </a:r>
                    </a:p>
                  </a:txBody>
                  <a:tcPr marL="91440" marR="91440" marT="36576" marB="36576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Embedding model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BGE-M3 (1024)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BGE-M3 (1024)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e5-small (384)</a:t>
                      </a:r>
                    </a:p>
                  </a:txBody>
                  <a:tcPr marL="91440" marR="91440" marT="36576" marB="36576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Placement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external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external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in-database</a:t>
                      </a:r>
                    </a:p>
                  </a:txBody>
                  <a:tcPr marL="91440" marR="91440" marT="36576" marB="36576" anchor="ctr"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Vector search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HNSW approx.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exact</a:t>
                      </a:r>
                    </a:p>
                  </a:txBody>
                  <a:tcPr marL="91440" marR="91440" marT="36576" marB="36576" anchor="ctr"/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exact</a:t>
                      </a:r>
                    </a:p>
                  </a:txBody>
                  <a:tcPr marL="91440" marR="91440" marT="36576" marB="36576" anchor="ctr"/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13232" y="3568720"/>
            <a:ext cx="10323576" cy="2326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Corpus and metrics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1,347 review chunks from a Korean product-review service in production · 43 fixed queries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Retrieval agreement (Jaccard · Spearman · Recall@10) / evidence relevance (0–2 scale) / search latency</a:t>
            </a:r>
          </a:p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Confidence intervals from 10,000 bootstrap resamples. The target database ran on the lowest-tier free instance.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Result ① Store Factor · No Effect Detected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201945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Top-10 Jaccard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0.971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[0.946, 0.992]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33672" y="201945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Relevance difference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−0.042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p = 0.523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54111" y="201945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Effect size dz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−0.098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negligible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592220"/>
            <a:ext cx="10323576" cy="19321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Loaded with identical vectors, the two stores returned exactly the same top-10 set for 37 of the 43 queries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What the baseline missed because of its approximate index amounts to about 1.6%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Wilcoxon test on the queries that remain after excluding ties leads to the same conclusion (p = 0.908)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Result ② Placement Factor · Significant, Medium-Sized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186555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Top-10 Jaccard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0.175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[0.133, 0.221]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33672" y="186555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Relevance score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1.270 → 1.014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p = 0.003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54111" y="186555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18872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Effect size dz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0.473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438326"/>
            <a:ext cx="10323576" cy="22399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Same store and same search method, yet mostly different evidence is retrieved for the same query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Since no store effect was detected from A to B, virtually all of the quality change is due to the placement factor and the model size limit that comes with it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Had only an end-to-end comparison been performed, the 20% drop in relevance would have been blamed on the store — and reverting the store would not bring the quality 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But · Claiming “No Difference” Needs Its Own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823290"/>
            <a:ext cx="10323576" cy="38972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A non-significant p value is not evidence of equivalence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We ran equivalence tests (TOST) separately over a ±0.15 point range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result was p = 0.052 — the lower bound of the confidence interval, −0.172, falls outside the range, so the significance level was not met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So we report it this way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Not “equivalence has been established”, but “no effect was detected and its magnitude is bounded to a small range”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direction in which the interval extends is the one where the target store scores higher, so there is no basis for concluding that substituting the store degraded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109441"/>
            <a:ext cx="10323576" cy="51541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Method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Adding a single bridge condition splits an end-to-end comparison into two single-factor comparisons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What we observed in this service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No effect of the store factor was detected; the entire observed change originated from the placement factor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Changing the placement is a trade in governance rather than in performance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A practical decision rule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If governance of the stored data is the only goal → replacing the store alone is enough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If the query path must also stay inside the boundary → first confirm that the largest model that can be hosted is sufficient for that domain</a:t>
            </a: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The bridge condition makes that confirmation possible before the migration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Limitations and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1477990"/>
            <a:ext cx="10323576" cy="458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Limitations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single Korean corpus of 1,347 chunks from one product domain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Human assessors were not involved in the relevance scoring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Measurements were taken on an entry-level instance — the latency figures cannot be generalized to higher-tier hardware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Placement and model size are coupled by construction, and the store result does not establish equivalence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Future work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fourth condition that runs the smaller model outside the database would separate placement from model size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135</Words>
  <Application>Microsoft Office PowerPoint</Application>
  <PresentationFormat>와이드스크린</PresentationFormat>
  <Paragraphs>33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yonghoon</dc:creator>
  <cp:lastModifiedBy>노혜지</cp:lastModifiedBy>
  <cp:revision>1279</cp:revision>
  <dcterms:created xsi:type="dcterms:W3CDTF">2024-02-27T09:44:09Z</dcterms:created>
  <dcterms:modified xsi:type="dcterms:W3CDTF">2026-07-08T01:18:56Z</dcterms:modified>
  <cp:version/>
</cp:coreProperties>
</file>