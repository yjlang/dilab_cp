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753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7104063" cy="102346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F58F3F2-34C0-7CDE-4646-8EB323D00AA8}" name="정용훈" initials="정" userId="S::dydgns2017@cau.ac.kr::5c56983a-12e8-458d-82f4-9a1aee9971f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99" autoAdjust="0"/>
    <p:restoredTop sz="80413" autoAdjust="0"/>
  </p:normalViewPr>
  <p:slideViewPr>
    <p:cSldViewPr snapToGrid="0">
      <p:cViewPr varScale="1">
        <p:scale>
          <a:sx n="95" d="100"/>
          <a:sy n="95" d="100"/>
        </p:scale>
        <p:origin x="184" y="216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173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4023991" y="0"/>
            <a:ext cx="3078427" cy="51173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D8D7A7C4-C82A-4D21-9AB0-F0C5A1D3EF09}" type="datetime1">
              <a:rPr lang="ko-KR" altLang="en-US"/>
              <a:pPr lvl="0">
                <a:defRPr/>
              </a:pPr>
              <a:t>2026. 8. 11.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721106"/>
            <a:ext cx="3078427" cy="51173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4023991" y="9721106"/>
            <a:ext cx="3078427" cy="51173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F450E784-2449-4FFD-AA69-3F5CFAA75BCB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7" rIns="99075" bIns="49537"/>
          <a:lstStyle>
            <a:lvl1pPr algn="l">
              <a:defRPr sz="13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7" rIns="99075" bIns="49537"/>
          <a:lstStyle>
            <a:lvl1pPr algn="r">
              <a:defRPr sz="1300"/>
            </a:lvl1pPr>
          </a:lstStyle>
          <a:p>
            <a:pPr lvl="0">
              <a:defRPr/>
            </a:pPr>
            <a:fld id="{91669BC1-DBAA-445B-BADB-B576B9BEDF3D}" type="datetime1">
              <a:rPr lang="ko-KR" altLang="en-US"/>
              <a:pPr lvl="0">
                <a:defRPr/>
              </a:pPr>
              <a:t>2026. 8. 11.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7" rIns="99075" bIns="49537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7" rIns="99075" bIns="49537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7" rIns="99075" bIns="49537" anchor="b"/>
          <a:lstStyle>
            <a:lvl1pPr algn="l">
              <a:defRPr sz="13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7" rIns="99075" bIns="49537" anchor="b"/>
          <a:lstStyle>
            <a:lvl1pPr algn="r">
              <a:defRPr sz="1300"/>
            </a:lvl1pPr>
          </a:lstStyle>
          <a:p>
            <a:pPr lvl="0">
              <a:defRPr/>
            </a:pPr>
            <a:fld id="{90FA8603-EEC9-404A-91D4-26086C075B20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>
              <a:defRPr/>
            </a:pPr>
            <a:r>
              <a:rPr sz="1300" b="1">
                <a:latin typeface="맑은 고딕"/>
              </a:rPr>
              <a:t>[0:00–0:20 · 20초]</a:t>
            </a:r>
            <a:endParaRPr lang="ko-KR" alt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sz="1300">
                <a:latin typeface="맑은 고딕"/>
              </a:rPr>
              <a:t>안녕하십니까. 성결대학교 윤준하입니다.</a:t>
            </a:r>
          </a:p>
          <a:p>
            <a:r>
              <a:rPr sz="1300">
                <a:latin typeface="맑은 고딕"/>
              </a:rPr>
              <a:t>'벡터 데이터베이스를 옮길 때 저장소 교체와 임베딩 위치의 효과를 분리하는 방법'으로 발표하겠습니다.</a:t>
            </a:r>
          </a:p>
          <a:p>
            <a:r>
              <a:rPr sz="1300">
                <a:latin typeface="맑은 고딕"/>
              </a:rPr>
              <a:t>자료는 영문이지만 발표는 한국어로 진행하겠습니다.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46DFA3ED-E1FC-4944-A4FB-57A390A0789E}" type="slidenum">
              <a:rPr lang="en-US" altLang="en-US"/>
              <a:pPr lvl="0">
                <a:defRPr/>
              </a:pPr>
              <a:t>1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300" b="1">
                <a:latin typeface="맑은 고딕"/>
              </a:rPr>
              <a:t>[0:20–1:40 · 80초]</a:t>
            </a:r>
          </a:p>
          <a:p>
            <a:r>
              <a:rPr sz="1300">
                <a:latin typeface="맑은 고딕"/>
              </a:rPr>
              <a:t>발표 전체를 한 장으로 먼저 보여드립니다. 결론을 알고 들으시면 뒤가 쉽습니다.</a:t>
            </a:r>
          </a:p>
          <a:p>
            <a:endParaRPr sz="1300">
              <a:latin typeface="맑은 고딕"/>
            </a:endParaRPr>
          </a:p>
          <a:p>
            <a:r>
              <a:rPr sz="1300">
                <a:latin typeface="맑은 고딕"/>
              </a:rPr>
              <a:t>· 문제 — 벡터 레이어를 옮기면 두 가지가 동시에 바뀝니다. 그래서 전후를 한 번 비교해서는</a:t>
            </a:r>
          </a:p>
          <a:p>
            <a:r>
              <a:rPr sz="1300">
                <a:latin typeface="맑은 고딕"/>
              </a:rPr>
              <a:t>  어느 쪽이 원인인지 알 수 없습니다.</a:t>
            </a:r>
          </a:p>
          <a:p>
            <a:r>
              <a:rPr sz="1300">
                <a:latin typeface="맑은 고딕"/>
              </a:rPr>
              <a:t>· 제안 — 중간 조건을 하나 끼워 넣어 비교 한 번을 두 번으로 쪼갭니다.</a:t>
            </a:r>
          </a:p>
          <a:p>
            <a:r>
              <a:rPr sz="1300">
                <a:latin typeface="맑은 고딕"/>
              </a:rPr>
              <a:t>· 결과 — 저장소를 바꾼 데서는 변화가 검출되지 않았고, 변화는 사실상 전부 임베딩 위치에서</a:t>
            </a:r>
          </a:p>
          <a:p>
            <a:r>
              <a:rPr sz="1300">
                <a:latin typeface="맑은 고딕"/>
              </a:rPr>
              <a:t>  나왔습니다.</a:t>
            </a:r>
          </a:p>
          <a:p>
            <a:endParaRPr sz="1300">
              <a:latin typeface="맑은 고딕"/>
            </a:endParaRPr>
          </a:p>
          <a:p>
            <a:r>
              <a:rPr sz="1300">
                <a:latin typeface="맑은 고딕"/>
              </a:rPr>
              <a:t>지금부터 이 셋을 순서대로 말씀드리겠습니다.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300" b="1">
                <a:latin typeface="맑은 고딕"/>
              </a:rPr>
              <a:t>[1:40–2:30 · 50초]</a:t>
            </a:r>
          </a:p>
          <a:p>
            <a:r>
              <a:rPr sz="1300">
                <a:latin typeface="맑은 고딕"/>
              </a:rPr>
              <a:t>빠르게 배경만 짚겠습니다.</a:t>
            </a:r>
          </a:p>
          <a:p>
            <a:endParaRPr sz="1300">
              <a:latin typeface="맑은 고딕"/>
            </a:endParaRPr>
          </a:p>
          <a:p>
            <a:r>
              <a:rPr sz="1300">
                <a:latin typeface="맑은 고딕"/>
              </a:rPr>
              <a:t>· RAG는 임베딩 모델, 저장소, 언어 모델 세 부분으로 이뤄집니다.</a:t>
            </a:r>
          </a:p>
          <a:p>
            <a:r>
              <a:rPr sz="1300">
                <a:latin typeface="맑은 고딕"/>
              </a:rPr>
              <a:t>· 이 중 배포 후 가장 자주 바뀌는 것이 벡터 레이어입니다.</a:t>
            </a:r>
          </a:p>
          <a:p>
            <a:r>
              <a:rPr sz="1300">
                <a:latin typeface="맑은 고딕"/>
              </a:rPr>
              <a:t>· 대표적인 경로가 '범용 DB + 벡터 확장'에서 '벡터 타입과 추론 런타임을 내장한 융합형 DB'로</a:t>
            </a:r>
          </a:p>
          <a:p>
            <a:r>
              <a:rPr sz="1300">
                <a:latin typeface="맑은 고딕"/>
              </a:rPr>
              <a:t>  가는 것입니다. 데이터베이스가 임베딩까지 직접 계산하는 구성입니다.</a:t>
            </a:r>
          </a:p>
          <a:p>
            <a:endParaRPr sz="1300">
              <a:latin typeface="맑은 고딕"/>
            </a:endParaRPr>
          </a:p>
          <a:p>
            <a:r>
              <a:rPr sz="1300">
                <a:latin typeface="맑은 고딕"/>
              </a:rPr>
              <a:t>이런 이전의 효과는 보통 전후를 한 번 비교해서 평가합니다. 여기서 문제가 생깁니다.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300" b="1">
                <a:latin typeface="맑은 고딕"/>
              </a:rPr>
              <a:t>[2:30–4:00 · 90초]  ★ 이 발표의 첫 번째 승부처</a:t>
            </a:r>
          </a:p>
          <a:p>
            <a:endParaRPr sz="1300" b="1">
              <a:latin typeface="맑은 고딕"/>
            </a:endParaRPr>
          </a:p>
          <a:p>
            <a:r>
              <a:rPr sz="1300">
                <a:latin typeface="맑은 고딕"/>
              </a:rPr>
              <a:t>두 요인을 분명히 구분해서 말합니다.</a:t>
            </a:r>
          </a:p>
          <a:p>
            <a:r>
              <a:rPr sz="1300">
                <a:latin typeface="맑은 고딕"/>
              </a:rPr>
              <a:t>· 저장소 — 벡터를 담는 엔진과 인덱싱 방식. 근사 검색이냐 정확 검색이냐.</a:t>
            </a:r>
          </a:p>
          <a:p>
            <a:r>
              <a:rPr sz="1300">
                <a:latin typeface="맑은 고딕"/>
              </a:rPr>
              <a:t>· 위치 — 임베딩을 DB 밖에서 계산하느냐, 안에서 계산하느냐.</a:t>
            </a:r>
          </a:p>
          <a:p>
            <a:endParaRPr sz="1300">
              <a:latin typeface="맑은 고딕"/>
            </a:endParaRPr>
          </a:p>
          <a:p>
            <a:r>
              <a:rPr sz="1300">
                <a:latin typeface="맑은 고딕"/>
              </a:rPr>
              <a:t>★ 중요한 건 '왜 둘이 같이 바뀌는가' 입니다. 우연이 아닙니다.</a:t>
            </a:r>
          </a:p>
          <a:p>
            <a:r>
              <a:rPr sz="1300">
                <a:latin typeface="맑은 고딕"/>
              </a:rPr>
              <a:t>  거버넌스 때문에 옮기는 이전은 임베딩도 안으로 넣는 구성을 원합니다.</a:t>
            </a:r>
          </a:p>
          <a:p>
            <a:r>
              <a:rPr sz="1300">
                <a:latin typeface="맑은 고딕"/>
              </a:rPr>
              <a:t>  그런데 모델을 품는 DB는 모델 크기에 제한이 있습니다.</a:t>
            </a:r>
          </a:p>
          <a:p>
            <a:r>
              <a:rPr sz="1300">
                <a:latin typeface="맑은 고딕"/>
              </a:rPr>
              <a:t>  그래서 위치를 옮기면 모델 용량까지 딸려서 바뀝니다.</a:t>
            </a:r>
          </a:p>
          <a:p>
            <a:endParaRPr sz="1300">
              <a:latin typeface="맑은 고딕"/>
            </a:endParaRPr>
          </a:p>
          <a:p>
            <a:r>
              <a:rPr sz="1300">
                <a:latin typeface="맑은 고딕"/>
              </a:rPr>
              <a:t>결론 — 전후 차이만으로는 어느 요인이 변화를 일으켰는지 지목할 수 없습니다.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300" b="1">
                <a:latin typeface="맑은 고딕"/>
              </a:rPr>
              <a:t>[4:00–4:50 · 50초]</a:t>
            </a:r>
          </a:p>
          <a:p>
            <a:r>
              <a:rPr sz="1300">
                <a:latin typeface="맑은 고딕"/>
              </a:rPr>
              <a:t>이게 왜 실무에서 위험한지 짧게 말합니다.</a:t>
            </a:r>
          </a:p>
          <a:p>
            <a:endParaRPr sz="1300">
              <a:latin typeface="맑은 고딕"/>
            </a:endParaRPr>
          </a:p>
          <a:p>
            <a:r>
              <a:rPr sz="1300">
                <a:latin typeface="맑은 고딕"/>
              </a:rPr>
              <a:t>· 품질이 떨어져도 저장소 탓인지 모델 탓인지 모릅니다.</a:t>
            </a:r>
          </a:p>
          <a:p>
            <a:r>
              <a:rPr sz="1300">
                <a:latin typeface="맑은 고딕"/>
              </a:rPr>
              <a:t>· 변화가 없어도, 정말 영향이 없었던 건지 두 요인이 상쇄한 건지 모릅니다.</a:t>
            </a:r>
          </a:p>
          <a:p>
            <a:r>
              <a:rPr sz="1300">
                <a:latin typeface="맑은 고딕"/>
              </a:rPr>
              <a:t>· 그래서 처방이 어긋납니다. 저장소를 탓해서 되돌려도 품질은 돌아오지 않습니다.</a:t>
            </a:r>
          </a:p>
          <a:p>
            <a:endParaRPr sz="1300">
              <a:latin typeface="맑은 고딕"/>
            </a:endParaRPr>
          </a:p>
          <a:p>
            <a:r>
              <a:rPr sz="1300">
                <a:latin typeface="맑은 고딕"/>
              </a:rPr>
              <a:t>(뒤에 실제로 그럴 뻔했던 수치가 나온다고 예고해두면 결과 슬라이드가 살아납니다)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300" b="1" dirty="0">
                <a:latin typeface="맑은 고딕"/>
              </a:rPr>
              <a:t>[4:50–6:50 · 120초]  ★★ </a:t>
            </a:r>
            <a:r>
              <a:rPr sz="1300" b="1" dirty="0" err="1">
                <a:latin typeface="맑은 고딕"/>
              </a:rPr>
              <a:t>가장</a:t>
            </a:r>
            <a:r>
              <a:rPr sz="1300" b="1" dirty="0">
                <a:latin typeface="맑은 고딕"/>
              </a:rPr>
              <a:t> </a:t>
            </a:r>
            <a:r>
              <a:rPr sz="1300" b="1" dirty="0" err="1">
                <a:latin typeface="맑은 고딕"/>
              </a:rPr>
              <a:t>중요한</a:t>
            </a:r>
            <a:r>
              <a:rPr sz="1300" b="1" dirty="0">
                <a:latin typeface="맑은 고딕"/>
              </a:rPr>
              <a:t> </a:t>
            </a:r>
            <a:r>
              <a:rPr sz="1300" b="1" dirty="0" err="1">
                <a:latin typeface="맑은 고딕"/>
              </a:rPr>
              <a:t>슬라이드</a:t>
            </a:r>
            <a:r>
              <a:rPr sz="1300" b="1" dirty="0">
                <a:latin typeface="맑은 고딕"/>
              </a:rPr>
              <a:t>. </a:t>
            </a:r>
            <a:r>
              <a:rPr sz="1300" b="1" dirty="0" err="1">
                <a:latin typeface="맑은 고딕"/>
              </a:rPr>
              <a:t>여기서</a:t>
            </a:r>
            <a:r>
              <a:rPr sz="1300" b="1" dirty="0">
                <a:latin typeface="맑은 고딕"/>
              </a:rPr>
              <a:t> </a:t>
            </a:r>
            <a:r>
              <a:rPr sz="1300" b="1" dirty="0" err="1">
                <a:latin typeface="맑은 고딕"/>
              </a:rPr>
              <a:t>서두르지</a:t>
            </a:r>
            <a:r>
              <a:rPr sz="1300" b="1" dirty="0">
                <a:latin typeface="맑은 고딕"/>
              </a:rPr>
              <a:t> </a:t>
            </a:r>
            <a:r>
              <a:rPr sz="1300" b="1" dirty="0" err="1">
                <a:latin typeface="맑은 고딕"/>
              </a:rPr>
              <a:t>말</a:t>
            </a:r>
            <a:r>
              <a:rPr sz="1300" b="1" dirty="0">
                <a:latin typeface="맑은 고딕"/>
              </a:rPr>
              <a:t> </a:t>
            </a:r>
            <a:r>
              <a:rPr sz="1300" b="1" dirty="0" err="1">
                <a:latin typeface="맑은 고딕"/>
              </a:rPr>
              <a:t>것</a:t>
            </a:r>
            <a:endParaRPr sz="1300" b="1" dirty="0">
              <a:latin typeface="맑은 고딕"/>
            </a:endParaRPr>
          </a:p>
          <a:p>
            <a:endParaRPr sz="1300" b="1" dirty="0">
              <a:latin typeface="맑은 고딕"/>
            </a:endParaRPr>
          </a:p>
          <a:p>
            <a:r>
              <a:rPr sz="1300" dirty="0" err="1">
                <a:latin typeface="맑은 고딕"/>
              </a:rPr>
              <a:t>그림을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왼쪽부터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짚어가며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말합니다</a:t>
            </a:r>
            <a:r>
              <a:rPr sz="1300" dirty="0">
                <a:latin typeface="맑은 고딕"/>
              </a:rPr>
              <a:t>.</a:t>
            </a:r>
          </a:p>
          <a:p>
            <a:r>
              <a:rPr sz="1300" dirty="0">
                <a:latin typeface="맑은 고딕"/>
              </a:rPr>
              <a:t>· A — </a:t>
            </a:r>
            <a:r>
              <a:rPr sz="1300" dirty="0" err="1">
                <a:latin typeface="맑은 고딕"/>
              </a:rPr>
              <a:t>지금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운영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중인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시스템입니다</a:t>
            </a:r>
            <a:r>
              <a:rPr sz="1300" dirty="0">
                <a:latin typeface="맑은 고딕"/>
              </a:rPr>
              <a:t>. </a:t>
            </a:r>
            <a:r>
              <a:rPr sz="1300" dirty="0" err="1">
                <a:latin typeface="맑은 고딕"/>
              </a:rPr>
              <a:t>PostgreSQL에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pgvector</a:t>
            </a:r>
            <a:r>
              <a:rPr sz="1300" dirty="0">
                <a:latin typeface="맑은 고딕"/>
              </a:rPr>
              <a:t>, </a:t>
            </a:r>
            <a:r>
              <a:rPr sz="1300" dirty="0" err="1">
                <a:latin typeface="맑은 고딕"/>
              </a:rPr>
              <a:t>임베딩은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밖에서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계산합니다</a:t>
            </a:r>
            <a:r>
              <a:rPr sz="1300" dirty="0">
                <a:latin typeface="맑은 고딕"/>
              </a:rPr>
              <a:t>.</a:t>
            </a:r>
          </a:p>
          <a:p>
            <a:r>
              <a:rPr sz="1300" dirty="0">
                <a:latin typeface="맑은 고딕"/>
              </a:rPr>
              <a:t>· C — </a:t>
            </a:r>
            <a:r>
              <a:rPr sz="1300" dirty="0" err="1">
                <a:latin typeface="맑은 고딕"/>
              </a:rPr>
              <a:t>이전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후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시스템입니다</a:t>
            </a:r>
            <a:r>
              <a:rPr sz="1300" dirty="0">
                <a:latin typeface="맑은 고딕"/>
              </a:rPr>
              <a:t>. </a:t>
            </a:r>
            <a:r>
              <a:rPr sz="1300" dirty="0" err="1">
                <a:latin typeface="맑은 고딕"/>
              </a:rPr>
              <a:t>저장소도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바뀌고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임베딩도</a:t>
            </a:r>
            <a:r>
              <a:rPr sz="1300" dirty="0">
                <a:latin typeface="맑은 고딕"/>
              </a:rPr>
              <a:t> DB </a:t>
            </a:r>
            <a:r>
              <a:rPr sz="1300" dirty="0" err="1">
                <a:latin typeface="맑은 고딕"/>
              </a:rPr>
              <a:t>안으로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들어갔습니다</a:t>
            </a:r>
            <a:r>
              <a:rPr sz="1300" dirty="0">
                <a:latin typeface="맑은 고딕"/>
              </a:rPr>
              <a:t>.</a:t>
            </a:r>
          </a:p>
          <a:p>
            <a:r>
              <a:rPr sz="1300" dirty="0">
                <a:latin typeface="맑은 고딕"/>
              </a:rPr>
              <a:t>  </a:t>
            </a:r>
            <a:r>
              <a:rPr sz="1300" dirty="0" err="1">
                <a:latin typeface="맑은 고딕"/>
              </a:rPr>
              <a:t>A와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C를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바로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비교하면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두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가지가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한꺼번에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바뀝니다</a:t>
            </a:r>
            <a:r>
              <a:rPr sz="1300" dirty="0">
                <a:latin typeface="맑은 고딕"/>
              </a:rPr>
              <a:t>.</a:t>
            </a:r>
          </a:p>
          <a:p>
            <a:r>
              <a:rPr sz="1300" dirty="0">
                <a:latin typeface="맑은 고딕"/>
              </a:rPr>
              <a:t>· B — </a:t>
            </a:r>
            <a:r>
              <a:rPr sz="1300" dirty="0" err="1">
                <a:latin typeface="맑은 고딕"/>
              </a:rPr>
              <a:t>그래서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가운데에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조건을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하나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만듭니다</a:t>
            </a:r>
            <a:r>
              <a:rPr sz="1300" dirty="0">
                <a:latin typeface="맑은 고딕"/>
              </a:rPr>
              <a:t>. </a:t>
            </a:r>
            <a:r>
              <a:rPr sz="1300" dirty="0" err="1">
                <a:latin typeface="맑은 고딕"/>
              </a:rPr>
              <a:t>저장소는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C와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같지만</a:t>
            </a:r>
            <a:r>
              <a:rPr sz="1300" dirty="0">
                <a:latin typeface="맑은 고딕"/>
              </a:rPr>
              <a:t>,</a:t>
            </a:r>
          </a:p>
          <a:p>
            <a:r>
              <a:rPr sz="1300" dirty="0">
                <a:latin typeface="맑은 고딕"/>
              </a:rPr>
              <a:t>  ★ </a:t>
            </a:r>
            <a:r>
              <a:rPr sz="1300" dirty="0" err="1">
                <a:latin typeface="맑은 고딕"/>
              </a:rPr>
              <a:t>A가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이미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만들어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둔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벡터를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그대로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실어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놓습니다</a:t>
            </a:r>
            <a:r>
              <a:rPr sz="1300" dirty="0">
                <a:latin typeface="맑은 고딕"/>
              </a:rPr>
              <a:t>.</a:t>
            </a:r>
          </a:p>
          <a:p>
            <a:endParaRPr sz="1300" dirty="0">
              <a:latin typeface="맑은 고딕"/>
            </a:endParaRPr>
          </a:p>
          <a:p>
            <a:r>
              <a:rPr sz="1300" dirty="0" err="1">
                <a:latin typeface="맑은 고딕"/>
              </a:rPr>
              <a:t>그러면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A→B는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저장소만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다르고</a:t>
            </a:r>
            <a:r>
              <a:rPr sz="1300" dirty="0">
                <a:latin typeface="맑은 고딕"/>
              </a:rPr>
              <a:t>, </a:t>
            </a:r>
            <a:r>
              <a:rPr sz="1300" dirty="0" err="1">
                <a:latin typeface="맑은 고딕"/>
              </a:rPr>
              <a:t>B→C는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위치만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다릅니다</a:t>
            </a:r>
            <a:r>
              <a:rPr sz="1300" dirty="0">
                <a:latin typeface="맑은 고딕"/>
              </a:rPr>
              <a:t>. </a:t>
            </a:r>
            <a:r>
              <a:rPr sz="1300" dirty="0" err="1">
                <a:latin typeface="맑은 고딕"/>
              </a:rPr>
              <a:t>한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번에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한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요인씩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비교됩니다</a:t>
            </a:r>
            <a:r>
              <a:rPr sz="1300" dirty="0">
                <a:latin typeface="맑은 고딕"/>
              </a:rPr>
              <a:t>.</a:t>
            </a:r>
          </a:p>
          <a:p>
            <a:endParaRPr sz="1300" dirty="0">
              <a:latin typeface="맑은 고딕"/>
            </a:endParaRPr>
          </a:p>
          <a:p>
            <a:r>
              <a:rPr sz="1300" dirty="0">
                <a:latin typeface="맑은 고딕"/>
              </a:rPr>
              <a:t>★ </a:t>
            </a:r>
            <a:r>
              <a:rPr sz="1300" dirty="0" err="1">
                <a:latin typeface="맑은 고딕"/>
              </a:rPr>
              <a:t>비용을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꼭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언급하세요</a:t>
            </a:r>
            <a:r>
              <a:rPr sz="1300" dirty="0">
                <a:latin typeface="맑은 고딕"/>
              </a:rPr>
              <a:t>. </a:t>
            </a:r>
            <a:r>
              <a:rPr sz="1300" dirty="0" err="1">
                <a:latin typeface="맑은 고딕"/>
              </a:rPr>
              <a:t>재임베딩이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필요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없습니다</a:t>
            </a:r>
            <a:r>
              <a:rPr sz="1300" dirty="0">
                <a:latin typeface="맑은 고딕"/>
              </a:rPr>
              <a:t>. </a:t>
            </a:r>
            <a:r>
              <a:rPr sz="1300" dirty="0" err="1">
                <a:latin typeface="맑은 고딕"/>
              </a:rPr>
              <a:t>운영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테이블은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그대로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두고</a:t>
            </a:r>
            <a:endParaRPr sz="1300" dirty="0">
              <a:latin typeface="맑은 고딕"/>
            </a:endParaRPr>
          </a:p>
          <a:p>
            <a:r>
              <a:rPr sz="1300" dirty="0">
                <a:latin typeface="맑은 고딕"/>
              </a:rPr>
              <a:t>  </a:t>
            </a:r>
            <a:r>
              <a:rPr sz="1300" dirty="0" err="1">
                <a:latin typeface="맑은 고딕"/>
              </a:rPr>
              <a:t>벡터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컬럼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하나만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더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만들어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채우면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되므로</a:t>
            </a:r>
            <a:r>
              <a:rPr sz="1300" dirty="0">
                <a:latin typeface="맑은 고딕"/>
              </a:rPr>
              <a:t>, </a:t>
            </a:r>
            <a:r>
              <a:rPr sz="1300" dirty="0" err="1">
                <a:latin typeface="맑은 고딕"/>
              </a:rPr>
              <a:t>준비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비용은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벌크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로드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한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번이고</a:t>
            </a:r>
            <a:endParaRPr sz="1300" dirty="0">
              <a:latin typeface="맑은 고딕"/>
            </a:endParaRPr>
          </a:p>
          <a:p>
            <a:r>
              <a:rPr sz="1300" dirty="0">
                <a:latin typeface="맑은 고딕"/>
              </a:rPr>
              <a:t>  </a:t>
            </a:r>
            <a:r>
              <a:rPr sz="1300" dirty="0" err="1">
                <a:latin typeface="맑은 고딕"/>
              </a:rPr>
              <a:t>돌아가는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서비스는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건드리지</a:t>
            </a:r>
            <a:r>
              <a:rPr sz="1300" dirty="0">
                <a:latin typeface="맑은 고딕"/>
              </a:rPr>
              <a:t> </a:t>
            </a:r>
            <a:r>
              <a:rPr sz="1300" dirty="0" err="1">
                <a:latin typeface="맑은 고딕"/>
              </a:rPr>
              <a:t>않습니다</a:t>
            </a:r>
            <a:r>
              <a:rPr sz="1300" dirty="0">
                <a:latin typeface="맑은 고딕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300" b="1">
                <a:latin typeface="맑은 고딕"/>
              </a:rPr>
              <a:t>[6:50–7:40 · 50초]</a:t>
            </a:r>
          </a:p>
          <a:p>
            <a:r>
              <a:rPr sz="1300">
                <a:latin typeface="맑은 고딕"/>
              </a:rPr>
              <a:t>구조 차이는 두 가지만 짚고 넘어갑니다.</a:t>
            </a:r>
          </a:p>
          <a:p>
            <a:endParaRPr sz="1300">
              <a:latin typeface="맑은 고딕"/>
            </a:endParaRPr>
          </a:p>
          <a:p>
            <a:r>
              <a:rPr sz="1300">
                <a:latin typeface="맑은 고딕"/>
              </a:rPr>
              <a:t>· 네트워크 경계가 2개에서 1개로 줄어듭니다.</a:t>
            </a:r>
          </a:p>
          <a:p>
            <a:r>
              <a:rPr sz="1300">
                <a:latin typeface="맑은 고딕"/>
              </a:rPr>
              <a:t>· 외부 모델 호출이 사라집니다. 질의문이 DB 경계를 벗어나지 않습니다.</a:t>
            </a:r>
          </a:p>
          <a:p>
            <a:endParaRPr sz="1300">
              <a:latin typeface="맑은 고딕"/>
            </a:endParaRPr>
          </a:p>
          <a:p>
            <a:r>
              <a:rPr sz="1300">
                <a:latin typeface="맑은 고딕"/>
              </a:rPr>
              <a:t>★ 한 가지 반드시 덧붙이세요 — 검색 규칙(벡터 유사도 + 메타데이터 필터 + 출처 우선순위)과</a:t>
            </a:r>
          </a:p>
          <a:p>
            <a:r>
              <a:rPr sz="1300">
                <a:latin typeface="맑은 고딕"/>
              </a:rPr>
              <a:t>  그 파라미터는 세 조건에서 똑같이 유지했습니다. 안 그러면 비교가 성립하지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300" b="1">
                <a:latin typeface="맑은 고딕"/>
              </a:rPr>
              <a:t>[7:40–8:40 · 60초]</a:t>
            </a:r>
          </a:p>
          <a:p>
            <a:r>
              <a:rPr sz="1300">
                <a:latin typeface="맑은 고딕"/>
              </a:rPr>
              <a:t>표는 읽지 말고 '무엇이 한 칸씩만 다른가'를 보여주세요.</a:t>
            </a:r>
          </a:p>
          <a:p>
            <a:endParaRPr sz="1300">
              <a:latin typeface="맑은 고딕"/>
            </a:endParaRPr>
          </a:p>
          <a:p>
            <a:r>
              <a:rPr sz="1300">
                <a:latin typeface="맑은 고딕"/>
              </a:rPr>
              <a:t>· A와 B는 저장소 행만 다릅니다.</a:t>
            </a:r>
          </a:p>
          <a:p>
            <a:r>
              <a:rPr sz="1300">
                <a:latin typeface="맑은 고딕"/>
              </a:rPr>
              <a:t>· B와 C는 임베딩 모델과 위치 행이 다릅니다.</a:t>
            </a:r>
          </a:p>
          <a:p>
            <a:r>
              <a:rPr sz="1300">
                <a:latin typeface="맑은 고딕"/>
              </a:rPr>
              <a:t>· 코퍼스는 실운영 리뷰 1,347개 청크, 질의는 43개로 고정했습니다.</a:t>
            </a:r>
          </a:p>
          <a:p>
            <a:r>
              <a:rPr sz="1300">
                <a:latin typeface="맑은 고딕"/>
              </a:rPr>
              <a:t>· 지표는 셋입니다 — 검색 결과가 얼마나 겹치는지, 근거가 얼마나 관련 있는지, 얼마나 걸리는지.</a:t>
            </a:r>
          </a:p>
          <a:p>
            <a:endParaRPr sz="1300">
              <a:latin typeface="맑은 고딕"/>
            </a:endParaRPr>
          </a:p>
          <a:p>
            <a:r>
              <a:rPr sz="1300">
                <a:latin typeface="맑은 고딕"/>
              </a:rPr>
              <a:t>관련성은 LLM이 0~2점으로 채점했고, 신뢰구간은 부트스트랩 1만 회로 구했습니다.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300" b="1">
                <a:latin typeface="맑은 고딕"/>
              </a:rPr>
              <a:t>[8:40–10:00 · 80초]</a:t>
            </a:r>
          </a:p>
          <a:p>
            <a:r>
              <a:rPr sz="1300">
                <a:latin typeface="맑은 고딕"/>
              </a:rPr>
              <a:t>저장소만 바꾼 경우입니다.</a:t>
            </a:r>
          </a:p>
          <a:p>
            <a:endParaRPr sz="1300">
              <a:latin typeface="맑은 고딕"/>
            </a:endParaRPr>
          </a:p>
          <a:p>
            <a:r>
              <a:rPr sz="1300">
                <a:latin typeface="맑은 고딕"/>
              </a:rPr>
              <a:t>· top-10 자카드 0.971. 43개 질의 중 37개는 상위 10개가 완전히 같았습니다.</a:t>
            </a:r>
          </a:p>
          <a:p>
            <a:r>
              <a:rPr sz="1300">
                <a:latin typeface="맑은 고딕"/>
              </a:rPr>
              <a:t>· 관련성 점수 차이는 −0.042, p는 0.523으로 유의하지 않고 효과크기도 무시할 수준입니다.</a:t>
            </a:r>
          </a:p>
          <a:p>
            <a:r>
              <a:rPr sz="1300">
                <a:latin typeface="맑은 고딕"/>
              </a:rPr>
              <a:t>· 기준 시스템이 근사 인덱스 때문에 놓친 결과는 1.6% 정도입니다.</a:t>
            </a:r>
          </a:p>
          <a:p>
            <a:endParaRPr sz="1300">
              <a:latin typeface="맑은 고딕"/>
            </a:endParaRPr>
          </a:p>
          <a:p>
            <a:r>
              <a:rPr sz="1300">
                <a:latin typeface="맑은 고딕"/>
              </a:rPr>
              <a:t>즉, 저장소를 바꾼 것만으로는 검색 품질의 변화가 검출되지 않았습니다.</a:t>
            </a:r>
          </a:p>
          <a:p>
            <a:r>
              <a:rPr sz="1300">
                <a:latin typeface="맑은 고딕"/>
              </a:rPr>
              <a:t>(다음 장과 대비되므로 숫자를 또렷하게 말하고 넘어가세요)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300" b="1">
                <a:latin typeface="맑은 고딕"/>
              </a:rPr>
              <a:t>[10:00–11:50 · 110초]  ★ 대비가 살아나는 지점</a:t>
            </a:r>
          </a:p>
          <a:p>
            <a:endParaRPr sz="1300" b="1">
              <a:latin typeface="맑은 고딕"/>
            </a:endParaRPr>
          </a:p>
          <a:p>
            <a:r>
              <a:rPr sz="1300">
                <a:latin typeface="맑은 고딕"/>
              </a:rPr>
              <a:t>· 같은 저장소, 같은 검색 방식인데 자카드가 0.175로 떨어집니다.</a:t>
            </a:r>
          </a:p>
          <a:p>
            <a:r>
              <a:rPr sz="1300">
                <a:latin typeface="맑은 고딕"/>
              </a:rPr>
              <a:t>  앞 장의 0.971과 비교해서 말씀하세요. 같은 질의에 대해 대체로 다른 근거가 나옵니다.</a:t>
            </a:r>
          </a:p>
          <a:p>
            <a:r>
              <a:rPr sz="1300">
                <a:latin typeface="맑은 고딕"/>
              </a:rPr>
              <a:t>· 관련성은 1.270에서 1.014로, p는 0.003, 효과크기는 0.473으로 중간 크기입니다.</a:t>
            </a:r>
          </a:p>
          <a:p>
            <a:endParaRPr sz="1300">
              <a:latin typeface="맑은 고딕"/>
            </a:endParaRPr>
          </a:p>
          <a:p>
            <a:r>
              <a:rPr sz="1300">
                <a:latin typeface="맑은 고딕"/>
              </a:rPr>
              <a:t>★ 이 발표의 결론 문장 —</a:t>
            </a:r>
          </a:p>
          <a:p>
            <a:r>
              <a:rPr sz="1300">
                <a:latin typeface="맑은 고딕"/>
              </a:rPr>
              <a:t>  A→B에서 저장소 효과가 검출되지 않았으므로, 전체 품질 변화는 사실상 전부</a:t>
            </a:r>
          </a:p>
          <a:p>
            <a:r>
              <a:rPr sz="1300">
                <a:latin typeface="맑은 고딕"/>
              </a:rPr>
              <a:t>  '위치 요인과 거기 딸려 온 모델 크기 제한' 때문입니다.</a:t>
            </a:r>
          </a:p>
          <a:p>
            <a:endParaRPr sz="1300">
              <a:latin typeface="맑은 고딕"/>
            </a:endParaRPr>
          </a:p>
          <a:p>
            <a:r>
              <a:rPr sz="1300">
                <a:latin typeface="맑은 고딕"/>
              </a:rPr>
              <a:t>★ 그리고 실무적 함의 —</a:t>
            </a:r>
          </a:p>
          <a:p>
            <a:r>
              <a:rPr sz="1300">
                <a:latin typeface="맑은 고딕"/>
              </a:rPr>
              <a:t>  만약 전후 비교만 했다면 관련성 20% 하락을 저장소 탓으로 돌렸을 겁니다.</a:t>
            </a:r>
          </a:p>
          <a:p>
            <a:r>
              <a:rPr sz="1300">
                <a:latin typeface="맑은 고딕"/>
              </a:rPr>
              <a:t>  그 진단을 따라 저장소를 되돌려도 품질은 회복되지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300" b="1">
                <a:latin typeface="맑은 고딕"/>
              </a:rPr>
              <a:t>[11:50–12:50 · 60초]</a:t>
            </a:r>
          </a:p>
          <a:p>
            <a:r>
              <a:rPr sz="1300">
                <a:latin typeface="맑은 고딕"/>
              </a:rPr>
              <a:t>여기는 솔직하게 말하는 대목입니다. 심사에서도 이 부분을 좋게 봤습니다.</a:t>
            </a:r>
          </a:p>
          <a:p>
            <a:endParaRPr sz="1300">
              <a:latin typeface="맑은 고딕"/>
            </a:endParaRPr>
          </a:p>
          <a:p>
            <a:r>
              <a:rPr sz="1300">
                <a:latin typeface="맑은 고딕"/>
              </a:rPr>
              <a:t>· '차이가 없다'가 우리 주장이라면, 유의하지 않은 p값에 기대면 안 됩니다.</a:t>
            </a:r>
          </a:p>
          <a:p>
            <a:r>
              <a:rPr sz="1300">
                <a:latin typeface="맑은 고딕"/>
              </a:rPr>
              <a:t>· 그래서 ±0.15점 범위로 등가성 검정을 따로 돌렸습니다. 결과는 p = 0.052로 미달입니다.</a:t>
            </a:r>
          </a:p>
          <a:p>
            <a:r>
              <a:rPr sz="1300">
                <a:latin typeface="맑은 고딕"/>
              </a:rPr>
              <a:t>  신뢰구간 하한 −0.172가 범위를 벗어났습니다.</a:t>
            </a:r>
          </a:p>
          <a:p>
            <a:r>
              <a:rPr sz="1300">
                <a:latin typeface="맑은 고딕"/>
              </a:rPr>
              <a:t>· 그래서 '동등함이 입증됐다'가 아니라 '효과가 검출되지 않았고 크기는 작은 범위로</a:t>
            </a:r>
          </a:p>
          <a:p>
            <a:r>
              <a:rPr sz="1300">
                <a:latin typeface="맑은 고딕"/>
              </a:rPr>
              <a:t>  제한된다'고 보고합니다.</a:t>
            </a:r>
          </a:p>
          <a:p>
            <a:r>
              <a:rPr sz="1300">
                <a:latin typeface="맑은 고딕"/>
              </a:rPr>
              <a:t>· 다만 구간이 벌어진 방향은 목표 저장소가 오히려 높은 쪽이라,</a:t>
            </a:r>
          </a:p>
          <a:p>
            <a:r>
              <a:rPr sz="1300">
                <a:latin typeface="맑은 고딕"/>
              </a:rPr>
              <a:t>  저장소 교체가 품질을 떨어뜨렸다고 볼 근거는 없습니다.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300" b="1">
                <a:latin typeface="맑은 고딕"/>
              </a:rPr>
              <a:t>[12:50–14:20 · 90초]</a:t>
            </a:r>
          </a:p>
          <a:p>
            <a:r>
              <a:rPr sz="1300">
                <a:latin typeface="맑은 고딕"/>
              </a:rPr>
              <a:t>· 방법 — 브리지 조건 하나면 전후 비교가 단일 요인 비교 두 개로 쪼개집니다.</a:t>
            </a:r>
          </a:p>
          <a:p>
            <a:r>
              <a:rPr sz="1300">
                <a:latin typeface="맑은 고딕"/>
              </a:rPr>
              <a:t>· 관측 — 저장소 효과는 검출되지 않았고 변화는 전부 위치에서 왔습니다.</a:t>
            </a:r>
          </a:p>
          <a:p>
            <a:endParaRPr sz="1300">
              <a:latin typeface="맑은 고딕"/>
            </a:endParaRPr>
          </a:p>
          <a:p>
            <a:r>
              <a:rPr sz="1300">
                <a:latin typeface="맑은 고딕"/>
              </a:rPr>
              <a:t>★ 한 문장으로 남길 메시지 —</a:t>
            </a:r>
          </a:p>
          <a:p>
            <a:r>
              <a:rPr sz="1300">
                <a:latin typeface="맑은 고딕"/>
              </a:rPr>
              <a:t>  위치를 옮기는 것은 성능의 교환이 아니라 거버넌스의 교환입니다.</a:t>
            </a:r>
          </a:p>
          <a:p>
            <a:r>
              <a:rPr sz="1300">
                <a:latin typeface="맑은 고딕"/>
              </a:rPr>
              <a:t>  질의와 원문을 DB 경계 안에 두는 대가로, 품을 수 있는 모델의 크기와</a:t>
            </a:r>
          </a:p>
          <a:p>
            <a:r>
              <a:rPr sz="1300">
                <a:latin typeface="맑은 고딕"/>
              </a:rPr>
              <a:t>  그 DB 등급의 추론 성능을 받아들이는 겁니다.</a:t>
            </a:r>
          </a:p>
          <a:p>
            <a:endParaRPr sz="1300">
              <a:latin typeface="맑은 고딕"/>
            </a:endParaRPr>
          </a:p>
          <a:p>
            <a:r>
              <a:rPr sz="1300">
                <a:latin typeface="맑은 고딕"/>
              </a:rPr>
              <a:t>실무 기준 두 가지로 마무리합니다.</a:t>
            </a:r>
          </a:p>
          <a:p>
            <a:r>
              <a:rPr sz="1300">
                <a:latin typeface="맑은 고딕"/>
              </a:rPr>
              <a:t>· 저장 데이터의 거버넌스만 목적이면 저장소만 바꿔도 충분합니다.</a:t>
            </a:r>
          </a:p>
          <a:p>
            <a:r>
              <a:rPr sz="1300">
                <a:latin typeface="맑은 고딕"/>
              </a:rPr>
              <a:t>· 질의 경로까지 경계 안에 둬야 한다면, 품을 수 있는 최대 모델이 그 도메인에</a:t>
            </a:r>
          </a:p>
          <a:p>
            <a:r>
              <a:rPr sz="1300">
                <a:latin typeface="맑은 고딕"/>
              </a:rPr>
              <a:t>  충분한지 먼저 확인해야 합니다. 브리지 조건이 그 확인을 이전 전에 가능하게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sz="1300" b="1">
                <a:latin typeface="맑은 고딕"/>
              </a:rPr>
              <a:t>[14:20–15:00 · 40초] 그리고 질의응답 5분</a:t>
            </a:r>
          </a:p>
          <a:p>
            <a:endParaRPr sz="1300" b="1">
              <a:latin typeface="맑은 고딕"/>
            </a:endParaRPr>
          </a:p>
          <a:p>
            <a:r>
              <a:rPr sz="1300">
                <a:latin typeface="맑은 고딕"/>
              </a:rPr>
              <a:t>한계는 빠르게 넘어갑니다.</a:t>
            </a:r>
          </a:p>
          <a:p>
            <a:r>
              <a:rPr sz="1300">
                <a:latin typeface="맑은 고딕"/>
              </a:rPr>
              <a:t>· 단일 한국어 코퍼스, 사람 평가자 미참여, 엔트리급 인스턴스.</a:t>
            </a:r>
          </a:p>
          <a:p>
            <a:r>
              <a:rPr sz="1300">
                <a:latin typeface="맑은 고딕"/>
              </a:rPr>
              <a:t>· 설계상 위치와 모델 크기가 묶여 있습니다. 이걸 떼려면 작은 모델을 DB 밖에서 돌리는</a:t>
            </a:r>
          </a:p>
          <a:p>
            <a:r>
              <a:rPr sz="1300">
                <a:latin typeface="맑은 고딕"/>
              </a:rPr>
              <a:t>  네 번째 조건이 필요하고, 향후 과제로 남겨두었습니다.</a:t>
            </a:r>
          </a:p>
          <a:p>
            <a:endParaRPr sz="1300">
              <a:latin typeface="맑은 고딕"/>
            </a:endParaRPr>
          </a:p>
          <a:p>
            <a:r>
              <a:rPr sz="1300">
                <a:latin typeface="맑은 고딕"/>
              </a:rPr>
              <a:t>감사합니다. — 여기서 질문을 받습니다.</a:t>
            </a:r>
          </a:p>
          <a:p>
            <a:endParaRPr sz="1300">
              <a:latin typeface="맑은 고딕"/>
            </a:endParaRPr>
          </a:p>
          <a:p>
            <a:r>
              <a:rPr sz="1300">
                <a:latin typeface="맑은 고딕"/>
              </a:rPr>
              <a:t>── 예상 질문 대비 ──────────────────────────────</a:t>
            </a:r>
          </a:p>
          <a:p>
            <a:r>
              <a:rPr sz="1300" b="1">
                <a:latin typeface="맑은 고딕"/>
              </a:rPr>
              <a:t>Q. 특정 제품이 더 낫다는 주장인가요?</a:t>
            </a:r>
          </a:p>
          <a:p>
            <a:r>
              <a:rPr sz="1300">
                <a:latin typeface="맑은 고딕"/>
              </a:rPr>
              <a:t>A. 아닙니다. 제품의 우열을 가리는 연구가 아니라, 이전의 효과를 요인별로 나누는 실험 설계를</a:t>
            </a:r>
          </a:p>
          <a:p>
            <a:r>
              <a:rPr sz="1300">
                <a:latin typeface="맑은 고딕"/>
              </a:rPr>
              <a:t>   제안한 것입니다. 융합형 DB로 가는 이전 일반에 적용됩니다.</a:t>
            </a:r>
          </a:p>
          <a:p>
            <a:endParaRPr sz="1300">
              <a:latin typeface="맑은 고딕"/>
            </a:endParaRPr>
          </a:p>
          <a:p>
            <a:r>
              <a:rPr sz="1300" b="1">
                <a:latin typeface="맑은 고딕"/>
              </a:rPr>
              <a:t>Q. 지연시간이 8배면 실용성이 없는 것 아닌가요?</a:t>
            </a:r>
          </a:p>
          <a:p>
            <a:r>
              <a:rPr sz="1300">
                <a:latin typeface="맑은 고딕"/>
              </a:rPr>
              <a:t>A. 그 수치는 무료 등급 인스턴스에서 추론을 돌린 결과이지 in-database 임베딩 자체의 성질이</a:t>
            </a:r>
          </a:p>
          <a:p>
            <a:r>
              <a:rPr sz="1300">
                <a:latin typeface="맑은 고딕"/>
              </a:rPr>
              <a:t>   아닙니다. 상위 하드웨어로 일반화할 수 없다고 논문에도 명시했습니다.</a:t>
            </a:r>
          </a:p>
          <a:p>
            <a:endParaRPr sz="1300">
              <a:latin typeface="맑은 고딕"/>
            </a:endParaRPr>
          </a:p>
          <a:p>
            <a:r>
              <a:rPr sz="1300" b="1">
                <a:latin typeface="맑은 고딕"/>
              </a:rPr>
              <a:t>Q. B와 C는 모델이 다른데 공정한 비교인가요?</a:t>
            </a:r>
          </a:p>
          <a:p>
            <a:r>
              <a:rPr sz="1300">
                <a:latin typeface="맑은 고딕"/>
              </a:rPr>
              <a:t>A. 그 결합이 바로 이 연구가 드러내려는 지점입니다. DB가 품을 수 있는 모델 크기에 제한이</a:t>
            </a:r>
          </a:p>
          <a:p>
            <a:r>
              <a:rPr sz="1300">
                <a:latin typeface="맑은 고딕"/>
              </a:rPr>
              <a:t>   있어서, 위치를 안으로 옮기면 모델이 따라 바뀝니다. 의도적으로 결합을 남겨 두었고,</a:t>
            </a:r>
          </a:p>
          <a:p>
            <a:r>
              <a:rPr sz="1300">
                <a:latin typeface="맑은 고딕"/>
              </a:rPr>
              <a:t>   분리하려면 네 번째 조건이 필요하다고 밝혔습니다.</a:t>
            </a:r>
          </a:p>
          <a:p>
            <a:endParaRPr sz="1300">
              <a:latin typeface="맑은 고딕"/>
            </a:endParaRPr>
          </a:p>
          <a:p>
            <a:r>
              <a:rPr sz="1300" b="1">
                <a:latin typeface="맑은 고딕"/>
              </a:rPr>
              <a:t>Q. 질의 43개는 너무 적지 않나요?</a:t>
            </a:r>
          </a:p>
          <a:p>
            <a:r>
              <a:rPr sz="1300">
                <a:latin typeface="맑은 고딕"/>
              </a:rPr>
              <a:t>A. 한계로 인정합니다. 다만 43개 중 13개는 실제 운영 로그에서 뽑았고, 합성 질의와 실제 질의를</a:t>
            </a:r>
          </a:p>
          <a:p>
            <a:r>
              <a:rPr sz="1300">
                <a:latin typeface="맑은 고딕"/>
              </a:rPr>
              <a:t>   나눠 검증했을 때 '원인 귀속의 근거'가 되는 검색 일치도에서는 두 집단 간 유의한 차이가</a:t>
            </a:r>
          </a:p>
          <a:p>
            <a:r>
              <a:rPr sz="1300">
                <a:latin typeface="맑은 고딕"/>
              </a:rPr>
              <a:t>   없었습니다(p = 0.441, 0.570).</a:t>
            </a:r>
          </a:p>
          <a:p>
            <a:endParaRPr sz="1300">
              <a:latin typeface="맑은 고딕"/>
            </a:endParaRPr>
          </a:p>
          <a:p>
            <a:r>
              <a:rPr sz="1300" b="1">
                <a:latin typeface="맑은 고딕"/>
              </a:rPr>
              <a:t>Q. 왜 하필 자카드인가요?</a:t>
            </a:r>
          </a:p>
          <a:p>
            <a:r>
              <a:rPr sz="1300">
                <a:latin typeface="맑은 고딕"/>
              </a:rPr>
              <a:t>A. 두 조건이 같은 질의에 대해 같은 근거를 가져오는지를 집합 수준에서 보기 위해서입니다.</a:t>
            </a:r>
          </a:p>
          <a:p>
            <a:r>
              <a:rPr sz="1300">
                <a:latin typeface="맑은 고딕"/>
              </a:rPr>
              <a:t>   순위 유사도(스피어만)와 정확 검색 대비 재현율도 함께 측정했습니다.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>
              <a:defRPr/>
            </a:pPr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EA2485B4-4CD5-433A-9C5E-1F9D9E18D170}" type="datetime1">
              <a:rPr lang="ko-KR" altLang="en-US"/>
              <a:pPr lvl="0">
                <a:defRPr/>
              </a:pPr>
              <a:t>2026. 8. 11.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1C71F60-5500-4FC4-A037-67ABFCE0E1C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EA2485B4-4CD5-433A-9C5E-1F9D9E18D170}" type="datetime1">
              <a:rPr lang="ko-KR" altLang="en-US"/>
              <a:pPr lvl="0">
                <a:defRPr/>
              </a:pPr>
              <a:t>2026. 8. 11.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1C71F60-5500-4FC4-A037-67ABFCE0E1C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EA2485B4-4CD5-433A-9C5E-1F9D9E18D170}" type="datetime1">
              <a:rPr lang="ko-KR" altLang="en-US"/>
              <a:pPr lvl="0">
                <a:defRPr/>
              </a:pPr>
              <a:t>2026. 8. 11.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1C71F60-5500-4FC4-A037-67ABFCE0E1C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EA2485B4-4CD5-433A-9C5E-1F9D9E18D170}" type="datetime1">
              <a:rPr lang="ko-KR" altLang="en-US"/>
              <a:pPr lvl="0">
                <a:defRPr/>
              </a:pPr>
              <a:t>2026. 8. 11.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1C71F60-5500-4FC4-A037-67ABFCE0E1C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EA2485B4-4CD5-433A-9C5E-1F9D9E18D170}" type="datetime1">
              <a:rPr lang="ko-KR" altLang="en-US"/>
              <a:pPr lvl="0">
                <a:defRPr/>
              </a:pPr>
              <a:t>2026. 8. 11.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1C71F60-5500-4FC4-A037-67ABFCE0E1C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EA2485B4-4CD5-433A-9C5E-1F9D9E18D170}" type="datetime1">
              <a:rPr lang="ko-KR" altLang="en-US"/>
              <a:pPr lvl="0">
                <a:defRPr/>
              </a:pPr>
              <a:t>2026. 8. 11.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1C71F60-5500-4FC4-A037-67ABFCE0E1C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EA2485B4-4CD5-433A-9C5E-1F9D9E18D170}" type="datetime1">
              <a:rPr lang="ko-KR" altLang="en-US"/>
              <a:pPr lvl="0">
                <a:defRPr/>
              </a:pPr>
              <a:t>2026. 8. 11.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1C71F60-5500-4FC4-A037-67ABFCE0E1C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EA2485B4-4CD5-433A-9C5E-1F9D9E18D170}" type="datetime1">
              <a:rPr lang="ko-KR" altLang="en-US"/>
              <a:pPr lvl="0">
                <a:defRPr/>
              </a:pPr>
              <a:t>2026. 8. 11.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1C71F60-5500-4FC4-A037-67ABFCE0E1C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EA2485B4-4CD5-433A-9C5E-1F9D9E18D170}" type="datetime1">
              <a:rPr lang="ko-KR" altLang="en-US"/>
              <a:pPr lvl="0">
                <a:defRPr/>
              </a:pPr>
              <a:t>2026. 8. 11.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1C71F60-5500-4FC4-A037-67ABFCE0E1C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EA2485B4-4CD5-433A-9C5E-1F9D9E18D170}" type="datetime1">
              <a:rPr lang="ko-KR" altLang="en-US"/>
              <a:pPr lvl="0">
                <a:defRPr/>
              </a:pPr>
              <a:t>2026. 8. 11.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1C71F60-5500-4FC4-A037-67ABFCE0E1C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제목 슬라이드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/>
          <p:cNvSpPr>
            <a:spLocks noGrp="1"/>
          </p:cNvSpPr>
          <p:nvPr>
            <p:ph type="title"/>
          </p:nvPr>
        </p:nvSpPr>
        <p:spPr>
          <a:xfrm>
            <a:off x="514350" y="241300"/>
            <a:ext cx="4410075" cy="473075"/>
          </a:xfrm>
          <a:prstGeom prst="rect">
            <a:avLst/>
          </a:prstGeom>
        </p:spPr>
        <p:txBody>
          <a:bodyPr/>
          <a:lstStyle>
            <a:lvl1pPr>
              <a:defRPr sz="2800" b="1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EA2485B4-4CD5-433A-9C5E-1F9D9E18D170}" type="datetime1">
              <a:rPr lang="ko-KR" altLang="en-US"/>
              <a:pPr lvl="0">
                <a:defRPr/>
              </a:pPr>
              <a:t>2026. 8. 11.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1C71F60-5500-4FC4-A037-67ABFCE0E1C4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테마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EA2485B4-4CD5-433A-9C5E-1F9D9E18D170}" type="datetime1">
              <a:rPr lang="ko-KR" altLang="en-US"/>
              <a:pPr lvl="0">
                <a:defRPr/>
              </a:pPr>
              <a:t>2026. 8. 11.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ko-KR" altLang="en-US"/>
              <a:t>                                        </a:t>
            </a:r>
            <a:fld id="{01C71F60-5500-4FC4-A037-67ABFCE0E1C4}" type="slidenum">
              <a:rPr lang="ko-KR" altLang="en-US"/>
              <a:pPr lvl="0">
                <a:defRPr/>
              </a:pPr>
              <a:t>‹#›</a:t>
            </a:fld>
            <a:r>
              <a:rPr lang="ko-KR" altLang="en-US"/>
              <a:t>    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</p:sldLayoutIdLst>
  <p:transition/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sp>
        <p:nvSpPr>
          <p:cNvPr id="24" name="직사각형 23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cxnSp>
        <p:nvCxnSpPr>
          <p:cNvPr id="30" name="직선 연결선 29"/>
          <p:cNvCxnSpPr/>
          <p:nvPr/>
        </p:nvCxnSpPr>
        <p:spPr>
          <a:xfrm>
            <a:off x="2377440" y="3127248"/>
            <a:ext cx="7434072" cy="0"/>
          </a:xfrm>
          <a:prstGeom prst="line">
            <a:avLst/>
          </a:prstGeom>
          <a:ln w="25400">
            <a:solidFill>
              <a:srgbClr val="3375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22960" y="1481328"/>
            <a:ext cx="10543032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00000"/>
                </a:solidFill>
                <a:latin typeface="맑은 고딕"/>
                <a:ea typeface="맑은 고딕"/>
              </a:rPr>
              <a:t>A Factor Decomposition Method for Separating</a:t>
            </a:r>
          </a:p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00000"/>
                </a:solidFill>
                <a:latin typeface="맑은 고딕"/>
                <a:ea typeface="맑은 고딕"/>
              </a:rPr>
              <a:t>Store Substitution and Embedding Placement Effects</a:t>
            </a:r>
          </a:p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000000"/>
                </a:solidFill>
                <a:latin typeface="맑은 고딕"/>
                <a:ea typeface="맑은 고딕"/>
              </a:rPr>
              <a:t>in Vector Database Migration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3383280"/>
            <a:ext cx="9994392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27E7F"/>
                </a:solidFill>
                <a:latin typeface="맑은 고딕"/>
                <a:ea typeface="맑은 고딕"/>
              </a:rPr>
              <a:t>벡터 데이터베이스 이전에서 저장소 교체와 임베딩 위치 효과의 분리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4315968"/>
            <a:ext cx="9994392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000000"/>
                </a:solidFill>
                <a:latin typeface="맑은 고딕"/>
                <a:ea typeface="맑은 고딕"/>
              </a:rPr>
              <a:t>2026 International Conference on PyGeek</a:t>
            </a:r>
          </a:p>
          <a:p>
            <a:pPr algn="ctr">
              <a:spcBef>
                <a:spcPts val="0"/>
              </a:spcBef>
              <a:spcAft>
                <a:spcPts val="700"/>
              </a:spcAft>
            </a:pPr>
            <a:r>
              <a:rPr sz="1400" b="0">
                <a:solidFill>
                  <a:srgbClr val="5A5A5A"/>
                </a:solidFill>
                <a:latin typeface="맑은 고딕"/>
                <a:ea typeface="맑은 고딕"/>
              </a:rPr>
              <a:t>August 20, 2026  ·  Hongik University, Seoul</a:t>
            </a:r>
          </a:p>
          <a:p>
            <a:pPr algn="ctr">
              <a:spcBef>
                <a:spcPts val="0"/>
              </a:spcBef>
              <a:spcAft>
                <a:spcPts val="700"/>
              </a:spcAft>
            </a:pPr>
            <a:endParaRPr sz="1400" b="0">
              <a:solidFill>
                <a:srgbClr val="5A5A5A"/>
              </a:solidFill>
              <a:latin typeface="맑은 고딕"/>
              <a:ea typeface="맑은 고딕"/>
            </a:endParaRPr>
          </a:p>
          <a:p>
            <a:pPr algn="ctr">
              <a:spcBef>
                <a:spcPts val="0"/>
              </a:spcBef>
              <a:spcAft>
                <a:spcPts val="700"/>
              </a:spcAft>
            </a:pPr>
            <a:r>
              <a:rPr sz="1300" b="1">
                <a:solidFill>
                  <a:srgbClr val="000000"/>
                </a:solidFill>
                <a:latin typeface="맑은 고딕"/>
                <a:ea typeface="맑은 고딕"/>
              </a:rPr>
              <a:t>Junha Yoon · Ohhyeon Gwon · Junhaeng Lee · Hyeji Roh · Soowan Cho · Suhee Kim · SangSoon Lim</a:t>
            </a:r>
          </a:p>
          <a:p>
            <a:pPr algn="ctr">
              <a:spcBef>
                <a:spcPts val="0"/>
              </a:spcBef>
              <a:spcAft>
                <a:spcPts val="700"/>
              </a:spcAft>
            </a:pPr>
            <a:r>
              <a:rPr sz="1200" b="0">
                <a:solidFill>
                  <a:srgbClr val="827E7F"/>
                </a:solidFill>
                <a:latin typeface="맑은 고딕"/>
                <a:ea typeface="맑은 고딕"/>
              </a:rPr>
              <a:t>Sungkyul University · Chung-Ang University · Deep Insight Lab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0" y="305691"/>
            <a:ext cx="617636" cy="386952"/>
          </a:xfrm>
          <a:prstGeom prst="rect">
            <a:avLst/>
          </a:prstGeom>
          <a:solidFill>
            <a:srgbClr val="3375BE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274320"/>
            <a:ext cx="1032357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At a Glance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859536"/>
            <a:ext cx="10323576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5A5A"/>
                </a:solidFill>
                <a:latin typeface="맑은 고딕"/>
                <a:ea typeface="맑은 고딕"/>
              </a:rPr>
              <a:t>DB를 바꿨더니 품질이 변했다 — 저장소 탓인가, 임베딩 위치 탓인가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1384311"/>
            <a:ext cx="10323576" cy="46141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8000"/>
              </a:lnSpc>
              <a:spcBef>
                <a:spcPts val="600"/>
              </a:spcBef>
              <a:spcAft>
                <a:spcPts val="400"/>
              </a:spcAft>
            </a:pPr>
            <a:r>
              <a:rPr sz="1900" b="1" dirty="0">
                <a:solidFill>
                  <a:srgbClr val="000000"/>
                </a:solidFill>
                <a:latin typeface="맑은 고딕"/>
                <a:ea typeface="맑은 고딕"/>
              </a:rPr>
              <a:t>Quality changed after the migration. Which change caused it?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endParaRPr sz="1900" b="1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>
              <a:lnSpc>
                <a:spcPct val="128000"/>
              </a:lnSpc>
              <a:spcBef>
                <a:spcPts val="400"/>
              </a:spcBef>
              <a:spcAft>
                <a:spcPts val="300"/>
              </a:spcAft>
            </a:pPr>
            <a:r>
              <a:rPr sz="1700" b="1" dirty="0">
                <a:solidFill>
                  <a:srgbClr val="3375BE"/>
                </a:solidFill>
                <a:latin typeface="맑은 고딕"/>
                <a:ea typeface="맑은 고딕"/>
              </a:rPr>
              <a:t>Problem · </a:t>
            </a:r>
            <a:r>
              <a:rPr sz="1700" b="1" dirty="0" err="1">
                <a:solidFill>
                  <a:srgbClr val="3375BE"/>
                </a:solidFill>
                <a:latin typeface="맑은 고딕"/>
                <a:ea typeface="맑은 고딕"/>
              </a:rPr>
              <a:t>문제</a:t>
            </a:r>
            <a:endParaRPr sz="1700" b="1" dirty="0">
              <a:solidFill>
                <a:srgbClr val="3375BE"/>
              </a:solidFill>
              <a:latin typeface="맑은 고딕"/>
              <a:ea typeface="맑은 고딕"/>
            </a:endParaRP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dirty="0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600" b="0" dirty="0">
                <a:solidFill>
                  <a:srgbClr val="000000"/>
                </a:solidFill>
                <a:latin typeface="맑은 고딕"/>
                <a:ea typeface="맑은 고딕"/>
              </a:rPr>
              <a:t>Migrating the vector layer changes the store and the embedding placement at the same time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dirty="0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600" b="0" dirty="0">
                <a:solidFill>
                  <a:srgbClr val="000000"/>
                </a:solidFill>
                <a:latin typeface="맑은 고딕"/>
                <a:ea typeface="맑은 고딕"/>
              </a:rPr>
              <a:t>A single before-and-after comparison cannot tell which factor is responsible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endParaRPr sz="1600" b="0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>
              <a:lnSpc>
                <a:spcPct val="128000"/>
              </a:lnSpc>
              <a:spcBef>
                <a:spcPts val="400"/>
              </a:spcBef>
              <a:spcAft>
                <a:spcPts val="300"/>
              </a:spcAft>
            </a:pPr>
            <a:r>
              <a:rPr sz="1700" b="1" dirty="0">
                <a:solidFill>
                  <a:srgbClr val="3375BE"/>
                </a:solidFill>
                <a:latin typeface="맑은 고딕"/>
                <a:ea typeface="맑은 고딕"/>
              </a:rPr>
              <a:t>Proposal · </a:t>
            </a:r>
            <a:r>
              <a:rPr sz="1700" b="1" dirty="0" err="1">
                <a:solidFill>
                  <a:srgbClr val="3375BE"/>
                </a:solidFill>
                <a:latin typeface="맑은 고딕"/>
                <a:ea typeface="맑은 고딕"/>
              </a:rPr>
              <a:t>제안</a:t>
            </a:r>
            <a:endParaRPr sz="1700" b="1" dirty="0">
              <a:solidFill>
                <a:srgbClr val="3375BE"/>
              </a:solidFill>
              <a:latin typeface="맑은 고딕"/>
              <a:ea typeface="맑은 고딕"/>
            </a:endParaRP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dirty="0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600" b="0" dirty="0">
                <a:solidFill>
                  <a:srgbClr val="000000"/>
                </a:solidFill>
                <a:latin typeface="맑은 고딕"/>
                <a:ea typeface="맑은 고딕"/>
              </a:rPr>
              <a:t>Insert one intermediate condition — a bridge condition — so that one comparison splits into two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dirty="0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600" b="0" dirty="0">
                <a:solidFill>
                  <a:srgbClr val="000000"/>
                </a:solidFill>
                <a:latin typeface="맑은 고딕"/>
                <a:ea typeface="맑은 고딕"/>
              </a:rPr>
              <a:t>It needs no re-embedding, so it is inexpensive and leaves the running service untouched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endParaRPr sz="1600" b="0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>
              <a:lnSpc>
                <a:spcPct val="128000"/>
              </a:lnSpc>
              <a:spcBef>
                <a:spcPts val="400"/>
              </a:spcBef>
              <a:spcAft>
                <a:spcPts val="300"/>
              </a:spcAft>
            </a:pPr>
            <a:r>
              <a:rPr sz="1700" b="1" dirty="0">
                <a:solidFill>
                  <a:srgbClr val="3375BE"/>
                </a:solidFill>
                <a:latin typeface="맑은 고딕"/>
                <a:ea typeface="맑은 고딕"/>
              </a:rPr>
              <a:t>Result · </a:t>
            </a:r>
            <a:r>
              <a:rPr sz="1700" b="1" dirty="0" err="1">
                <a:solidFill>
                  <a:srgbClr val="3375BE"/>
                </a:solidFill>
                <a:latin typeface="맑은 고딕"/>
                <a:ea typeface="맑은 고딕"/>
              </a:rPr>
              <a:t>결과</a:t>
            </a:r>
            <a:endParaRPr sz="1700" b="1" dirty="0">
              <a:solidFill>
                <a:srgbClr val="3375BE"/>
              </a:solidFill>
              <a:latin typeface="맑은 고딕"/>
              <a:ea typeface="맑은 고딕"/>
            </a:endParaRP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dirty="0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600" b="0" dirty="0">
                <a:solidFill>
                  <a:srgbClr val="000000"/>
                </a:solidFill>
                <a:latin typeface="맑은 고딕"/>
                <a:ea typeface="맑은 고딕"/>
              </a:rPr>
              <a:t>No quality change was detected for the store substitution; virtually all of the observed change came from the embedding placement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0" y="305691"/>
            <a:ext cx="617636" cy="386952"/>
          </a:xfrm>
          <a:prstGeom prst="rect">
            <a:avLst/>
          </a:prstGeom>
          <a:solidFill>
            <a:srgbClr val="3375BE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274320"/>
            <a:ext cx="1032357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Background · The Vector Layer Changes Most Often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859536"/>
            <a:ext cx="10323576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5A5A"/>
                </a:solidFill>
                <a:latin typeface="맑은 고딕"/>
                <a:ea typeface="맑은 고딕"/>
              </a:rPr>
              <a:t>RAG에서 배포 후 가장 자주 바뀌는 것이 벡터 레이어다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2035637"/>
            <a:ext cx="10323576" cy="37925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8000"/>
              </a:lnSpc>
              <a:spcBef>
                <a:spcPts val="400"/>
              </a:spcBef>
              <a:spcAft>
                <a:spcPts val="300"/>
              </a:spcAft>
            </a:pPr>
            <a:r>
              <a:rPr sz="1800" b="1">
                <a:solidFill>
                  <a:srgbClr val="3375BE"/>
                </a:solidFill>
                <a:latin typeface="맑은 고딕"/>
                <a:ea typeface="맑은 고딕"/>
              </a:rPr>
              <a:t>Three components of a RAG system · RAG의 세 요소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Embedding model — turns queries and documents into vectors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Store — indexes and searches those vectors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Language model — generates an answer grounded in the retrieved evidence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endParaRPr sz="1700" b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>
              <a:lnSpc>
                <a:spcPct val="128000"/>
              </a:lnSpc>
              <a:spcBef>
                <a:spcPts val="400"/>
              </a:spcBef>
              <a:spcAft>
                <a:spcPts val="300"/>
              </a:spcAft>
            </a:pPr>
            <a:r>
              <a:rPr sz="1800" b="1">
                <a:solidFill>
                  <a:srgbClr val="3375BE"/>
                </a:solidFill>
                <a:latin typeface="맑은 고딕"/>
                <a:ea typeface="맑은 고딕"/>
              </a:rPr>
              <a:t>A representative migration path · 대표적인 이전 경로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General-purpose relational database with a vector extension  →  converged database with a vector type and an inference runtime inside it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That is, the database itself performs the embedding computation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endParaRPr sz="1700" b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>
              <a:lnSpc>
                <a:spcPct val="128000"/>
              </a:lnSpc>
              <a:spcBef>
                <a:spcPts val="500"/>
              </a:spcBef>
              <a:spcAft>
                <a:spcPts val="0"/>
              </a:spcAft>
            </a:pPr>
            <a:r>
              <a:rPr sz="1400" b="0">
                <a:solidFill>
                  <a:srgbClr val="827E7F"/>
                </a:solidFill>
                <a:latin typeface="맑은 고딕"/>
                <a:ea typeface="맑은 고딕"/>
              </a:rPr>
              <a:t>The effect of such a migration is usually assessed by an end-to-end comparison before and after the change.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0" y="305691"/>
            <a:ext cx="617636" cy="386952"/>
          </a:xfrm>
          <a:prstGeom prst="rect">
            <a:avLst/>
          </a:prstGeom>
          <a:solidFill>
            <a:srgbClr val="3375BE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274320"/>
            <a:ext cx="1032357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Problem · Two Things Change at Once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859536"/>
            <a:ext cx="10323576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5A5A"/>
                </a:solidFill>
                <a:latin typeface="맑은 고딕"/>
                <a:ea typeface="맑은 고딕"/>
              </a:rPr>
              <a:t>이전하면 저장소와 임베딩 위치가 동시에 바뀌어 원인을 가릴 수 없다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1973229"/>
            <a:ext cx="10323576" cy="391738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8000"/>
              </a:lnSpc>
              <a:spcBef>
                <a:spcPts val="400"/>
              </a:spcBef>
              <a:spcAft>
                <a:spcPts val="300"/>
              </a:spcAft>
            </a:pPr>
            <a:r>
              <a:rPr sz="1800" b="1">
                <a:solidFill>
                  <a:srgbClr val="3375BE"/>
                </a:solidFill>
                <a:latin typeface="맑은 고딕"/>
                <a:ea typeface="맑은 고딕"/>
              </a:rPr>
              <a:t>Two factors folded into a single migration · 한 번에 섞이는 두 요인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Store — the engine that holds the vectors and its indexing method (approximate or exact search)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Placement — whether the embedding is computed outside or inside the database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endParaRPr sz="1700" b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>
              <a:lnSpc>
                <a:spcPct val="128000"/>
              </a:lnSpc>
              <a:spcBef>
                <a:spcPts val="400"/>
              </a:spcBef>
              <a:spcAft>
                <a:spcPts val="300"/>
              </a:spcAft>
            </a:pPr>
            <a:r>
              <a:rPr sz="1800" b="1">
                <a:solidFill>
                  <a:srgbClr val="3375BE"/>
                </a:solidFill>
                <a:latin typeface="맑은 고딕"/>
                <a:ea typeface="맑은 고딕"/>
              </a:rPr>
              <a:t>They change together for a reason · 함께 바뀌는 데는 이유가 있다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A migration motivated by governance prefers to move the embedding inside as well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A database that hosts a model imposes a model size limit, so moving the placement drags the model capacity along with it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endParaRPr sz="1700" b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>
              <a:lnSpc>
                <a:spcPct val="128000"/>
              </a:lnSpc>
              <a:spcBef>
                <a:spcPts val="600"/>
              </a:spcBef>
              <a:spcAft>
                <a:spcPts val="400"/>
              </a:spcAft>
            </a:pPr>
            <a:r>
              <a:rPr sz="2000" b="1">
                <a:solidFill>
                  <a:srgbClr val="000000"/>
                </a:solidFill>
                <a:latin typeface="맑은 고딕"/>
                <a:ea typeface="맑은 고딕"/>
              </a:rPr>
              <a:t>The end-to-end difference alone cannot point to the factor that caused the change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0" y="305691"/>
            <a:ext cx="617636" cy="386952"/>
          </a:xfrm>
          <a:prstGeom prst="rect">
            <a:avLst/>
          </a:prstGeom>
          <a:solidFill>
            <a:srgbClr val="3375BE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274320"/>
            <a:ext cx="1032357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Why It Matters · The Cause Gets Misdiagnosed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859536"/>
            <a:ext cx="10323576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5A5A"/>
                </a:solidFill>
                <a:latin typeface="맑은 고딕"/>
                <a:ea typeface="맑은 고딕"/>
              </a:rPr>
              <a:t>원인을 잘못 짚으면 처방도 어긋난다 — 저장소를 되돌려도 품질은 안 돌아온다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2012320"/>
            <a:ext cx="10323576" cy="38391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8000"/>
              </a:lnSpc>
              <a:spcBef>
                <a:spcPts val="400"/>
              </a:spcBef>
              <a:spcAft>
                <a:spcPts val="300"/>
              </a:spcAft>
            </a:pPr>
            <a:r>
              <a:rPr sz="1800" b="1">
                <a:solidFill>
                  <a:srgbClr val="3375BE"/>
                </a:solidFill>
                <a:latin typeface="맑은 고딕"/>
                <a:ea typeface="맑은 고딕"/>
              </a:rPr>
              <a:t>When quality drops · 품질이 떨어졌을 때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It cannot be told apart whether the store or the model is at fault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endParaRPr sz="1700" b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>
              <a:lnSpc>
                <a:spcPct val="128000"/>
              </a:lnSpc>
              <a:spcBef>
                <a:spcPts val="400"/>
              </a:spcBef>
              <a:spcAft>
                <a:spcPts val="300"/>
              </a:spcAft>
            </a:pPr>
            <a:r>
              <a:rPr sz="1800" b="1">
                <a:solidFill>
                  <a:srgbClr val="3375BE"/>
                </a:solidFill>
                <a:latin typeface="맑은 고딕"/>
                <a:ea typeface="맑은 고딕"/>
              </a:rPr>
              <a:t>When nothing changes · 변화가 없을 때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It cannot be known whether there was truly no effect, or the two factors cancelled each other out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endParaRPr sz="1700" b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>
              <a:lnSpc>
                <a:spcPct val="128000"/>
              </a:lnSpc>
              <a:spcBef>
                <a:spcPts val="400"/>
              </a:spcBef>
              <a:spcAft>
                <a:spcPts val="300"/>
              </a:spcAft>
            </a:pPr>
            <a:r>
              <a:rPr sz="1800" b="1">
                <a:solidFill>
                  <a:srgbClr val="3375BE"/>
                </a:solidFill>
                <a:latin typeface="맑은 고딕"/>
                <a:ea typeface="맑은 고딕"/>
              </a:rPr>
              <a:t>So the remedy misses · 그래서 처방이 어긋난다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Blaming the store and reverting it does not bring the quality back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The conclusion cannot be carried over to an environment with a different instance class or model size limit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0" y="305691"/>
            <a:ext cx="617636" cy="386952"/>
          </a:xfrm>
          <a:prstGeom prst="rect">
            <a:avLst/>
          </a:prstGeom>
          <a:solidFill>
            <a:srgbClr val="3375BE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274320"/>
            <a:ext cx="1032357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Proposal · A Bridge Condition Separates the Factors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859536"/>
            <a:ext cx="10323576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5A5A"/>
                </a:solidFill>
                <a:latin typeface="맑은 고딕"/>
                <a:ea typeface="맑은 고딕"/>
              </a:rPr>
              <a:t>원본이 만든 벡터를 목표 저장소에 그대로 실어 중간 조건 B를 만든다</a:t>
            </a:r>
          </a:p>
        </p:txBody>
      </p:sp>
      <p:pic>
        <p:nvPicPr>
          <p:cNvPr id="30" name="Picture 29" descr="slide-fig-decomposition-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590" y="1891251"/>
            <a:ext cx="11608592" cy="241283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13232" y="5006614"/>
            <a:ext cx="10323576" cy="126168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dirty="0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 dirty="0">
                <a:solidFill>
                  <a:srgbClr val="000000"/>
                </a:solidFill>
                <a:latin typeface="맑은 고딕"/>
                <a:ea typeface="맑은 고딕"/>
              </a:rPr>
              <a:t>Load the target store with the vectors the source system has already produced — that is condition B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dirty="0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 dirty="0">
                <a:solidFill>
                  <a:srgbClr val="000000"/>
                </a:solidFill>
                <a:latin typeface="맑은 고딕"/>
                <a:ea typeface="맑은 고딕"/>
              </a:rPr>
              <a:t>A→B differs only in the store, B→C only in the placement — one factor at a time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0" y="305691"/>
            <a:ext cx="617636" cy="386952"/>
          </a:xfrm>
          <a:prstGeom prst="rect">
            <a:avLst/>
          </a:prstGeom>
          <a:solidFill>
            <a:srgbClr val="3375BE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274320"/>
            <a:ext cx="1032357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System Architecture · What Actually Changes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859536"/>
            <a:ext cx="10323576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5A5A"/>
                </a:solidFill>
                <a:latin typeface="맑은 고딕"/>
                <a:ea typeface="맑은 고딕"/>
              </a:rPr>
              <a:t>네트워크 경계가 2개에서 1개로 줄고, 외부 모델 호출이 사라진다</a:t>
            </a:r>
          </a:p>
        </p:txBody>
      </p:sp>
      <p:pic>
        <p:nvPicPr>
          <p:cNvPr id="30" name="Picture 29" descr="slide-fig-arch-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795880"/>
            <a:ext cx="10323576" cy="3496211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13232" y="5511547"/>
            <a:ext cx="10323576" cy="5564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8000"/>
              </a:lnSpc>
              <a:spcBef>
                <a:spcPts val="500"/>
              </a:spcBef>
              <a:spcAft>
                <a:spcPts val="0"/>
              </a:spcAft>
            </a:pPr>
            <a:r>
              <a:rPr sz="1400" b="0">
                <a:solidFill>
                  <a:srgbClr val="827E7F"/>
                </a:solidFill>
                <a:latin typeface="맑은 고딕"/>
                <a:ea typeface="맑은 고딕"/>
              </a:rPr>
              <a:t>The retrieval rule (vector similarity + metadata filters + source-based prioritization) and its parameters were kept identical across the three conditions.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0" y="305691"/>
            <a:ext cx="617636" cy="386952"/>
          </a:xfrm>
          <a:prstGeom prst="rect">
            <a:avLst/>
          </a:prstGeom>
          <a:solidFill>
            <a:srgbClr val="3375BE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274320"/>
            <a:ext cx="1032357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Experimental Setup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859536"/>
            <a:ext cx="10323576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5A5A"/>
                </a:solidFill>
                <a:latin typeface="맑은 고딕"/>
                <a:ea typeface="맑은 고딕"/>
              </a:rPr>
              <a:t>세 조건 A·B·C를 두고 청크 1,347개·질의 43개로 측정했다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713232" y="1808500"/>
          <a:ext cx="10323576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7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77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77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/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A · baseline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B · bridge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C · migrated</a:t>
                      </a:r>
                    </a:p>
                  </a:txBody>
                  <a:tcPr marT="36576" marB="36576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827E7F"/>
                          </a:solidFill>
                          <a:latin typeface="맑은 고딕"/>
                          <a:ea typeface="맑은 고딕"/>
                        </a:rPr>
                        <a:t>Store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PostgreSQL + pgvector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Oracle 26ai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Oracle 26ai</a:t>
                      </a:r>
                    </a:p>
                  </a:txBody>
                  <a:tcPr marT="36576" marB="36576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827E7F"/>
                          </a:solidFill>
                          <a:latin typeface="맑은 고딕"/>
                          <a:ea typeface="맑은 고딕"/>
                        </a:rPr>
                        <a:t>Embedding model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BGE-M3 (1024)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BGE-M3 (1024)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e5-small (384)</a:t>
                      </a:r>
                    </a:p>
                  </a:txBody>
                  <a:tcPr marT="36576" marB="36576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827E7F"/>
                          </a:solidFill>
                          <a:latin typeface="맑은 고딕"/>
                          <a:ea typeface="맑은 고딕"/>
                        </a:rPr>
                        <a:t>Placement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external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external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in-database</a:t>
                      </a:r>
                    </a:p>
                  </a:txBody>
                  <a:tcPr marT="36576" marB="36576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827E7F"/>
                          </a:solidFill>
                          <a:latin typeface="맑은 고딕"/>
                          <a:ea typeface="맑은 고딕"/>
                        </a:rPr>
                        <a:t>Vector search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HNSW approx.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exact</a:t>
                      </a:r>
                    </a:p>
                  </a:txBody>
                  <a:tcPr marT="36576" marB="36576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exact</a:t>
                      </a:r>
                    </a:p>
                  </a:txBody>
                  <a:tcPr marT="36576" marB="36576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713232" y="3728740"/>
            <a:ext cx="10323576" cy="23265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8000"/>
              </a:lnSpc>
              <a:spcBef>
                <a:spcPts val="400"/>
              </a:spcBef>
              <a:spcAft>
                <a:spcPts val="300"/>
              </a:spcAft>
            </a:pPr>
            <a:r>
              <a:rPr sz="1800" b="1">
                <a:solidFill>
                  <a:srgbClr val="3375BE"/>
                </a:solidFill>
                <a:latin typeface="맑은 고딕"/>
                <a:ea typeface="맑은 고딕"/>
              </a:rPr>
              <a:t>Corpus and metrics · 대상과 지표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1,347 review chunks from a Korean product-review service in production · 43 fixed queries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Retrieval agreement (Jaccard · Spearman · Recall@10) / evidence relevance (0–2 scale) / search latency</a:t>
            </a:r>
          </a:p>
          <a:p>
            <a:pPr>
              <a:lnSpc>
                <a:spcPct val="128000"/>
              </a:lnSpc>
              <a:spcBef>
                <a:spcPts val="500"/>
              </a:spcBef>
              <a:spcAft>
                <a:spcPts val="0"/>
              </a:spcAft>
            </a:pPr>
            <a:r>
              <a:rPr sz="1400" b="0">
                <a:solidFill>
                  <a:srgbClr val="827E7F"/>
                </a:solidFill>
                <a:latin typeface="맑은 고딕"/>
                <a:ea typeface="맑은 고딕"/>
              </a:rPr>
              <a:t>Confidence intervals from 10,000 bootstrap resamples. The target database ran on the lowest-tier free instance.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0" y="305691"/>
            <a:ext cx="617636" cy="386952"/>
          </a:xfrm>
          <a:prstGeom prst="rect">
            <a:avLst/>
          </a:prstGeom>
          <a:solidFill>
            <a:srgbClr val="3375BE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274320"/>
            <a:ext cx="1032357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Result ① Store Factor · No Effect Detected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859536"/>
            <a:ext cx="10323576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5A5A"/>
                </a:solidFill>
                <a:latin typeface="맑은 고딕"/>
                <a:ea typeface="맑은 고딕"/>
              </a:rPr>
              <a:t>저장소만 바꿨을 때는 품질 변화가 검출되지 않았다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" y="2179472"/>
            <a:ext cx="3282696" cy="1298448"/>
          </a:xfrm>
          <a:prstGeom prst="rect">
            <a:avLst/>
          </a:prstGeom>
          <a:solidFill>
            <a:srgbClr val="F1F1F1"/>
          </a:solidFill>
          <a:ln w="1270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18872" rIns="128016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27E7F"/>
                </a:solidFill>
                <a:latin typeface="맑은 고딕"/>
                <a:ea typeface="맑은 고딕"/>
              </a:rPr>
              <a:t>Top-10 Jaccard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2700" b="1">
                <a:solidFill>
                  <a:srgbClr val="000000"/>
                </a:solidFill>
                <a:latin typeface="맑은 고딕"/>
                <a:ea typeface="맑은 고딕"/>
              </a:rPr>
              <a:t>0.971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>
                <a:solidFill>
                  <a:srgbClr val="5A5A5A"/>
                </a:solidFill>
                <a:latin typeface="맑은 고딕"/>
                <a:ea typeface="맑은 고딕"/>
              </a:rPr>
              <a:t>[0.946, 0.992]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33672" y="2179472"/>
            <a:ext cx="3282696" cy="1298448"/>
          </a:xfrm>
          <a:prstGeom prst="rect">
            <a:avLst/>
          </a:prstGeom>
          <a:solidFill>
            <a:srgbClr val="F1F1F1"/>
          </a:solidFill>
          <a:ln w="1270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18872" rIns="128016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27E7F"/>
                </a:solidFill>
                <a:latin typeface="맑은 고딕"/>
                <a:ea typeface="맑은 고딕"/>
              </a:rPr>
              <a:t>Relevance difference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2700" b="1">
                <a:solidFill>
                  <a:srgbClr val="000000"/>
                </a:solidFill>
                <a:latin typeface="맑은 고딕"/>
                <a:ea typeface="맑은 고딕"/>
              </a:rPr>
              <a:t>−0.042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>
                <a:solidFill>
                  <a:srgbClr val="5A5A5A"/>
                </a:solidFill>
                <a:latin typeface="맑은 고딕"/>
                <a:ea typeface="맑은 고딕"/>
              </a:rPr>
              <a:t>p = 0.523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54111" y="2179472"/>
            <a:ext cx="3282696" cy="1298448"/>
          </a:xfrm>
          <a:prstGeom prst="rect">
            <a:avLst/>
          </a:prstGeom>
          <a:solidFill>
            <a:srgbClr val="F1F1F1"/>
          </a:solidFill>
          <a:ln w="1270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18872" rIns="128016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27E7F"/>
                </a:solidFill>
                <a:latin typeface="맑은 고딕"/>
                <a:ea typeface="맑은 고딕"/>
              </a:rPr>
              <a:t>Effect size dz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2700" b="1">
                <a:solidFill>
                  <a:srgbClr val="000000"/>
                </a:solidFill>
                <a:latin typeface="맑은 고딕"/>
                <a:ea typeface="맑은 고딕"/>
              </a:rPr>
              <a:t>−0.098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>
                <a:solidFill>
                  <a:srgbClr val="5A5A5A"/>
                </a:solidFill>
                <a:latin typeface="맑은 고딕"/>
                <a:ea typeface="맑은 고딕"/>
              </a:rPr>
              <a:t>negligible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3752240"/>
            <a:ext cx="10323576" cy="193212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Loaded with identical vectors, the two stores returned exactly the same top-10 set for 37 of the 43 queries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What the baseline missed because of its approximate index amounts to about 1.6%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A Wilcoxon test on the queries that remain after excluding ties leads to the same conclusion (p = 0.908)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0" y="305691"/>
            <a:ext cx="617636" cy="386952"/>
          </a:xfrm>
          <a:prstGeom prst="rect">
            <a:avLst/>
          </a:prstGeom>
          <a:solidFill>
            <a:srgbClr val="3375BE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274320"/>
            <a:ext cx="1032357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Result ② Placement Factor · Significant, Medium-Sized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859536"/>
            <a:ext cx="10323576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5A5A"/>
                </a:solidFill>
                <a:latin typeface="맑은 고딕"/>
                <a:ea typeface="맑은 고딕"/>
              </a:rPr>
              <a:t>임베딩 위치를 옮기자 유의미한 중간 크기의 효과가 나타났다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" y="2025578"/>
            <a:ext cx="3282696" cy="1298448"/>
          </a:xfrm>
          <a:prstGeom prst="rect">
            <a:avLst/>
          </a:prstGeom>
          <a:solidFill>
            <a:srgbClr val="F1F1F1"/>
          </a:solidFill>
          <a:ln w="1270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18872" rIns="128016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27E7F"/>
                </a:solidFill>
                <a:latin typeface="맑은 고딕"/>
                <a:ea typeface="맑은 고딕"/>
              </a:rPr>
              <a:t>Top-10 Jaccard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2700" b="1">
                <a:solidFill>
                  <a:srgbClr val="000000"/>
                </a:solidFill>
                <a:latin typeface="맑은 고딕"/>
                <a:ea typeface="맑은 고딕"/>
              </a:rPr>
              <a:t>0.175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>
                <a:solidFill>
                  <a:srgbClr val="5A5A5A"/>
                </a:solidFill>
                <a:latin typeface="맑은 고딕"/>
                <a:ea typeface="맑은 고딕"/>
              </a:rPr>
              <a:t>[0.133, 0.221]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33672" y="2025578"/>
            <a:ext cx="3282696" cy="1298448"/>
          </a:xfrm>
          <a:prstGeom prst="rect">
            <a:avLst/>
          </a:prstGeom>
          <a:solidFill>
            <a:srgbClr val="F1F1F1"/>
          </a:solidFill>
          <a:ln w="1270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18872" rIns="128016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27E7F"/>
                </a:solidFill>
                <a:latin typeface="맑은 고딕"/>
                <a:ea typeface="맑은 고딕"/>
              </a:rPr>
              <a:t>Relevance score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2700" b="1">
                <a:solidFill>
                  <a:srgbClr val="000000"/>
                </a:solidFill>
                <a:latin typeface="맑은 고딕"/>
                <a:ea typeface="맑은 고딕"/>
              </a:rPr>
              <a:t>1.270 → 1.014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>
                <a:solidFill>
                  <a:srgbClr val="5A5A5A"/>
                </a:solidFill>
                <a:latin typeface="맑은 고딕"/>
                <a:ea typeface="맑은 고딕"/>
              </a:rPr>
              <a:t>p = 0.003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54111" y="2025578"/>
            <a:ext cx="3282696" cy="1298448"/>
          </a:xfrm>
          <a:prstGeom prst="rect">
            <a:avLst/>
          </a:prstGeom>
          <a:solidFill>
            <a:srgbClr val="F1F1F1"/>
          </a:solidFill>
          <a:ln w="12700">
            <a:solidFill>
              <a:srgbClr val="D5D5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18872" rIns="128016" bIns="91440" rtlCol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27E7F"/>
                </a:solidFill>
                <a:latin typeface="맑은 고딕"/>
                <a:ea typeface="맑은 고딕"/>
              </a:rPr>
              <a:t>Effect size dz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2700" b="1">
                <a:solidFill>
                  <a:srgbClr val="000000"/>
                </a:solidFill>
                <a:latin typeface="맑은 고딕"/>
                <a:ea typeface="맑은 고딕"/>
              </a:rPr>
              <a:t>0.473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200" b="0">
                <a:solidFill>
                  <a:srgbClr val="5A5A5A"/>
                </a:solidFill>
                <a:latin typeface="맑은 고딕"/>
                <a:ea typeface="맑은 고딕"/>
              </a:rPr>
              <a:t>medium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3598346"/>
            <a:ext cx="10323576" cy="223991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Same store and same search method, yet mostly different evidence is retrieved for the same query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Since no store effect was detected from A to B, virtually all of the quality change is due to the placement factor and the model size limit that comes with it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Had only an end-to-end comparison been performed, the 20% drop in relevance would have been blamed on the store — and reverting the store would not bring the quality back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0" y="305691"/>
            <a:ext cx="617636" cy="386952"/>
          </a:xfrm>
          <a:prstGeom prst="rect">
            <a:avLst/>
          </a:prstGeom>
          <a:solidFill>
            <a:srgbClr val="3375BE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274320"/>
            <a:ext cx="1032357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But · Claiming “No Difference” Needs Its Own Test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859536"/>
            <a:ext cx="10323576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5A5A"/>
                </a:solidFill>
                <a:latin typeface="맑은 고딕"/>
                <a:ea typeface="맑은 고딕"/>
              </a:rPr>
              <a:t>“차이 없음”을 주장하려면 등가성 검정을 따로 해야 한다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1983310"/>
            <a:ext cx="10323576" cy="389721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8000"/>
              </a:lnSpc>
              <a:spcBef>
                <a:spcPts val="400"/>
              </a:spcBef>
              <a:spcAft>
                <a:spcPts val="300"/>
              </a:spcAft>
            </a:pPr>
            <a:r>
              <a:rPr sz="1800" b="1">
                <a:solidFill>
                  <a:srgbClr val="3375BE"/>
                </a:solidFill>
                <a:latin typeface="맑은 고딕"/>
                <a:ea typeface="맑은 고딕"/>
              </a:rPr>
              <a:t>A non-significant p value is not evidence of equivalence · 유의하지 않은 p값은 동등함의 증거가 아니다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We ran equivalence tests (TOST) separately over a ±0.15 point range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The result was p = 0.052 — the lower bound of the confidence interval, −0.172, falls outside the range, so the significance level was not met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endParaRPr sz="1700" b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>
              <a:lnSpc>
                <a:spcPct val="128000"/>
              </a:lnSpc>
              <a:spcBef>
                <a:spcPts val="400"/>
              </a:spcBef>
              <a:spcAft>
                <a:spcPts val="300"/>
              </a:spcAft>
            </a:pPr>
            <a:r>
              <a:rPr sz="1800" b="1">
                <a:solidFill>
                  <a:srgbClr val="3375BE"/>
                </a:solidFill>
                <a:latin typeface="맑은 고딕"/>
                <a:ea typeface="맑은 고딕"/>
              </a:rPr>
              <a:t>So we report it this way · 그래서 이렇게 보고한다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Not “equivalence has been established”, but “no effect was detected and its magnitude is bounded to a small range”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The direction in which the interval extends is the one where the target store scores higher, so there is no basis for concluding that substituting the store degraded quality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0" y="305691"/>
            <a:ext cx="617636" cy="386952"/>
          </a:xfrm>
          <a:prstGeom prst="rect">
            <a:avLst/>
          </a:prstGeom>
          <a:solidFill>
            <a:srgbClr val="3375BE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274320"/>
            <a:ext cx="1032357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Conclusion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859536"/>
            <a:ext cx="10323576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5A5A"/>
                </a:solidFill>
                <a:latin typeface="맑은 고딕"/>
                <a:ea typeface="맑은 고딕"/>
              </a:rPr>
              <a:t>위치 변경은 성능의 교환이 아니라 거버넌스의 교환이다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1540352"/>
            <a:ext cx="10323576" cy="47232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8000"/>
              </a:lnSpc>
              <a:spcBef>
                <a:spcPts val="400"/>
              </a:spcBef>
              <a:spcAft>
                <a:spcPts val="300"/>
              </a:spcAft>
            </a:pPr>
            <a:r>
              <a:rPr sz="1700" b="1">
                <a:solidFill>
                  <a:srgbClr val="3375BE"/>
                </a:solidFill>
                <a:latin typeface="맑은 고딕"/>
                <a:ea typeface="맑은 고딕"/>
              </a:rPr>
              <a:t>Method · 방법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Adding a single bridge condition splits an end-to-end comparison into two single-factor comparisons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endParaRPr sz="1600" b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>
              <a:lnSpc>
                <a:spcPct val="128000"/>
              </a:lnSpc>
              <a:spcBef>
                <a:spcPts val="400"/>
              </a:spcBef>
              <a:spcAft>
                <a:spcPts val="300"/>
              </a:spcAft>
            </a:pPr>
            <a:r>
              <a:rPr sz="1700" b="1">
                <a:solidFill>
                  <a:srgbClr val="3375BE"/>
                </a:solidFill>
                <a:latin typeface="맑은 고딕"/>
                <a:ea typeface="맑은 고딕"/>
              </a:rPr>
              <a:t>What we observed in this service · 이 서비스에서 관측한 것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No effect of the store factor was detected; the entire observed change originated from the placement factor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Changing the placement is a trade in governance rather than in performance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endParaRPr sz="1600" b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>
              <a:lnSpc>
                <a:spcPct val="128000"/>
              </a:lnSpc>
              <a:spcBef>
                <a:spcPts val="400"/>
              </a:spcBef>
              <a:spcAft>
                <a:spcPts val="300"/>
              </a:spcAft>
            </a:pPr>
            <a:r>
              <a:rPr sz="1700" b="1">
                <a:solidFill>
                  <a:srgbClr val="3375BE"/>
                </a:solidFill>
                <a:latin typeface="맑은 고딕"/>
                <a:ea typeface="맑은 고딕"/>
              </a:rPr>
              <a:t>A practical decision rule · 실무 판단 기준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If governance of the stored data is the only goal → replacing the store alone is enough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600" b="0">
                <a:solidFill>
                  <a:srgbClr val="000000"/>
                </a:solidFill>
                <a:latin typeface="맑은 고딕"/>
                <a:ea typeface="맑은 고딕"/>
              </a:rPr>
              <a:t>If the query path must also stay inside the boundary → first confirm that the largest model that can be hosted is sufficient for that domain</a:t>
            </a:r>
          </a:p>
          <a:p>
            <a:pPr>
              <a:lnSpc>
                <a:spcPct val="128000"/>
              </a:lnSpc>
              <a:spcBef>
                <a:spcPts val="600"/>
              </a:spcBef>
              <a:spcAft>
                <a:spcPts val="400"/>
              </a:spcAft>
            </a:pPr>
            <a:r>
              <a:rPr sz="1900" b="1">
                <a:solidFill>
                  <a:srgbClr val="000000"/>
                </a:solidFill>
                <a:latin typeface="맑은 고딕"/>
                <a:ea typeface="맑은 고딕"/>
              </a:rPr>
              <a:t>The bridge condition makes that confirmation possible before the migration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4" name="직사각형 23"/>
          <p:cNvSpPr/>
          <p:nvPr/>
        </p:nvSpPr>
        <p:spPr>
          <a:xfrm>
            <a:off x="0" y="305691"/>
            <a:ext cx="617636" cy="386952"/>
          </a:xfrm>
          <a:prstGeom prst="rect">
            <a:avLst/>
          </a:prstGeom>
          <a:solidFill>
            <a:srgbClr val="3375BE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0" y="6471048"/>
            <a:ext cx="11489531" cy="386952"/>
          </a:xfrm>
          <a:prstGeom prst="rect">
            <a:avLst/>
          </a:prstGeom>
          <a:solidFill>
            <a:srgbClr val="827E7F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endParaRPr kumimoji="0" lang="ko-KR" altLang="en-US" sz="1800" b="0" i="0" u="none" strike="noStrike" kern="1200" cap="none" spc="0" normalizeH="0" baseline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11574364" y="6471048"/>
            <a:ext cx="617636" cy="386952"/>
          </a:xfrm>
          <a:prstGeom prst="rect">
            <a:avLst/>
          </a:prstGeom>
          <a:solidFill>
            <a:srgbClr val="F94145">
              <a:alpha val="100000"/>
            </a:srgbClr>
          </a:solidFill>
          <a:ln w="12700" cap="flat" cmpd="sng" algn="ctr">
            <a:noFill/>
            <a:prstDash val="solid"/>
            <a:miter/>
          </a:ln>
        </p:spPr>
        <p:txBody>
          <a:bodyPr anchor="ctr"/>
          <a:lstStyle/>
          <a:p>
            <a:pPr mar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200" b="1" i="0" u="none" strike="noStrike" kern="1200" cap="none" spc="0" normalizeH="0" baseline="0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274320"/>
            <a:ext cx="10323576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0000"/>
                </a:solidFill>
                <a:latin typeface="맑은 고딕"/>
                <a:ea typeface="맑은 고딕"/>
              </a:rPr>
              <a:t>Limitations and Future Work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859536"/>
            <a:ext cx="10323576" cy="3291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A5A5A"/>
                </a:solidFill>
                <a:latin typeface="맑은 고딕"/>
                <a:ea typeface="맑은 고딕"/>
              </a:rPr>
              <a:t>단일 코퍼스·LLM 채점·엔트리급 인스턴스라는 한계가 있다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1638010"/>
            <a:ext cx="10323576" cy="45878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8000"/>
              </a:lnSpc>
              <a:spcBef>
                <a:spcPts val="400"/>
              </a:spcBef>
              <a:spcAft>
                <a:spcPts val="300"/>
              </a:spcAft>
            </a:pPr>
            <a:r>
              <a:rPr sz="1800" b="1">
                <a:solidFill>
                  <a:srgbClr val="3375BE"/>
                </a:solidFill>
                <a:latin typeface="맑은 고딕"/>
                <a:ea typeface="맑은 고딕"/>
              </a:rPr>
              <a:t>Limitations · 한계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A single Korean corpus of 1,347 chunks from one product domain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Human assessors were not involved in the relevance scoring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Measurements were taken on an entry-level instance — the latency figures cannot be generalized to higher-tier hardware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Placement and model size are coupled by construction, and the store result does not establish equivalence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endParaRPr sz="1700" b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>
              <a:lnSpc>
                <a:spcPct val="128000"/>
              </a:lnSpc>
              <a:spcBef>
                <a:spcPts val="400"/>
              </a:spcBef>
              <a:spcAft>
                <a:spcPts val="300"/>
              </a:spcAft>
            </a:pPr>
            <a:r>
              <a:rPr sz="1800" b="1">
                <a:solidFill>
                  <a:srgbClr val="3375BE"/>
                </a:solidFill>
                <a:latin typeface="맑은 고딕"/>
                <a:ea typeface="맑은 고딕"/>
              </a:rPr>
              <a:t>Future work · 향후 과제</a:t>
            </a:r>
          </a:p>
          <a:p>
            <a:pPr marL="274320" indent="-274320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827E7F"/>
                </a:solidFill>
                <a:latin typeface="맑은 고딕"/>
                <a:ea typeface="맑은 고딕"/>
              </a:rPr>
              <a:t>·  </a:t>
            </a:r>
            <a:r>
              <a:rPr sz="1700" b="0">
                <a:solidFill>
                  <a:srgbClr val="000000"/>
                </a:solidFill>
                <a:latin typeface="맑은 고딕"/>
                <a:ea typeface="맑은 고딕"/>
              </a:rPr>
              <a:t>A fourth condition that runs the smaller model outside the database would separate placement from model size</a:t>
            </a:r>
          </a:p>
          <a:p>
            <a:pPr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endParaRPr sz="1700" b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>
              <a:lnSpc>
                <a:spcPct val="128000"/>
              </a:lnSpc>
              <a:spcBef>
                <a:spcPts val="600"/>
              </a:spcBef>
              <a:spcAft>
                <a:spcPts val="400"/>
              </a:spcAft>
            </a:pPr>
            <a:r>
              <a:rPr sz="2000" b="1">
                <a:solidFill>
                  <a:srgbClr val="000000"/>
                </a:solidFill>
                <a:latin typeface="맑은 고딕"/>
                <a:ea typeface="맑은 고딕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Times New Roman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Times New Roman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836</TotalTime>
  <Words>2708</Words>
  <Application>Microsoft Macintosh PowerPoint</Application>
  <PresentationFormat>와이드스크린</PresentationFormat>
  <Paragraphs>314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맑은 고딕</vt:lpstr>
      <vt:lpstr>Arial</vt:lpstr>
      <vt:lpstr>Calibri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yonghoon</dc:creator>
  <cp:lastModifiedBy>윤준하</cp:lastModifiedBy>
  <cp:revision>1281</cp:revision>
  <dcterms:created xsi:type="dcterms:W3CDTF">2024-02-27T09:44:09Z</dcterms:created>
  <dcterms:modified xsi:type="dcterms:W3CDTF">2026-08-11T09:11:23Z</dcterms:modified>
  <cp:version/>
</cp:coreProperties>
</file>